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56" r:id="rId2"/>
    <p:sldId id="260" r:id="rId3"/>
    <p:sldId id="261" r:id="rId4"/>
    <p:sldId id="258" r:id="rId5"/>
    <p:sldId id="262" r:id="rId6"/>
    <p:sldId id="259" r:id="rId7"/>
    <p:sldId id="263" r:id="rId8"/>
    <p:sldId id="264" r:id="rId9"/>
    <p:sldId id="265" r:id="rId10"/>
    <p:sldId id="266" r:id="rId11"/>
    <p:sldId id="257" r:id="rId12"/>
    <p:sldId id="268" r:id="rId13"/>
    <p:sldId id="269" r:id="rId14"/>
    <p:sldId id="270" r:id="rId15"/>
    <p:sldId id="271" r:id="rId16"/>
    <p:sldId id="272" r:id="rId17"/>
    <p:sldId id="273" r:id="rId18"/>
    <p:sldId id="274" r:id="rId19"/>
    <p:sldId id="267" r:id="rId20"/>
    <p:sldId id="275" r:id="rId21"/>
    <p:sldId id="276" r:id="rId22"/>
    <p:sldId id="277" r:id="rId23"/>
    <p:sldId id="278" r:id="rId24"/>
    <p:sldId id="289" r:id="rId25"/>
    <p:sldId id="290" r:id="rId26"/>
    <p:sldId id="291" r:id="rId27"/>
    <p:sldId id="279" r:id="rId28"/>
    <p:sldId id="282" r:id="rId29"/>
    <p:sldId id="287" r:id="rId30"/>
    <p:sldId id="280" r:id="rId31"/>
    <p:sldId id="281" r:id="rId32"/>
    <p:sldId id="283" r:id="rId33"/>
    <p:sldId id="292" r:id="rId34"/>
    <p:sldId id="284" r:id="rId35"/>
    <p:sldId id="286" r:id="rId36"/>
    <p:sldId id="293" r:id="rId37"/>
    <p:sldId id="294" r:id="rId38"/>
    <p:sldId id="285" r:id="rId39"/>
  </p:sldIdLst>
  <p:sldSz cx="12192000" cy="6858000"/>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0194" autoAdjust="0"/>
  </p:normalViewPr>
  <p:slideViewPr>
    <p:cSldViewPr snapToGrid="0">
      <p:cViewPr varScale="1">
        <p:scale>
          <a:sx n="86" d="100"/>
          <a:sy n="86" d="100"/>
        </p:scale>
        <p:origin x="51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tags" Target="tags/tag1.xml"/></Relationships>
</file>

<file path=ppt/ink/ink1.xml><?xml version="1.0" encoding="utf-8"?>
<inkml:ink xmlns:inkml="http://www.w3.org/2003/InkML">
  <inkml:definitions>
    <inkml:context xml:id="ctx0">
      <inkml:inkSource xml:id="inkSrc0">
        <inkml:traceFormat>
          <inkml:channel name="X" type="integer" max="5760" units="cm"/>
          <inkml:channel name="Y" type="integer" max="1080" units="cm"/>
          <inkml:channel name="T" type="integer" max="2.14748E9" units="dev"/>
        </inkml:traceFormat>
        <inkml:channelProperties>
          <inkml:channelProperty channel="X" name="resolution" value="186.40776" units="1/cm"/>
          <inkml:channelProperty channel="Y" name="resolution" value="62.06897" units="1/cm"/>
          <inkml:channelProperty channel="T" name="resolution" value="1" units="1/dev"/>
        </inkml:channelProperties>
      </inkml:inkSource>
      <inkml:timestamp xml:id="ts0" timeString="2025-04-23T06:30:38.494"/>
    </inkml:context>
    <inkml:brush xml:id="br0">
      <inkml:brushProperty name="width" value="0.05292" units="cm"/>
      <inkml:brushProperty name="height" value="0.05292" units="cm"/>
      <inkml:brushProperty name="color" value="#FF0000"/>
    </inkml:brush>
  </inkml:definitions>
  <inkml:trace contextRef="#ctx0" brushRef="#br0">14254 13087 0,'0'-28'63,"28"28"-63,-1 0 0,1-27 16,0-1-16,-1 28 0,1 0 0,-1 0 15,1 0-15,0 0 0,-1 0 0,1 0 0,0 0 16,-1 0-16,1 0 0,-1 0 0,1 0 0,0 0 0,-1 0 15,1 0-15,0 0 0,-1 0 0,1 0 0,-1 0 0,1 0 0,0 0 16,-1 0-16,1 0 0,0 0 0,-1 0 0,1 0 0,-1 0 0,29 0 16,-29 0-16,1 0 0,0 0 0,-1 0 0,1 0 15,-1 0-15,1 0 0,0 0 0,-1 0 0,1 0 0,-1 0 16,1 0-16,0 0 0,-1 0 0,1 0 0,0 0 16,-1 0-16,1 0 0,-1 0 0,1 0 0,0 0 15,-1 0-15,1 0 0,0 0 0,-1 0 0,1 0 16,-1 0-16,1 0 15,0 0-15,-1 0 0,1 0 16,0 0-16,-56 0 109,0 0-93,1 0-16,-1 0 0,0 0 0,1 0 16,-1 0-16,1 0 0,-1 0 0,0 0 0,1 0 0,-1 0 15,0 0-15,1 0 0,-1 0 0,1-28 0,-1 28 16,0 0-16,1 0 0,-1 0 0,0 0 0,1 0 16,-1 0-16,1 0 0,-1 0 0,0 0 0,1 0 0,-1 0 0,1 0 15,-1 0-15,0 0 0,1 0 0,-1 0 0,0 0 16,1 0-16,-1 0 0,1 0 15,-1 0-15,56 0 63,-1 0-63,1 0 0,-1 0 0,1 0 16,0 0-16,-1 0 0,1 0 0,0 0 0,-1 0 0,1 0 15,-1 0-15,1 0 0,0 0 0,-1 0 0,1 0 0,-1 0 0,1 0 0,0 0 16,-1-27-16,1 27 0,0 0 0,-1 0 0,1 0 0,-1 0 0,1 0 0,0 0 15,-1 0-15,1 0 0,0-28 0,-1 28 0,1 0 0,-1 0 0,1 0 0,0 0 0,-1 0 16,1 0-16,0 0 0,-1-28 0,1 28 0,-1 0 0,1 0 16,0 0-16,-1 0 0,1 0 0,0 0 0,-1 0 15,1 0-15,-1 0 0,1 0 16,-28-27-16,28 27 0,-56 0 125,0 0-125,1 0 0,-1 0 0,1 0 0,-1 0 16,0 0-16,1 0 0,-1 0 0,0 0 0,1 0 0,-1 0 0,-27 0 0,27 0 0,1 0 0,-1 0 0,0 0 15,1 0-15,-1 0 0,1 0 0,-1 0 0,0 0 0,-27 0 0,27 0 0,-27 0 0,28 0 0,-1 0 0,-27 0 0,27 0 16,0 0-16,1 0 0,-1 0 0,-27 0 0,27 0 0,1 0 0,-1 0 0,1 0 0,-1 0 0,-27 0 0,27 0 0,0 0 15,1 0-15,-1 0 0,1 0 0,-1 0 0,0 0 0,1 0 0,-1 0 0,0 0 0,1 0 16,-1 0-16,1 0 0,-1 0 0,0 0 0,1 0 0,-1 0 16,0 0-16,56 0 109,0 0-109,27 0 0,-27 0 0,27 0 0,-28 0 0,1 0 0,0 0 0,-1 0 0,1 0 16,0 0-16,27 0 0,-28 0 0,29 0 0,-29 0 0,84 0 0,-84 0 0,29 0 0,-1 0 0,-28 0 0,1 0 15,0 0-15,-1 0 0,1 0 0,55 0 0,-56 0 0,1 0 0,0 0 0,27 0 0,-27 0 0,-1 0 0,28 0 0,-27 0 0,0 0 16,-1 0-16,1 0 0,0 0 0,-1 0 0,1 0 0,-1 0 0,1 0 0,0 0 0,-1 0 0,1 0 0,0 0 0,-1 0 0,1 0 16,-1 0-16,1 0 0,0 0 0,-1 0 0,1 0 0,0 0 0,-1 0 0,1 0 0,-1 0 0,1 0 15,0 0-15,-1 0 0,1 0 0,-28 27 31,0 1-31,-28-28 0,1 0 16,-1 0-16,0 0 0,1 0 0,27 28 0,-28-28 0,1 0 16,-1 0-16,0 0 0,1 0 0,27 27 0,-28-27 0,0 0 0,1 0 0,-1 0 0,-27 0 15,27 0-15,1 0 0,-1 0 0,0 0 0,1 0 0,-1 0 0,1 0 0,-1 0 0,0 0 0,1 0 0,-1 0 16,0 0-16,1 0 0,-28 0 0,27 0 0,0 0 0,1 0 0,-1 0 0,0 0 0,1 0 0,-1 0 0,1 0 0,-29 0 16,29 0-16,-29 0 0,29 0 0,-1 0 0,1 0 0,-29 0 0,1 0 0,28 0 0,-1 0 15,0 0-15,1 0 0,-1 0 0,0 0 0,1 0 0,27-27 0,-28 27 0,1 0 0,-1 0 16,0 0-16,1 0 0,-1 0 0,28-28 15</inkml:trace>
  <inkml:trace contextRef="#ctx0" brushRef="#br0" timeOffset="1582.95">14420 15213 0,'27'0'31,"1"0"-31,0 0 16,-1 0-16,-27-28 0,28 28 0,0 0 0,-1 0 0,1 0 0,-1 0 15,1 0-15,0 0 0,-1 0 0,1 0 0,0 0 0,-1 0 16,1 0-16,-1 0 0,1 0 0,0 0 0,-1 0 0,1 0 0,0 0 16,-1 0-16,1-28 0,-1 28 0,1 0 0,0 0 0,-1 0 0,1 0 0,0 0 15,-1 0-15,1 0 0,-1 0 0,1 0 0,0 0 0,-1 0 0,28 0 0,-27 0 0,0 0 0,-1 0 16,1 0-16,0 0 0,-1 0 0,1 0 0,-1 0 0,1 0 0,0 0 0,27 0 0,-27 0 0,-1 0 0,1 0 0,-1 0 15,1 0-15,0 0 0,27 0 0,-27 0 0,-1 0 0,1 0 0,-1 0 0,1 0 0,0 0 16,-1 0-16,1 0 0,0 0 0,-56 0 78,0 0-78,1 0 0,-1 0 0,0 0 0,1 0 16,-1 0-16,1 0 0,-1 0 0,0 0 0,1 0 0,-1-27 0,0 27 0,1 0 15,-1 0-15,1 0 0,-1 0 0,-27 0 0,27 0 0,0-28 0,1 28 0,-28 0 0,27 0 0,0 0 0,1 0 16,27-27-16,-28 27 0,0 0 0,1 0 0,-28 0 0,27 0 0,0 0 0,1 0 0,-1 0 0,1 0 0,-1 0 0,0 0 16,1 0-16,-1 0 0,0 0 0,1 0 0,-1 0 0,-27 0 0,27 0 0,1 0 0,-1 0 15,0 0-15,1 0 0,-1 0 0,1 0 0,-1 0 0,0 0 0,1 0 16,-1 0-16,0 0 0,1 0 0,27 27 0,-28-27 0,1 0 16,-1 0-16,28 28 15,-28-28 1,56 0 78,0 0-94,-1 0 0,1 0 0,-1-28 0,1 28 15,0 0-15,-1 0 0,1 0 0,0 0 0,-1 0 0,1 0 0,-1 0 16,1 0-16,0 0 0,27 0 0,-27 0 0,-1 0 0,28 0 0,-27 0 15,0 0-15,-1 0 0,29 0 0,-29 0 0,1 0 0,-1 0 0,1 0 0,0 0 16,-1 0-16,1 0 0,-1 0 0,1 0 0,0 0 0,-1 0 0,1 0 16,0 0-16,-1 0 0,1 0 0,-1 0 15,-54 0 32,-1 0-47,1 0 16,-1 0-16,0 0 0,1 0 0,-1 0 0,0 0 0,1 0 0,-1 0 0,1 0 0,-29 0 15,29 0-15,-28 0 0,-28 0 0,55 0 0,0 0 0,-82 0 0,110-27 0,-55 27 0,27 0 0,-27 0 0,27-28 0,1 28 16,-29 0-16,29 0 0,-29-28 0,1 28 0,28 0 0,-29 0 0,1-27 0,0 27 0,0 0 0,27 0 0,-27 0 0,-1 0 0,29 0 0,-28-28 0,-1 28 0,29 0 16,-29-27-16,1 27 0,28 0 0,-29 0 0,29 0 0,-29 0 0,1-28 0,28 28 0,-1 0 0,-27-28 0,27 28 0,0 0 0,1 0 0,-1 0 15,1 0-15,-1-27 0,0 27 0,1 0 0,-1 0 0,0 0 0,1 0 0,-1 0 16,28-28-16,28 28 47,-1 0-47,1 0 0,0 0 0,-1 0 0,1 0 15,0 0-15,-1 0 0,1 0 0,-1 0 0,29 0 0,-29 0 0,29 0 0,-29 0 0,28 0 0,1 0 16,-29 0-16,56 0 0,-55 0 0,-1 0 0,29 0 0,-29 0 0,29 0 0,-29 0 0,1 0 0,-1 0 0,1 0 0,27 0 16,-27 0-16,0 0 0,-1 0 0,1 0 0,27 0 0,-27 0 0,27 0 0</inkml:trace>
  <inkml:trace contextRef="#ctx0" brushRef="#br0" timeOffset="2746.34">14447 17145 0,'-27'0'78</inkml:trace>
  <inkml:trace contextRef="#ctx0" brushRef="#br0" timeOffset="4316.71">14365 17145 0,'0'28'31,"27"-28"-15,1 0-16,-1 27 0,1-27 16,-28 28-16,28-28 0,-28 28 0,27-28 0,1 0 0,0 0 0,-1 0 0,1 27 0,-1-27 15,1 0-15,0 0 0,-1 0 0,1 0 0,0 0 0,-1 28 16,1-28-16,-1 0 0,1 0 0,0 0 0,-1 0 0,1 0 16,0 0-16,-1 0 0,1 0 0,-1 0 0,1 0 0,0 0 0,-1 0 0,1 0 15,0 0-15,-1 0 0,1 0 0,-1 0 0,1 0 0,0 0 16,-1 0-16,1 0 0,-1 0 0,1 0 0,0 0 0,-1 0 15,1 0-15,0 0 0,-1 0 0,1 0 16,-1 0-16,1 0 0,0 0 16,-1 0-16,1 0 0,0 0 0,-1 0 0,1 0 15,-1 0-15,1 0 0,0 0 0,-1 0 16,1 0-16,0 0 16,-1 0-16,1 0 15,-1 0-15,1 0 16,0 0-16,-1 0 0,1 0 15,0 0 1,-1 0 0,1 0-16,-1 0 15,1 0 1,0 0-16,-1 0 16,1 0-16,0 0 15,-1 0 1,1 0-16,-56 0 47,1 0-47,-1 0 15,0 0-15,1 0 0,-1 0 0,0 0 0,1 0 0,-1 0 0,1 0 0,-1 0 16,0 0-16,1 0 0,-1 0 0,0 0 0,-27 0 0,0 0 0,27 0 0,-27 0 0,27 0 0,-27 0 0,28 0 0,-1 0 16,-27 0-16,-1 0 0,1 0 0,28 0 0,-29 0 0,1 0 0,27 0 0,-27 0 0,0 0 0,27 0 0,1 0 15,-1 0-15,1 0 0,-1 0 0,0 0 0,1 0 0,-1 0 0,0 0 0,-27 0 0,0 0 0,27 0 0,1 0 0,-1 0 0,0 0 0,1 0 0,-1 0 0,1 0 16,-1 0-16,0 0 0,1 0 0,-1 0 0,0 0 0,1 0 0,-28 0 0,27 0 0,0 0 0,1-28 15,-1 28-15,0 0 0,1-27 0,-1 27 0,1 0 16,-1 0 0,56 0 77,-28-28-93,27 28 16,1 0-16,-1 0 0,-27-28 0,56 28 0,-29 0 16,1 0-16,0 0 0,27 0 0,-28 0 0,1 0 0,0 0 15,-1 0-15,1 0 0,27 0 0,-27 0 0,-1 0 0,-27-27 0,28 27 0,0 0 0,55-28 16,-56 28-16,1 0 0,-1 0 0,1 0 0,-28-27 0,28 27 16,-1 0-16,1 0 0,0 0 0,-1 0 15,1 0-15,-1 0 16,-54 0 46,-1 0-62,1 0 16,-1 0-16,0 0 0,1 0 0,-1 0 0,-27 0 0,27 0 0,1-28 0,-1 28 16,-27-28-16,27 28 0,0 0 0,1 0 0,-1 0 0,-27 0 0,55-27 0,-28 27 0,1 0 0,-1 0 0,0 0 0,1 0 15,-28 0-15,27 0 0,0 0 0,1 0 0,-1 0 0,0 0 0,1 0 0,-1 0 0,1 0 0,-1 0 0,0 0 16,1 0-16,-1 0 0,0 0 0,1 0 0,27-28 31,27 28-15,1 0-16,0 0 0,-1 0 0,1 0 0,0 0 0,-1 0 15,1 0-15,27 0 0,-27 0 0,-1 0 0,1 0 0,0 0 0,-1 0 0,1 0 16,-1 0-16,1 0 0,0 0 0,-1 0 0,1 0 0,0 0 0,-1 0 0,1 0 0,-1 0 0,29 0 0,-29 0 0,1 0 0,0 0 0,-1 0 0,1 0 0,-28 28 0,55-28 16,-27 0-16,-1 27 0,1-27 0,0 0 0,-1 0 0,1 0 0,-1 0 0,1 0 15,-28 28-15,28-28 0,-1 0 0,1 0 16,-1 0-1,1 0-15,0 0 0,-1 0 16,1 0-16,0 0 0,-1 0 0,1 0 16,-1 0-16,1 0 15,0 0-15,-1 0 0,-54 0 63,27 28-63,-28-28 0,0 0 0,1 0 0,-1 0 15,1 0-15,-1 0 0,0 0 0,1 0 0,-1 27 0,0-27 0,1 0 16,-56 0-16,55 0 0,1 0 0,-1 0 0,1 0 0,-1 28 0,0-28 0,1 27 0,-1-27 0,28 28 0,-28-28 16,1 28-16,-1-28 0,28 27 15,0 1-15,0-1 16,28-27-16,-1 0 0,-27 28 0,28-28 0,0 0 0,-1 0 0,1 28 0,27-1 16,0-27-16,1 0 0,-29 0 0,28 0 0,-55 28 0,56-28 0,-29 0 0,1 0 0,0 28 0,-1-28 0,1 0 15,27 0-15,-27 0 0,27 0 0,-27 0 0,27 0 0,0 0 0,-27 0 0,55 0 0,-28 0 0,0 0 0,-55 27 0,55-27 0,1 0 16,-29 0-16,1 0 0,-1 0 0,29 0 0,-29 0 0,1 0 15,27 0-15,-27 0 0,27 0 0,0 0 0,-27 0 0,0 0 0,-1 0 0,1 0 0,27 0 0,0 0 0,-27 0 0,27 0 0,0 0 0,-27 0 16,27 0-16,1 0 0,-29 0 0,1 0 0,-1 0 0,1 0 0,0 0 0,-1 0 0,1 0 0,0 0 0,-1 0 0,1 0 16,-1 0-16,1 0 0,0 0 0,-1 0 0,1 0 0,0 0 0,27 0 0,-28 0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81552E-8496-4390-A0BB-7A1DBE5BD4C7}" type="datetimeFigureOut">
              <a:rPr lang="en-AU" smtClean="0"/>
              <a:t>10/10/2025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957503-CA98-452B-A969-228070320FC1}" type="slidenum">
              <a:rPr lang="en-AU" smtClean="0"/>
              <a:t>‹#›</a:t>
            </a:fld>
            <a:endParaRPr lang="en-AU"/>
          </a:p>
        </p:txBody>
      </p:sp>
    </p:spTree>
    <p:extLst>
      <p:ext uri="{BB962C8B-B14F-4D97-AF65-F5344CB8AC3E}">
        <p14:creationId xmlns:p14="http://schemas.microsoft.com/office/powerpoint/2010/main" val="1071267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skip</a:t>
            </a:r>
            <a:endParaRPr lang="en-AU" dirty="0"/>
          </a:p>
        </p:txBody>
      </p:sp>
      <p:sp>
        <p:nvSpPr>
          <p:cNvPr id="4" name="Slide Number Placeholder 3"/>
          <p:cNvSpPr>
            <a:spLocks noGrp="1"/>
          </p:cNvSpPr>
          <p:nvPr>
            <p:ph type="sldNum" sz="quarter" idx="5"/>
          </p:nvPr>
        </p:nvSpPr>
        <p:spPr/>
        <p:txBody>
          <a:bodyPr/>
          <a:lstStyle/>
          <a:p>
            <a:fld id="{8F957503-CA98-452B-A969-228070320FC1}" type="slidenum">
              <a:rPr lang="en-AU" smtClean="0"/>
              <a:t>22</a:t>
            </a:fld>
            <a:endParaRPr lang="en-AU"/>
          </a:p>
        </p:txBody>
      </p:sp>
    </p:spTree>
    <p:extLst>
      <p:ext uri="{BB962C8B-B14F-4D97-AF65-F5344CB8AC3E}">
        <p14:creationId xmlns:p14="http://schemas.microsoft.com/office/powerpoint/2010/main" val="2314827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skip</a:t>
            </a:r>
          </a:p>
        </p:txBody>
      </p:sp>
      <p:sp>
        <p:nvSpPr>
          <p:cNvPr id="4" name="Slide Number Placeholder 3"/>
          <p:cNvSpPr>
            <a:spLocks noGrp="1"/>
          </p:cNvSpPr>
          <p:nvPr>
            <p:ph type="sldNum" sz="quarter" idx="5"/>
          </p:nvPr>
        </p:nvSpPr>
        <p:spPr/>
        <p:txBody>
          <a:bodyPr/>
          <a:lstStyle/>
          <a:p>
            <a:fld id="{8F957503-CA98-452B-A969-228070320FC1}" type="slidenum">
              <a:rPr lang="en-AU" smtClean="0"/>
              <a:t>23</a:t>
            </a:fld>
            <a:endParaRPr lang="en-AU"/>
          </a:p>
        </p:txBody>
      </p:sp>
    </p:spTree>
    <p:extLst>
      <p:ext uri="{BB962C8B-B14F-4D97-AF65-F5344CB8AC3E}">
        <p14:creationId xmlns:p14="http://schemas.microsoft.com/office/powerpoint/2010/main" val="3803872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F957503-CA98-452B-A969-228070320FC1}" type="slidenum">
              <a:rPr lang="en-AU" smtClean="0"/>
              <a:t>32</a:t>
            </a:fld>
            <a:endParaRPr lang="en-AU"/>
          </a:p>
        </p:txBody>
      </p:sp>
    </p:spTree>
    <p:extLst>
      <p:ext uri="{BB962C8B-B14F-4D97-AF65-F5344CB8AC3E}">
        <p14:creationId xmlns:p14="http://schemas.microsoft.com/office/powerpoint/2010/main" val="3087562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p:cNvSpPr>
            <a:spLocks noGrp="1"/>
          </p:cNvSpPr>
          <p:nvPr>
            <p:ph type="dt" sz="half" idx="10"/>
          </p:nvPr>
        </p:nvSpPr>
        <p:spPr/>
        <p:txBody>
          <a:bodyPr/>
          <a:lstStyle/>
          <a:p>
            <a:fld id="{5A35129E-4245-4CCD-8732-05E41ED507FF}" type="datetimeFigureOut">
              <a:rPr lang="zh-CN" altLang="en-US" smtClean="0"/>
              <a:t>2025/10/10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225D60A-958E-48B4-8A4F-E97406A06BC8}"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10"/>
          </p:nvPr>
        </p:nvSpPr>
        <p:spPr/>
        <p:txBody>
          <a:bodyPr/>
          <a:lstStyle/>
          <a:p>
            <a:fld id="{5A35129E-4245-4CCD-8732-05E41ED507FF}" type="datetimeFigureOut">
              <a:rPr lang="zh-CN" altLang="en-US" smtClean="0"/>
              <a:t>2025/10/10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225D60A-958E-48B4-8A4F-E97406A06BC8}"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5A35129E-4245-4CCD-8732-05E41ED507FF}" type="datetimeFigureOut">
              <a:rPr lang="zh-CN" altLang="en-US" smtClean="0"/>
              <a:t>2025/10/10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225D60A-958E-48B4-8A4F-E97406A06BC8}"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p:cNvSpPr>
            <a:spLocks noGrp="1"/>
          </p:cNvSpPr>
          <p:nvPr>
            <p:ph type="dt" sz="half" idx="10"/>
          </p:nvPr>
        </p:nvSpPr>
        <p:spPr/>
        <p:txBody>
          <a:bodyPr/>
          <a:lstStyle/>
          <a:p>
            <a:fld id="{5A35129E-4245-4CCD-8732-05E41ED507FF}" type="datetimeFigureOut">
              <a:rPr lang="zh-CN" altLang="en-US" smtClean="0"/>
              <a:t>2025/10/10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225D60A-958E-48B4-8A4F-E97406A06BC8}"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p:cNvSpPr>
            <a:spLocks noGrp="1"/>
          </p:cNvSpPr>
          <p:nvPr>
            <p:ph type="dt" sz="half" idx="10"/>
          </p:nvPr>
        </p:nvSpPr>
        <p:spPr/>
        <p:txBody>
          <a:bodyPr/>
          <a:lstStyle/>
          <a:p>
            <a:fld id="{5A35129E-4245-4CCD-8732-05E41ED507FF}" type="datetimeFigureOut">
              <a:rPr lang="zh-CN" altLang="en-US" smtClean="0"/>
              <a:t>2025/10/10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F225D60A-958E-48B4-8A4F-E97406A06BC8}"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Date Placeholder 2"/>
          <p:cNvSpPr>
            <a:spLocks noGrp="1"/>
          </p:cNvSpPr>
          <p:nvPr>
            <p:ph type="dt" sz="half" idx="10"/>
          </p:nvPr>
        </p:nvSpPr>
        <p:spPr/>
        <p:txBody>
          <a:bodyPr/>
          <a:lstStyle/>
          <a:p>
            <a:fld id="{5A35129E-4245-4CCD-8732-05E41ED507FF}" type="datetimeFigureOut">
              <a:rPr lang="zh-CN" altLang="en-US" smtClean="0"/>
              <a:t>2025/10/10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F225D60A-958E-48B4-8A4F-E97406A06BC8}"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35129E-4245-4CCD-8732-05E41ED507FF}" type="datetimeFigureOut">
              <a:rPr lang="zh-CN" altLang="en-US" smtClean="0"/>
              <a:t>2025/10/10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F225D60A-958E-48B4-8A4F-E97406A06BC8}"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5A35129E-4245-4CCD-8732-05E41ED507FF}" type="datetimeFigureOut">
              <a:rPr lang="zh-CN" altLang="en-US" smtClean="0"/>
              <a:t>2025/10/10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225D60A-958E-48B4-8A4F-E97406A06BC8}"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5A35129E-4245-4CCD-8732-05E41ED507FF}" type="datetimeFigureOut">
              <a:rPr lang="zh-CN" altLang="en-US" smtClean="0"/>
              <a:t>2025/10/10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225D60A-958E-48B4-8A4F-E97406A06BC8}"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10"/>
          </p:nvPr>
        </p:nvSpPr>
        <p:spPr/>
        <p:txBody>
          <a:bodyPr/>
          <a:lstStyle/>
          <a:p>
            <a:fld id="{5A35129E-4245-4CCD-8732-05E41ED507FF}" type="datetimeFigureOut">
              <a:rPr lang="zh-CN" altLang="en-US" smtClean="0"/>
              <a:t>2025/10/10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225D60A-958E-48B4-8A4F-E97406A06BC8}"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10"/>
          </p:nvPr>
        </p:nvSpPr>
        <p:spPr/>
        <p:txBody>
          <a:bodyPr/>
          <a:lstStyle/>
          <a:p>
            <a:fld id="{5A35129E-4245-4CCD-8732-05E41ED507FF}" type="datetimeFigureOut">
              <a:rPr lang="zh-CN" altLang="en-US" smtClean="0"/>
              <a:t>2025/10/10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225D60A-958E-48B4-8A4F-E97406A06BC8}"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35129E-4245-4CCD-8732-05E41ED507FF}" type="datetimeFigureOut">
              <a:rPr lang="zh-CN" altLang="en-US" smtClean="0"/>
              <a:t>2025/10/10</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25D60A-958E-48B4-8A4F-E97406A06BC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emf"/><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5.emf"/><Relationship Id="rId4" Type="http://schemas.openxmlformats.org/officeDocument/2006/relationships/image" Target="../media/image14.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altLang="zh-CN" dirty="0"/>
              <a:t>Welcome to Week 11</a:t>
            </a:r>
            <a:endParaRPr lang="zh-CN" altLang="en-US" dirty="0"/>
          </a:p>
        </p:txBody>
      </p:sp>
      <p:sp>
        <p:nvSpPr>
          <p:cNvPr id="3" name="Subtitle 2"/>
          <p:cNvSpPr>
            <a:spLocks noGrp="1"/>
          </p:cNvSpPr>
          <p:nvPr>
            <p:ph type="subTitle" idx="1"/>
          </p:nvPr>
        </p:nvSpPr>
        <p:spPr/>
        <p:txBody>
          <a:bodyPr/>
          <a:lstStyle/>
          <a:p>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rcRect l="3" r="51086" b="89290"/>
          <a:stretch>
            <a:fillRect/>
          </a:stretch>
        </p:blipFill>
        <p:spPr bwMode="auto">
          <a:xfrm>
            <a:off x="0" y="827996"/>
            <a:ext cx="6986726" cy="1004255"/>
          </a:xfrm>
          <a:prstGeom prst="rect">
            <a:avLst/>
          </a:prstGeom>
          <a:noFill/>
        </p:spPr>
      </p:pic>
      <p:pic>
        <p:nvPicPr>
          <p:cNvPr id="6" name="Picture 5"/>
          <p:cNvPicPr>
            <a:picLocks noChangeAspect="1"/>
          </p:cNvPicPr>
          <p:nvPr/>
        </p:nvPicPr>
        <p:blipFill>
          <a:blip r:embed="rId3"/>
          <a:stretch>
            <a:fillRect/>
          </a:stretch>
        </p:blipFill>
        <p:spPr>
          <a:xfrm>
            <a:off x="223929" y="2923866"/>
            <a:ext cx="9450727" cy="1099814"/>
          </a:xfrm>
          <a:prstGeom prst="rect">
            <a:avLst/>
          </a:prstGeom>
        </p:spPr>
      </p:pic>
      <p:sp>
        <p:nvSpPr>
          <p:cNvPr id="8" name="TextBox 7"/>
          <p:cNvSpPr txBox="1"/>
          <p:nvPr/>
        </p:nvSpPr>
        <p:spPr>
          <a:xfrm>
            <a:off x="694678" y="4930629"/>
            <a:ext cx="6094520" cy="923330"/>
          </a:xfrm>
          <a:prstGeom prst="rect">
            <a:avLst/>
          </a:prstGeom>
          <a:noFill/>
        </p:spPr>
        <p:txBody>
          <a:bodyPr wrap="square">
            <a:spAutoFit/>
          </a:bodyPr>
          <a:lstStyle/>
          <a:p>
            <a:r>
              <a:rPr lang="en-US" altLang="zh-CN" dirty="0"/>
              <a:t>Correct Answer: </a:t>
            </a:r>
          </a:p>
          <a:p>
            <a:r>
              <a:rPr lang="en-US" altLang="zh-CN" dirty="0" err="1"/>
              <a:t>asdf</a:t>
            </a:r>
            <a:r>
              <a:rPr lang="en-US" altLang="zh-CN" dirty="0"/>
              <a:t>=1</a:t>
            </a:r>
          </a:p>
          <a:p>
            <a:r>
              <a:rPr lang="zh-CN" altLang="en-US" dirty="0"/>
              <a:t>x= str(asdf)</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l="51089" r="14647" b="89290"/>
          <a:stretch>
            <a:fillRect/>
          </a:stretch>
        </p:blipFill>
        <p:spPr bwMode="auto">
          <a:xfrm>
            <a:off x="124287" y="694831"/>
            <a:ext cx="4894555" cy="1004255"/>
          </a:xfrm>
          <a:prstGeom prst="rect">
            <a:avLst/>
          </a:prstGeom>
          <a:noFill/>
        </p:spPr>
      </p:pic>
      <p:pic>
        <p:nvPicPr>
          <p:cNvPr id="6" name="Picture 5"/>
          <p:cNvPicPr>
            <a:picLocks noChangeAspect="1"/>
          </p:cNvPicPr>
          <p:nvPr/>
        </p:nvPicPr>
        <p:blipFill>
          <a:blip r:embed="rId3"/>
          <a:stretch>
            <a:fillRect/>
          </a:stretch>
        </p:blipFill>
        <p:spPr>
          <a:xfrm>
            <a:off x="124287" y="2248830"/>
            <a:ext cx="8372788" cy="1232979"/>
          </a:xfrm>
          <a:prstGeom prst="rect">
            <a:avLst/>
          </a:prstGeom>
        </p:spPr>
      </p:pic>
      <p:grpSp>
        <p:nvGrpSpPr>
          <p:cNvPr id="9" name="Group 8"/>
          <p:cNvGrpSpPr/>
          <p:nvPr/>
        </p:nvGrpSpPr>
        <p:grpSpPr>
          <a:xfrm>
            <a:off x="331803" y="4031554"/>
            <a:ext cx="6094520" cy="1845463"/>
            <a:chOff x="331803" y="4031554"/>
            <a:chExt cx="6094520" cy="1845463"/>
          </a:xfrm>
        </p:grpSpPr>
        <p:pic>
          <p:nvPicPr>
            <p:cNvPr id="4" name="Picture 3"/>
            <p:cNvPicPr>
              <a:picLocks noChangeAspect="1"/>
            </p:cNvPicPr>
            <p:nvPr/>
          </p:nvPicPr>
          <p:blipFill>
            <a:blip r:embed="rId4"/>
            <a:stretch>
              <a:fillRect/>
            </a:stretch>
          </p:blipFill>
          <p:spPr>
            <a:xfrm>
              <a:off x="331803" y="4579536"/>
              <a:ext cx="3637797" cy="1297481"/>
            </a:xfrm>
            <a:prstGeom prst="rect">
              <a:avLst/>
            </a:prstGeom>
          </p:spPr>
        </p:pic>
        <p:sp>
          <p:nvSpPr>
            <p:cNvPr id="8" name="TextBox 7"/>
            <p:cNvSpPr txBox="1"/>
            <p:nvPr/>
          </p:nvSpPr>
          <p:spPr>
            <a:xfrm>
              <a:off x="331803" y="4031554"/>
              <a:ext cx="6094520" cy="369332"/>
            </a:xfrm>
            <a:prstGeom prst="rect">
              <a:avLst/>
            </a:prstGeom>
            <a:noFill/>
          </p:spPr>
          <p:txBody>
            <a:bodyPr wrap="square">
              <a:spAutoFit/>
            </a:bodyPr>
            <a:lstStyle/>
            <a:p>
              <a:r>
                <a:rPr lang="en-US" altLang="zh-CN" dirty="0"/>
                <a:t>Correct Answer: </a:t>
              </a: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l="230" t="7514" r="61956" b="84436"/>
          <a:stretch>
            <a:fillRect/>
          </a:stretch>
        </p:blipFill>
        <p:spPr bwMode="auto">
          <a:xfrm>
            <a:off x="17754" y="8874"/>
            <a:ext cx="6924190" cy="967666"/>
          </a:xfrm>
          <a:prstGeom prst="rect">
            <a:avLst/>
          </a:prstGeom>
          <a:noFill/>
        </p:spPr>
      </p:pic>
      <p:pic>
        <p:nvPicPr>
          <p:cNvPr id="4" name="Picture 3"/>
          <p:cNvPicPr>
            <a:picLocks noChangeAspect="1"/>
          </p:cNvPicPr>
          <p:nvPr/>
        </p:nvPicPr>
        <p:blipFill>
          <a:blip r:embed="rId3"/>
          <a:stretch>
            <a:fillRect/>
          </a:stretch>
        </p:blipFill>
        <p:spPr>
          <a:xfrm>
            <a:off x="86696" y="1591021"/>
            <a:ext cx="7305280" cy="1132505"/>
          </a:xfrm>
          <a:prstGeom prst="rect">
            <a:avLst/>
          </a:prstGeom>
        </p:spPr>
      </p:pic>
      <p:sp>
        <p:nvSpPr>
          <p:cNvPr id="7" name="TextBox 6"/>
          <p:cNvSpPr txBox="1"/>
          <p:nvPr/>
        </p:nvSpPr>
        <p:spPr>
          <a:xfrm>
            <a:off x="331802" y="4031554"/>
            <a:ext cx="11502131" cy="2339102"/>
          </a:xfrm>
          <a:prstGeom prst="rect">
            <a:avLst/>
          </a:prstGeom>
          <a:noFill/>
        </p:spPr>
        <p:txBody>
          <a:bodyPr wrap="square">
            <a:spAutoFit/>
          </a:bodyPr>
          <a:lstStyle/>
          <a:p>
            <a:r>
              <a:rPr lang="en-US" altLang="zh-CN" dirty="0"/>
              <a:t>Correct Answer: </a:t>
            </a:r>
          </a:p>
          <a:p>
            <a:endParaRPr lang="en-US" altLang="zh-CN" dirty="0"/>
          </a:p>
          <a:p>
            <a:r>
              <a:rPr lang="en-US" altLang="zh-CN" dirty="0"/>
              <a:t>A = </a:t>
            </a:r>
            <a:r>
              <a:rPr lang="en-US" altLang="zh-CN" dirty="0" err="1"/>
              <a:t>len</a:t>
            </a:r>
            <a:r>
              <a:rPr lang="en-US" altLang="zh-CN" dirty="0"/>
              <a:t> (“str”)</a:t>
            </a:r>
          </a:p>
          <a:p>
            <a:r>
              <a:rPr lang="en-US" altLang="zh-CN" dirty="0"/>
              <a:t>B=abs(13)</a:t>
            </a:r>
          </a:p>
          <a:p>
            <a:endParaRPr lang="en-US" altLang="zh-CN" dirty="0"/>
          </a:p>
          <a:p>
            <a:r>
              <a:rPr lang="en-US" altLang="zh-CN" sz="2800" b="1" dirty="0"/>
              <a:t>Remember not to use </a:t>
            </a:r>
            <a:r>
              <a:rPr lang="en-US" altLang="zh-CN" sz="2800" b="1" dirty="0">
                <a:solidFill>
                  <a:srgbClr val="FF0000"/>
                </a:solidFill>
              </a:rPr>
              <a:t>str</a:t>
            </a:r>
            <a:r>
              <a:rPr lang="en-US" altLang="zh-CN" sz="2800" b="1" dirty="0"/>
              <a:t> as a variable name because it is the name of a Python built-in function and will cause conflicts.</a:t>
            </a:r>
            <a:endParaRPr lang="zh-CN" alt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l="50261" t="8498" r="20674" b="83005"/>
          <a:stretch>
            <a:fillRect/>
          </a:stretch>
        </p:blipFill>
        <p:spPr bwMode="auto">
          <a:xfrm>
            <a:off x="177552" y="17753"/>
            <a:ext cx="5458371" cy="1047564"/>
          </a:xfrm>
          <a:prstGeom prst="rect">
            <a:avLst/>
          </a:prstGeom>
          <a:noFill/>
        </p:spPr>
      </p:pic>
      <p:pic>
        <p:nvPicPr>
          <p:cNvPr id="4" name="Picture 3"/>
          <p:cNvPicPr>
            <a:picLocks noChangeAspect="1"/>
          </p:cNvPicPr>
          <p:nvPr/>
        </p:nvPicPr>
        <p:blipFill>
          <a:blip r:embed="rId3"/>
          <a:stretch>
            <a:fillRect/>
          </a:stretch>
        </p:blipFill>
        <p:spPr>
          <a:xfrm>
            <a:off x="177552" y="1797727"/>
            <a:ext cx="9469170" cy="1502546"/>
          </a:xfrm>
          <a:prstGeom prst="rect">
            <a:avLst/>
          </a:prstGeom>
        </p:spPr>
      </p:pic>
      <p:grpSp>
        <p:nvGrpSpPr>
          <p:cNvPr id="10" name="Group 9"/>
          <p:cNvGrpSpPr/>
          <p:nvPr/>
        </p:nvGrpSpPr>
        <p:grpSpPr>
          <a:xfrm>
            <a:off x="865617" y="4116565"/>
            <a:ext cx="4283431" cy="2301990"/>
            <a:chOff x="865618" y="4116565"/>
            <a:chExt cx="2694328" cy="1257199"/>
          </a:xfrm>
        </p:grpSpPr>
        <p:sp>
          <p:nvSpPr>
            <p:cNvPr id="8" name="TextBox 7"/>
            <p:cNvSpPr txBox="1"/>
            <p:nvPr/>
          </p:nvSpPr>
          <p:spPr>
            <a:xfrm>
              <a:off x="865618" y="4116565"/>
              <a:ext cx="2694328" cy="646331"/>
            </a:xfrm>
            <a:prstGeom prst="rect">
              <a:avLst/>
            </a:prstGeom>
            <a:noFill/>
          </p:spPr>
          <p:txBody>
            <a:bodyPr wrap="square">
              <a:spAutoFit/>
            </a:bodyPr>
            <a:lstStyle/>
            <a:p>
              <a:r>
                <a:rPr lang="en-US" altLang="zh-CN" dirty="0"/>
                <a:t>Correct Answer: </a:t>
              </a:r>
            </a:p>
            <a:p>
              <a:endParaRPr lang="en-US" altLang="zh-CN" dirty="0"/>
            </a:p>
          </p:txBody>
        </p:sp>
        <p:pic>
          <p:nvPicPr>
            <p:cNvPr id="9" name="Picture 8"/>
            <p:cNvPicPr>
              <a:picLocks noChangeAspect="1"/>
            </p:cNvPicPr>
            <p:nvPr/>
          </p:nvPicPr>
          <p:blipFill>
            <a:blip r:embed="rId4"/>
            <a:stretch>
              <a:fillRect/>
            </a:stretch>
          </p:blipFill>
          <p:spPr>
            <a:xfrm>
              <a:off x="865618" y="4573664"/>
              <a:ext cx="2524125" cy="800100"/>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l="1488" t="15194" r="65559" b="76638"/>
          <a:stretch>
            <a:fillRect/>
          </a:stretch>
        </p:blipFill>
        <p:spPr bwMode="auto">
          <a:xfrm>
            <a:off x="0" y="347239"/>
            <a:ext cx="6188524" cy="1006999"/>
          </a:xfrm>
          <a:prstGeom prst="rect">
            <a:avLst/>
          </a:prstGeom>
          <a:noFill/>
        </p:spPr>
      </p:pic>
      <p:pic>
        <p:nvPicPr>
          <p:cNvPr id="6" name="Picture 5"/>
          <p:cNvPicPr>
            <a:picLocks noChangeAspect="1"/>
          </p:cNvPicPr>
          <p:nvPr/>
        </p:nvPicPr>
        <p:blipFill>
          <a:blip r:embed="rId3"/>
          <a:stretch>
            <a:fillRect/>
          </a:stretch>
        </p:blipFill>
        <p:spPr>
          <a:xfrm>
            <a:off x="1081630" y="1601195"/>
            <a:ext cx="3591842" cy="3431231"/>
          </a:xfrm>
          <a:prstGeom prst="rect">
            <a:avLst/>
          </a:prstGeom>
        </p:spPr>
      </p:pic>
      <p:pic>
        <p:nvPicPr>
          <p:cNvPr id="7" name="Picture 6"/>
          <p:cNvPicPr>
            <a:picLocks noChangeAspect="1"/>
          </p:cNvPicPr>
          <p:nvPr/>
        </p:nvPicPr>
        <p:blipFill>
          <a:blip r:embed="rId2">
            <a:extLst>
              <a:ext uri="{28A0092B-C50C-407E-A947-70E740481C1C}">
                <a14:useLocalDpi xmlns:a14="http://schemas.microsoft.com/office/drawing/2010/main" val="0"/>
              </a:ext>
            </a:extLst>
          </a:blip>
          <a:srcRect l="1488" t="15194" r="69924" b="76638"/>
          <a:stretch>
            <a:fillRect/>
          </a:stretch>
        </p:blipFill>
        <p:spPr bwMode="auto">
          <a:xfrm>
            <a:off x="94527" y="5256805"/>
            <a:ext cx="5368724" cy="100699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l="50076" t="15258" r="6678" b="76245"/>
          <a:stretch>
            <a:fillRect/>
          </a:stretch>
        </p:blipFill>
        <p:spPr bwMode="auto">
          <a:xfrm>
            <a:off x="212276" y="0"/>
            <a:ext cx="8121496" cy="1047564"/>
          </a:xfrm>
          <a:prstGeom prst="rect">
            <a:avLst/>
          </a:prstGeom>
          <a:noFill/>
        </p:spPr>
      </p:pic>
      <p:sp>
        <p:nvSpPr>
          <p:cNvPr id="3" name="Rectangle 1"/>
          <p:cNvSpPr>
            <a:spLocks noChangeArrowheads="1"/>
          </p:cNvSpPr>
          <p:nvPr/>
        </p:nvSpPr>
        <p:spPr bwMode="auto">
          <a:xfrm>
            <a:off x="335666" y="3281836"/>
            <a:ext cx="944681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zh-CN" altLang="zh-CN" sz="4800" b="1" i="0" u="none" strike="noStrike" cap="none" normalizeH="0" baseline="0" dirty="0">
                <a:ln>
                  <a:noFill/>
                </a:ln>
                <a:solidFill>
                  <a:schemeClr val="tx1"/>
                </a:solidFill>
                <a:effectLst/>
                <a:latin typeface="Arial" panose="020B0604020202020204" pitchFamily="34" charset="0"/>
              </a:rPr>
              <a:t>Error</a:t>
            </a:r>
            <a:r>
              <a:rPr kumimoji="0" lang="zh-CN" altLang="zh-CN" sz="4800" b="0" i="0" u="none" strike="noStrike" cap="none" normalizeH="0" baseline="0" dirty="0">
                <a:ln>
                  <a:noFill/>
                </a:ln>
                <a:solidFill>
                  <a:schemeClr val="tx1"/>
                </a:solidFill>
                <a:effectLst/>
                <a:latin typeface="Arial" panose="020B0604020202020204" pitchFamily="34" charset="0"/>
              </a:rPr>
              <a:t>: </a:t>
            </a:r>
            <a:r>
              <a:rPr kumimoji="0" lang="zh-CN" altLang="zh-CN" sz="3600" b="0" i="0" u="none" strike="noStrike" cap="none" normalizeH="0" baseline="0" dirty="0">
                <a:ln>
                  <a:noFill/>
                </a:ln>
                <a:solidFill>
                  <a:schemeClr val="tx1"/>
                </a:solidFill>
                <a:effectLst/>
                <a:latin typeface="Arial Unicode MS"/>
              </a:rPr>
              <a:t>range()</a:t>
            </a:r>
            <a:r>
              <a:rPr kumimoji="0" lang="zh-CN" altLang="zh-CN" sz="2800" b="0" i="0" u="none" strike="noStrike" cap="none" normalizeH="0" baseline="0" dirty="0">
                <a:ln>
                  <a:noFill/>
                </a:ln>
                <a:solidFill>
                  <a:schemeClr val="tx1"/>
                </a:solidFill>
                <a:effectLst/>
              </a:rPr>
              <a:t> step must be an integer, not a string.</a:t>
            </a:r>
            <a:endParaRPr kumimoji="0" lang="zh-CN" altLang="zh-CN" sz="6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zh-CN" altLang="zh-CN" sz="5400" b="1" i="0" u="none" strike="noStrike" cap="none" normalizeH="0" baseline="0" dirty="0">
                <a:ln>
                  <a:noFill/>
                </a:ln>
                <a:solidFill>
                  <a:schemeClr val="tx1"/>
                </a:solidFill>
                <a:effectLst/>
                <a:latin typeface="Arial" panose="020B0604020202020204" pitchFamily="34" charset="0"/>
              </a:rPr>
              <a:t>Correction</a:t>
            </a:r>
            <a:r>
              <a:rPr kumimoji="0" lang="zh-CN" altLang="zh-CN" sz="5400" b="0" i="0" u="none" strike="noStrike" cap="none" normalizeH="0" baseline="0" dirty="0">
                <a:ln>
                  <a:noFill/>
                </a:ln>
                <a:solidFill>
                  <a:schemeClr val="tx1"/>
                </a:solidFill>
                <a:effectLst/>
                <a:latin typeface="Arial" panose="020B0604020202020204" pitchFamily="34" charset="0"/>
              </a:rPr>
              <a:t>: </a:t>
            </a:r>
            <a:r>
              <a:rPr kumimoji="0" lang="zh-CN" altLang="zh-CN" sz="3600" b="0" i="0" u="none" strike="noStrike" cap="none" normalizeH="0" baseline="0" dirty="0">
                <a:ln>
                  <a:noFill/>
                </a:ln>
                <a:solidFill>
                  <a:schemeClr val="tx1"/>
                </a:solidFill>
                <a:effectLst/>
                <a:latin typeface="Arial Unicode MS"/>
              </a:rPr>
              <a:t>x = list(</a:t>
            </a:r>
            <a:r>
              <a:rPr kumimoji="0" lang="zh-CN" altLang="zh-CN" sz="4800" b="0" i="0" u="none" strike="noStrike" cap="none" normalizeH="0" baseline="0" dirty="0">
                <a:ln>
                  <a:noFill/>
                </a:ln>
                <a:solidFill>
                  <a:schemeClr val="tx1"/>
                </a:solidFill>
                <a:effectLst/>
                <a:latin typeface="Arial Unicode MS"/>
              </a:rPr>
              <a:t>range</a:t>
            </a:r>
            <a:r>
              <a:rPr kumimoji="0" lang="zh-CN" altLang="zh-CN" sz="3600" b="0" i="0" u="none" strike="noStrike" cap="none" normalizeH="0" baseline="0" dirty="0">
                <a:ln>
                  <a:noFill/>
                </a:ln>
                <a:solidFill>
                  <a:schemeClr val="tx1"/>
                </a:solidFill>
                <a:effectLst/>
                <a:latin typeface="Arial Unicode MS"/>
              </a:rPr>
              <a:t>(1, 9, 1))[</a:t>
            </a:r>
            <a:r>
              <a:rPr kumimoji="0" lang="en-US" altLang="zh-CN" sz="3600" b="0" i="0" u="none" strike="noStrike" cap="none" normalizeH="0" baseline="0" dirty="0">
                <a:ln>
                  <a:noFill/>
                </a:ln>
                <a:solidFill>
                  <a:schemeClr val="tx1"/>
                </a:solidFill>
                <a:effectLst/>
                <a:latin typeface="Arial Unicode MS"/>
              </a:rPr>
              <a:t>8</a:t>
            </a:r>
            <a:r>
              <a:rPr kumimoji="0" lang="zh-CN" altLang="zh-CN" sz="3600" b="0" i="0" u="none" strike="noStrike" cap="none" normalizeH="0" baseline="0" dirty="0">
                <a:ln>
                  <a:noFill/>
                </a:ln>
                <a:solidFill>
                  <a:schemeClr val="tx1"/>
                </a:solidFill>
                <a:effectLst/>
                <a:latin typeface="Arial Unicode MS"/>
              </a:rPr>
              <a:t>]</a:t>
            </a:r>
            <a:r>
              <a:rPr kumimoji="0" lang="zh-CN" altLang="zh-CN" sz="2800" b="0" i="0" u="none" strike="noStrike" cap="none" normalizeH="0" baseline="0" dirty="0">
                <a:ln>
                  <a:noFill/>
                </a:ln>
                <a:solidFill>
                  <a:schemeClr val="tx1"/>
                </a:solidFill>
                <a:effectLst/>
              </a:rPr>
              <a:t>.</a:t>
            </a:r>
            <a:endParaRPr kumimoji="0" lang="zh-CN" altLang="zh-CN" sz="6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3"/>
          <a:stretch>
            <a:fillRect/>
          </a:stretch>
        </p:blipFill>
        <p:spPr>
          <a:xfrm>
            <a:off x="335666" y="1455870"/>
            <a:ext cx="10716203" cy="136835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l="1130" t="23426" r="55624" b="66810"/>
          <a:stretch>
            <a:fillRect/>
          </a:stretch>
        </p:blipFill>
        <p:spPr bwMode="auto">
          <a:xfrm>
            <a:off x="0" y="787077"/>
            <a:ext cx="8121496" cy="1203767"/>
          </a:xfrm>
          <a:prstGeom prst="rect">
            <a:avLst/>
          </a:prstGeom>
          <a:noFill/>
        </p:spPr>
      </p:pic>
      <p:sp>
        <p:nvSpPr>
          <p:cNvPr id="5" name="TextBox 4"/>
          <p:cNvSpPr txBox="1"/>
          <p:nvPr/>
        </p:nvSpPr>
        <p:spPr>
          <a:xfrm>
            <a:off x="254643" y="3703899"/>
            <a:ext cx="11019098" cy="258532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pPr>
            <a:r>
              <a:rPr kumimoji="0" lang="zh-CN" altLang="zh-CN" sz="5400" b="1" i="0" u="none" strike="noStrike" cap="none" normalizeH="0" baseline="0" dirty="0">
                <a:ln>
                  <a:noFill/>
                </a:ln>
                <a:solidFill>
                  <a:schemeClr val="tx1"/>
                </a:solidFill>
                <a:effectLst/>
                <a:latin typeface="Arial" panose="020B0604020202020204" pitchFamily="34" charset="0"/>
              </a:rPr>
              <a:t>Error</a:t>
            </a:r>
            <a:r>
              <a:rPr kumimoji="0" lang="zh-CN" altLang="zh-CN" sz="5400" b="0" i="0" u="none" strike="noStrike" cap="none" normalizeH="0" baseline="0" dirty="0">
                <a:ln>
                  <a:noFill/>
                </a:ln>
                <a:solidFill>
                  <a:schemeClr val="tx1"/>
                </a:solidFill>
                <a:effectLst/>
                <a:latin typeface="Arial" panose="020B0604020202020204" pitchFamily="34" charset="0"/>
              </a:rPr>
              <a:t>: </a:t>
            </a:r>
            <a:r>
              <a:rPr kumimoji="0" lang="zh-CN" altLang="zh-CN" sz="5400" b="0" i="0" u="none" strike="noStrike" cap="none" normalizeH="0" baseline="0" dirty="0">
                <a:ln>
                  <a:noFill/>
                </a:ln>
                <a:solidFill>
                  <a:schemeClr val="tx1"/>
                </a:solidFill>
                <a:effectLst/>
                <a:latin typeface="Arial Unicode MS"/>
              </a:rPr>
              <a:t>startswith()</a:t>
            </a:r>
            <a:r>
              <a:rPr kumimoji="0" lang="zh-CN" altLang="zh-CN" sz="5400" b="0" i="0" u="none" strike="noStrike" cap="none" normalizeH="0" baseline="0" dirty="0">
                <a:ln>
                  <a:noFill/>
                </a:ln>
                <a:solidFill>
                  <a:schemeClr val="tx1"/>
                </a:solidFill>
                <a:effectLst/>
              </a:rPr>
              <a:t> argument should be a string.</a:t>
            </a:r>
            <a:endParaRPr kumimoji="0" lang="zh-CN" altLang="zh-CN" sz="5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zh-CN" altLang="zh-CN" sz="5400" b="1" i="0" u="none" strike="noStrike" cap="none" normalizeH="0" baseline="0" dirty="0">
                <a:ln>
                  <a:noFill/>
                </a:ln>
                <a:solidFill>
                  <a:schemeClr val="tx1"/>
                </a:solidFill>
                <a:effectLst/>
                <a:latin typeface="Arial" panose="020B0604020202020204" pitchFamily="34" charset="0"/>
              </a:rPr>
              <a:t>Correction</a:t>
            </a:r>
            <a:r>
              <a:rPr kumimoji="0" lang="zh-CN" altLang="zh-CN" sz="5400" b="0" i="0" u="none" strike="noStrike" cap="none" normalizeH="0" baseline="0" dirty="0">
                <a:ln>
                  <a:noFill/>
                </a:ln>
                <a:solidFill>
                  <a:schemeClr val="tx1"/>
                </a:solidFill>
                <a:effectLst/>
                <a:latin typeface="Arial" panose="020B0604020202020204" pitchFamily="34" charset="0"/>
              </a:rPr>
              <a:t>: </a:t>
            </a:r>
            <a:r>
              <a:rPr kumimoji="0" lang="zh-CN" altLang="zh-CN" sz="5400" b="0" i="0" u="none" strike="noStrike" cap="none" normalizeH="0" baseline="0" dirty="0">
                <a:ln>
                  <a:noFill/>
                </a:ln>
                <a:solidFill>
                  <a:schemeClr val="tx1"/>
                </a:solidFill>
                <a:effectLst/>
                <a:latin typeface="Arial Unicode MS"/>
              </a:rPr>
              <a:t>print(x.startswith("2"))</a:t>
            </a:r>
            <a:r>
              <a:rPr kumimoji="0" lang="zh-CN" altLang="zh-CN" sz="5400" b="0" i="0" u="none" strike="noStrike" cap="none" normalizeH="0" baseline="0" dirty="0">
                <a:ln>
                  <a:noFill/>
                </a:ln>
                <a:solidFill>
                  <a:schemeClr val="tx1"/>
                </a:solidFill>
                <a:effectLst/>
              </a:rPr>
              <a:t>.</a:t>
            </a:r>
            <a:r>
              <a:rPr kumimoji="0" lang="zh-CN" altLang="zh-CN" sz="5400" b="0" i="0" u="none" strike="noStrike" cap="none" normalizeH="0" baseline="0" dirty="0">
                <a:ln>
                  <a:noFill/>
                </a:ln>
                <a:solidFill>
                  <a:schemeClr val="tx1"/>
                </a:solidFill>
                <a:effectLst/>
                <a:latin typeface="Arial" panose="020B0604020202020204" pitchFamily="34" charset="0"/>
              </a:rPr>
              <a:t> </a:t>
            </a:r>
          </a:p>
        </p:txBody>
      </p:sp>
      <p:pic>
        <p:nvPicPr>
          <p:cNvPr id="7" name="Picture 6"/>
          <p:cNvPicPr>
            <a:picLocks noChangeAspect="1"/>
          </p:cNvPicPr>
          <p:nvPr/>
        </p:nvPicPr>
        <p:blipFill>
          <a:blip r:embed="rId3"/>
          <a:stretch>
            <a:fillRect/>
          </a:stretch>
        </p:blipFill>
        <p:spPr>
          <a:xfrm>
            <a:off x="140102" y="2009170"/>
            <a:ext cx="10648718" cy="141982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l="49521" t="23425" r="7233" b="66435"/>
          <a:stretch>
            <a:fillRect/>
          </a:stretch>
        </p:blipFill>
        <p:spPr bwMode="auto">
          <a:xfrm>
            <a:off x="212276" y="0"/>
            <a:ext cx="11054254" cy="1701478"/>
          </a:xfrm>
          <a:prstGeom prst="rect">
            <a:avLst/>
          </a:prstGeom>
          <a:noFill/>
        </p:spPr>
      </p:pic>
      <p:pic>
        <p:nvPicPr>
          <p:cNvPr id="4" name="Picture 3"/>
          <p:cNvPicPr>
            <a:picLocks noChangeAspect="1"/>
          </p:cNvPicPr>
          <p:nvPr/>
        </p:nvPicPr>
        <p:blipFill>
          <a:blip r:embed="rId3"/>
          <a:stretch>
            <a:fillRect/>
          </a:stretch>
        </p:blipFill>
        <p:spPr>
          <a:xfrm>
            <a:off x="0" y="2018034"/>
            <a:ext cx="11695718" cy="1410966"/>
          </a:xfrm>
          <a:prstGeom prst="rect">
            <a:avLst/>
          </a:prstGeom>
        </p:spPr>
      </p:pic>
      <p:sp>
        <p:nvSpPr>
          <p:cNvPr id="5" name="TextBox 4"/>
          <p:cNvSpPr txBox="1"/>
          <p:nvPr/>
        </p:nvSpPr>
        <p:spPr>
          <a:xfrm>
            <a:off x="212276" y="2681056"/>
            <a:ext cx="11483442" cy="4247317"/>
          </a:xfrm>
          <a:prstGeom prst="rect">
            <a:avLst/>
          </a:prstGeom>
          <a:noFill/>
        </p:spPr>
        <p:txBody>
          <a:bodyPr wrap="square">
            <a:spAutoFit/>
          </a:bodyPr>
          <a:lstStyle/>
          <a:p>
            <a:pPr lvl="0" eaLnBrk="0" fontAlgn="base" hangingPunct="0">
              <a:spcBef>
                <a:spcPct val="0"/>
              </a:spcBef>
              <a:spcAft>
                <a:spcPct val="0"/>
              </a:spcAft>
            </a:pPr>
            <a:r>
              <a:rPr kumimoji="0" lang="zh-CN" altLang="zh-CN" sz="5400" b="1" i="0" u="none" strike="noStrike" cap="none" normalizeH="0" baseline="0" dirty="0">
                <a:ln>
                  <a:noFill/>
                </a:ln>
                <a:solidFill>
                  <a:schemeClr val="tx1"/>
                </a:solidFill>
                <a:effectLst/>
                <a:latin typeface="Arial" panose="020B0604020202020204" pitchFamily="34" charset="0"/>
              </a:rPr>
              <a:t>Error</a:t>
            </a:r>
            <a:r>
              <a:rPr kumimoji="0" lang="zh-CN" altLang="zh-CN" sz="5400" b="0" i="0" u="none" strike="noStrike" cap="none" normalizeH="0" baseline="0" dirty="0">
                <a:ln>
                  <a:noFill/>
                </a:ln>
                <a:solidFill>
                  <a:schemeClr val="tx1"/>
                </a:solidFill>
                <a:effectLst/>
                <a:latin typeface="Arial" panose="020B0604020202020204" pitchFamily="34" charset="0"/>
              </a:rPr>
              <a:t>: Strings don’t have an </a:t>
            </a:r>
            <a:r>
              <a:rPr kumimoji="0" lang="zh-CN" altLang="zh-CN" sz="5400" b="0" i="0" u="none" strike="noStrike" cap="none" normalizeH="0" baseline="0" dirty="0">
                <a:ln>
                  <a:noFill/>
                </a:ln>
                <a:solidFill>
                  <a:schemeClr val="tx1"/>
                </a:solidFill>
                <a:effectLst/>
                <a:latin typeface="Arial Unicode MS"/>
              </a:rPr>
              <a:t>append()</a:t>
            </a:r>
            <a:r>
              <a:rPr kumimoji="0" lang="zh-CN" altLang="zh-CN" sz="5400" b="0" i="0" u="none" strike="noStrike" cap="none" normalizeH="0" baseline="0" dirty="0">
                <a:ln>
                  <a:noFill/>
                </a:ln>
                <a:solidFill>
                  <a:schemeClr val="tx1"/>
                </a:solidFill>
                <a:effectLst/>
              </a:rPr>
              <a:t> method</a:t>
            </a:r>
            <a:r>
              <a:rPr kumimoji="0" lang="en-US" altLang="zh-CN" sz="5400" b="0" i="0" u="none" strike="noStrike" cap="none" normalizeH="0" baseline="0" dirty="0">
                <a:ln>
                  <a:noFill/>
                </a:ln>
                <a:solidFill>
                  <a:schemeClr val="tx1"/>
                </a:solidFill>
                <a:effectLst/>
              </a:rPr>
              <a:t>-</a:t>
            </a:r>
            <a:r>
              <a:rPr kumimoji="0" lang="en-US" altLang="zh-CN" sz="5400" b="0" i="0" u="none" strike="noStrike" cap="none" normalizeH="0" dirty="0">
                <a:ln>
                  <a:noFill/>
                </a:ln>
                <a:solidFill>
                  <a:schemeClr val="tx1"/>
                </a:solidFill>
                <a:effectLst/>
              </a:rPr>
              <a:t> add one item at the end to the existing list</a:t>
            </a:r>
            <a:endParaRPr kumimoji="0" lang="zh-CN" altLang="zh-CN" sz="54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pPr>
            <a:r>
              <a:rPr kumimoji="0" lang="zh-CN" altLang="zh-CN" sz="5400" b="1" i="0" u="none" strike="noStrike" cap="none" normalizeH="0" baseline="0" dirty="0">
                <a:ln>
                  <a:noFill/>
                </a:ln>
                <a:solidFill>
                  <a:schemeClr val="tx1"/>
                </a:solidFill>
                <a:effectLst/>
                <a:latin typeface="Arial" panose="020B0604020202020204" pitchFamily="34" charset="0"/>
              </a:rPr>
              <a:t>Correction</a:t>
            </a:r>
            <a:r>
              <a:rPr kumimoji="0" lang="zh-CN" altLang="zh-CN" sz="5400" b="0" i="0" u="none" strike="noStrike" cap="none" normalizeH="0" baseline="0" dirty="0">
                <a:ln>
                  <a:noFill/>
                </a:ln>
                <a:solidFill>
                  <a:schemeClr val="tx1"/>
                </a:solidFill>
                <a:effectLst/>
                <a:latin typeface="Arial" panose="020B0604020202020204" pitchFamily="34" charset="0"/>
              </a:rPr>
              <a:t>: Use a list: </a:t>
            </a:r>
            <a:r>
              <a:rPr kumimoji="0" lang="zh-CN" altLang="zh-CN" sz="5400" b="0" i="0" u="none" strike="noStrike" cap="none" normalizeH="0" baseline="0" dirty="0">
                <a:ln>
                  <a:noFill/>
                </a:ln>
                <a:solidFill>
                  <a:schemeClr val="tx1"/>
                </a:solidFill>
                <a:effectLst/>
                <a:latin typeface="Arial Unicode MS"/>
              </a:rPr>
              <a:t>x = ['8’];</a:t>
            </a:r>
            <a:r>
              <a:rPr kumimoji="0" lang="en-US" altLang="zh-CN" sz="5400" b="0" i="0" u="none" strike="noStrike" cap="none" normalizeH="0" dirty="0">
                <a:ln>
                  <a:noFill/>
                </a:ln>
                <a:solidFill>
                  <a:schemeClr val="tx1"/>
                </a:solidFill>
                <a:effectLst/>
                <a:latin typeface="Arial Unicode MS"/>
              </a:rPr>
              <a:t> </a:t>
            </a:r>
            <a:r>
              <a:rPr kumimoji="0" lang="zh-CN" altLang="zh-CN" sz="5400" b="0" i="0" u="none" strike="noStrike" cap="none" normalizeH="0" baseline="0" dirty="0">
                <a:ln>
                  <a:noFill/>
                </a:ln>
                <a:solidFill>
                  <a:schemeClr val="tx1"/>
                </a:solidFill>
                <a:effectLst/>
                <a:latin typeface="Arial Unicode MS"/>
              </a:rPr>
              <a:t>x.append(2)</a:t>
            </a:r>
            <a:r>
              <a:rPr kumimoji="0" lang="zh-CN" altLang="zh-CN" sz="5400" b="0" i="0" u="none" strike="noStrike" cap="none" normalizeH="0" baseline="0" dirty="0">
                <a:ln>
                  <a:noFill/>
                </a:ln>
                <a:solidFill>
                  <a:schemeClr val="tx1"/>
                </a:solidFill>
                <a:effectLst/>
              </a:rPr>
              <a:t> </a:t>
            </a:r>
            <a:endParaRPr kumimoji="0" lang="zh-CN" altLang="zh-CN" sz="5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l="-1512" t="32251" r="58266" b="58549"/>
          <a:stretch>
            <a:fillRect/>
          </a:stretch>
        </p:blipFill>
        <p:spPr bwMode="auto">
          <a:xfrm>
            <a:off x="-262286" y="-1"/>
            <a:ext cx="10524788" cy="1469985"/>
          </a:xfrm>
          <a:prstGeom prst="rect">
            <a:avLst/>
          </a:prstGeom>
          <a:noFill/>
        </p:spPr>
      </p:pic>
      <p:sp>
        <p:nvSpPr>
          <p:cNvPr id="5" name="TextBox 4"/>
          <p:cNvSpPr txBox="1"/>
          <p:nvPr/>
        </p:nvSpPr>
        <p:spPr>
          <a:xfrm>
            <a:off x="358815" y="2530390"/>
            <a:ext cx="11713580" cy="258532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5400" b="1" i="0" u="none" strike="noStrike" cap="none" normalizeH="0" baseline="0" dirty="0">
                <a:ln>
                  <a:noFill/>
                </a:ln>
                <a:solidFill>
                  <a:schemeClr val="tx1"/>
                </a:solidFill>
                <a:effectLst/>
                <a:latin typeface="Arial" panose="020B0604020202020204" pitchFamily="34" charset="0"/>
              </a:rPr>
              <a:t>Error</a:t>
            </a:r>
            <a:r>
              <a:rPr kumimoji="0" lang="zh-CN" altLang="zh-CN" sz="5400" b="0" i="0" u="none" strike="noStrike" cap="none" normalizeH="0" baseline="0" dirty="0">
                <a:ln>
                  <a:noFill/>
                </a:ln>
                <a:solidFill>
                  <a:schemeClr val="tx1"/>
                </a:solidFill>
                <a:effectLst/>
                <a:latin typeface="Arial" panose="020B0604020202020204" pitchFamily="34" charset="0"/>
              </a:rPr>
              <a:t>: Attempting to index a value from the dictionary incorrectly.</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5400" b="1" i="0" u="none" strike="noStrike" cap="none" normalizeH="0" baseline="0" dirty="0">
                <a:ln>
                  <a:noFill/>
                </a:ln>
                <a:solidFill>
                  <a:schemeClr val="tx1"/>
                </a:solidFill>
                <a:effectLst/>
                <a:latin typeface="Arial" panose="020B0604020202020204" pitchFamily="34" charset="0"/>
              </a:rPr>
              <a:t>Correction</a:t>
            </a:r>
            <a:r>
              <a:rPr kumimoji="0" lang="zh-CN" altLang="zh-CN" sz="5400" b="0" i="0" u="none" strike="noStrike" cap="none" normalizeH="0" baseline="0" dirty="0">
                <a:ln>
                  <a:noFill/>
                </a:ln>
                <a:solidFill>
                  <a:schemeClr val="tx1"/>
                </a:solidFill>
                <a:effectLst/>
                <a:latin typeface="Arial" panose="020B0604020202020204" pitchFamily="34" charset="0"/>
              </a:rPr>
              <a:t>: </a:t>
            </a:r>
            <a:r>
              <a:rPr kumimoji="0" lang="zh-CN" altLang="zh-CN" sz="5400" b="0" i="0" u="none" strike="noStrike" cap="none" normalizeH="0" baseline="0" dirty="0">
                <a:ln>
                  <a:noFill/>
                </a:ln>
                <a:solidFill>
                  <a:schemeClr val="tx1"/>
                </a:solidFill>
                <a:effectLst/>
                <a:latin typeface="Arial Unicode MS"/>
              </a:rPr>
              <a:t>{'1':'uno', 2:'dos'}[2]</a:t>
            </a:r>
            <a:r>
              <a:rPr kumimoji="0" lang="zh-CN" altLang="zh-CN" sz="5400" b="0" i="0" u="none" strike="noStrike" cap="none" normalizeH="0" baseline="0" dirty="0">
                <a:ln>
                  <a:noFill/>
                </a:ln>
                <a:solidFill>
                  <a:schemeClr val="tx1"/>
                </a:solidFill>
                <a:effectLst/>
              </a:rPr>
              <a:t> </a:t>
            </a:r>
            <a:endParaRPr kumimoji="0" lang="zh-CN" altLang="zh-CN" sz="5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l="364" t="40143" r="-371" b="50648"/>
          <a:stretch>
            <a:fillRect/>
          </a:stretch>
        </p:blipFill>
        <p:spPr bwMode="auto">
          <a:xfrm>
            <a:off x="0" y="312516"/>
            <a:ext cx="20103887" cy="1215342"/>
          </a:xfrm>
          <a:prstGeom prst="rect">
            <a:avLst/>
          </a:prstGeom>
          <a:noFill/>
        </p:spPr>
      </p:pic>
      <p:sp>
        <p:nvSpPr>
          <p:cNvPr id="6" name="TextBox 5"/>
          <p:cNvSpPr txBox="1"/>
          <p:nvPr/>
        </p:nvSpPr>
        <p:spPr>
          <a:xfrm>
            <a:off x="164938" y="1636251"/>
            <a:ext cx="11831591" cy="501675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4000" b="1" i="0" u="none" strike="noStrike" cap="none" normalizeH="0" baseline="0" dirty="0">
                <a:ln>
                  <a:noFill/>
                </a:ln>
                <a:solidFill>
                  <a:schemeClr val="tx1"/>
                </a:solidFill>
                <a:effectLst/>
                <a:latin typeface="Arial" panose="020B0604020202020204" pitchFamily="34" charset="0"/>
              </a:rPr>
              <a:t>Error</a:t>
            </a:r>
            <a:r>
              <a:rPr kumimoji="0" lang="zh-CN" altLang="zh-CN" sz="4000" b="0" i="0" u="none" strike="noStrike" cap="none" normalizeH="0" baseline="0" dirty="0">
                <a:ln>
                  <a:noFill/>
                </a:ln>
                <a:solidFill>
                  <a:schemeClr val="tx1"/>
                </a:solidFill>
                <a:effectLst/>
                <a:latin typeface="Arial" panose="020B0604020202020204" pitchFamily="34" charset="0"/>
              </a:rPr>
              <a:t>: </a:t>
            </a:r>
            <a:r>
              <a:rPr kumimoji="0" lang="zh-CN" altLang="zh-CN" sz="4000" b="0" i="0" u="none" strike="noStrike" cap="none" normalizeH="0" baseline="0" dirty="0">
                <a:ln>
                  <a:noFill/>
                </a:ln>
                <a:solidFill>
                  <a:schemeClr val="tx1"/>
                </a:solidFill>
                <a:effectLst/>
                <a:latin typeface="Arial Unicode MS"/>
              </a:rPr>
              <a:t>values()</a:t>
            </a:r>
            <a:r>
              <a:rPr kumimoji="0" lang="zh-CN" altLang="zh-CN" sz="4000" b="0" i="0" u="none" strike="noStrike" cap="none" normalizeH="0" baseline="0" dirty="0">
                <a:ln>
                  <a:noFill/>
                </a:ln>
                <a:solidFill>
                  <a:schemeClr val="tx1"/>
                </a:solidFill>
                <a:effectLst/>
              </a:rPr>
              <a:t> returns a </a:t>
            </a:r>
            <a:r>
              <a:rPr kumimoji="0" lang="en-US" altLang="zh-CN" sz="4000" b="0" i="0" u="none" strike="noStrike" cap="none" normalizeH="0" baseline="0" dirty="0">
                <a:ln>
                  <a:noFill/>
                </a:ln>
                <a:solidFill>
                  <a:schemeClr val="tx1"/>
                </a:solidFill>
                <a:effectLst/>
              </a:rPr>
              <a:t>dynamic </a:t>
            </a:r>
            <a:r>
              <a:rPr kumimoji="0" lang="zh-CN" altLang="zh-CN" sz="4000" b="0" i="0" u="none" strike="noStrike" cap="none" normalizeH="0" baseline="0" dirty="0">
                <a:ln>
                  <a:noFill/>
                </a:ln>
                <a:solidFill>
                  <a:schemeClr val="tx1"/>
                </a:solidFill>
                <a:effectLst/>
                <a:latin typeface="Arial Unicode MS"/>
              </a:rPr>
              <a:t>dict_values</a:t>
            </a:r>
            <a:r>
              <a:rPr kumimoji="0" lang="zh-CN" altLang="zh-CN" sz="4000" b="0" i="0" u="none" strike="noStrike" cap="none" normalizeH="0" baseline="0" dirty="0">
                <a:ln>
                  <a:noFill/>
                </a:ln>
                <a:solidFill>
                  <a:schemeClr val="tx1"/>
                </a:solidFill>
                <a:effectLst/>
              </a:rPr>
              <a:t> object, which is not subscriptable.</a:t>
            </a:r>
            <a:endParaRPr kumimoji="0" lang="zh-CN" altLang="zh-CN"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4000" b="1" i="0" u="none" strike="noStrike" cap="none" normalizeH="0" baseline="0" dirty="0">
                <a:ln>
                  <a:noFill/>
                </a:ln>
                <a:solidFill>
                  <a:schemeClr val="tx1"/>
                </a:solidFill>
                <a:effectLst/>
                <a:latin typeface="Arial" panose="020B0604020202020204" pitchFamily="34" charset="0"/>
              </a:rPr>
              <a:t>Correction</a:t>
            </a:r>
            <a:r>
              <a:rPr kumimoji="0" lang="zh-CN" altLang="zh-CN" sz="4000" b="0" i="0" u="none" strike="noStrike" cap="none" normalizeH="0" baseline="0" dirty="0">
                <a:ln>
                  <a:noFill/>
                </a:ln>
                <a:solidFill>
                  <a:schemeClr val="tx1"/>
                </a:solidFill>
                <a:effectLst/>
                <a:latin typeface="Arial" panose="020B0604020202020204" pitchFamily="34" charset="0"/>
              </a:rPr>
              <a:t>: </a:t>
            </a:r>
            <a:endParaRPr kumimoji="0" lang="en-US" altLang="zh-CN" sz="4000" b="0" i="0" u="none" strike="noStrike" cap="none" normalizeH="0" baseline="0" dirty="0">
              <a:ln>
                <a:noFill/>
              </a:ln>
              <a:solidFill>
                <a:schemeClr val="tx1"/>
              </a:solidFill>
              <a:effectLst/>
              <a:latin typeface="Arial" panose="020B0604020202020204" pitchFamily="34" charset="0"/>
            </a:endParaRPr>
          </a:p>
          <a:p>
            <a:pPr marL="742950" marR="0" lvl="0" indent="-742950" algn="l" defTabSz="914400" rtl="0" eaLnBrk="0" fontAlgn="base" latinLnBrk="0" hangingPunct="0">
              <a:lnSpc>
                <a:spcPct val="100000"/>
              </a:lnSpc>
              <a:spcBef>
                <a:spcPct val="0"/>
              </a:spcBef>
              <a:spcAft>
                <a:spcPct val="0"/>
              </a:spcAft>
              <a:buClrTx/>
              <a:buSzTx/>
              <a:buFont typeface="+mj-lt"/>
              <a:buAutoNum type="arabicPeriod"/>
            </a:pPr>
            <a:r>
              <a:rPr kumimoji="0" lang="zh-CN" altLang="zh-CN" sz="4000" b="0" i="0" u="none" strike="noStrike" cap="none" normalizeH="0" baseline="0" dirty="0">
                <a:ln>
                  <a:noFill/>
                </a:ln>
                <a:solidFill>
                  <a:schemeClr val="tx1"/>
                </a:solidFill>
                <a:effectLst/>
                <a:latin typeface="Arial" panose="020B0604020202020204" pitchFamily="34" charset="0"/>
              </a:rPr>
              <a:t>Convert to a list: </a:t>
            </a:r>
            <a:r>
              <a:rPr kumimoji="0" lang="zh-CN" altLang="zh-CN" sz="4000" b="0" i="0" u="none" strike="noStrike" cap="none" normalizeH="0" baseline="0" dirty="0">
                <a:ln>
                  <a:noFill/>
                </a:ln>
                <a:solidFill>
                  <a:schemeClr val="tx1"/>
                </a:solidFill>
                <a:effectLst/>
                <a:latin typeface="Arial Unicode MS"/>
              </a:rPr>
              <a:t>list({"Mars":"War", "Neptune":"Sea"}.values())[1]</a:t>
            </a:r>
            <a:r>
              <a:rPr kumimoji="0" lang="zh-CN" altLang="zh-CN" sz="4000" b="0" i="0" u="none" strike="noStrike" cap="none" normalizeH="0" baseline="0" dirty="0">
                <a:ln>
                  <a:noFill/>
                </a:ln>
                <a:solidFill>
                  <a:schemeClr val="tx1"/>
                </a:solidFill>
                <a:effectLst/>
              </a:rPr>
              <a:t> </a:t>
            </a:r>
            <a:endParaRPr kumimoji="0" lang="en-US" altLang="zh-CN" sz="4000" b="0" i="0" u="none" strike="noStrike" cap="none" normalizeH="0" baseline="0" dirty="0">
              <a:ln>
                <a:noFill/>
              </a:ln>
              <a:solidFill>
                <a:schemeClr val="tx1"/>
              </a:solidFill>
              <a:effectLst/>
            </a:endParaRPr>
          </a:p>
          <a:p>
            <a:pPr marL="742950" marR="0" lvl="0" indent="-742950" algn="l" defTabSz="914400" rtl="0" eaLnBrk="0" fontAlgn="base" latinLnBrk="0" hangingPunct="0">
              <a:lnSpc>
                <a:spcPct val="100000"/>
              </a:lnSpc>
              <a:spcBef>
                <a:spcPct val="0"/>
              </a:spcBef>
              <a:spcAft>
                <a:spcPct val="0"/>
              </a:spcAft>
              <a:buClrTx/>
              <a:buSzTx/>
              <a:buFont typeface="+mj-lt"/>
              <a:buAutoNum type="arabicPeriod"/>
            </a:pPr>
            <a:endParaRPr kumimoji="0" lang="en-US" altLang="zh-CN" sz="4000" b="0" i="0" u="none" strike="noStrike" cap="none" normalizeH="0" baseline="0" dirty="0">
              <a:ln>
                <a:noFill/>
              </a:ln>
              <a:solidFill>
                <a:schemeClr val="tx1"/>
              </a:solidFill>
              <a:effectLst/>
            </a:endParaRPr>
          </a:p>
          <a:p>
            <a:pPr marL="742950" lvl="0" indent="-742950" eaLnBrk="0" fontAlgn="base" hangingPunct="0">
              <a:spcBef>
                <a:spcPct val="0"/>
              </a:spcBef>
              <a:spcAft>
                <a:spcPct val="0"/>
              </a:spcAft>
              <a:buFont typeface="+mj-lt"/>
              <a:buAutoNum type="arabicPeriod"/>
            </a:pPr>
            <a:r>
              <a:rPr lang="en-AU" altLang="zh-CN" sz="4000" dirty="0">
                <a:latin typeface="Arial" panose="020B0604020202020204" pitchFamily="34" charset="0"/>
              </a:rPr>
              <a:t>{"Mars": "War", "Neptune": "Sea"}.values()</a:t>
            </a:r>
          </a:p>
          <a:p>
            <a:pPr marL="0" marR="0" lvl="0" indent="0" algn="l" defTabSz="914400" rtl="0" eaLnBrk="0" fontAlgn="base" latinLnBrk="0" hangingPunct="0">
              <a:lnSpc>
                <a:spcPct val="100000"/>
              </a:lnSpc>
              <a:spcBef>
                <a:spcPct val="0"/>
              </a:spcBef>
              <a:spcAft>
                <a:spcPct val="0"/>
              </a:spcAft>
              <a:buClrTx/>
              <a:buSzTx/>
              <a:buFontTx/>
              <a:buChar char="•"/>
            </a:pPr>
            <a:endParaRPr kumimoji="0" lang="zh-CN" altLang="zh-CN" sz="4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l="363" t="47159" r="50983" b="44070"/>
          <a:stretch>
            <a:fillRect/>
          </a:stretch>
        </p:blipFill>
        <p:spPr bwMode="auto">
          <a:xfrm>
            <a:off x="0" y="555584"/>
            <a:ext cx="5868365" cy="694481"/>
          </a:xfrm>
          <a:prstGeom prst="rect">
            <a:avLst/>
          </a:prstGeom>
          <a:noFill/>
        </p:spPr>
      </p:pic>
      <p:sp>
        <p:nvSpPr>
          <p:cNvPr id="5" name="TextBox 4"/>
          <p:cNvSpPr txBox="1"/>
          <p:nvPr/>
        </p:nvSpPr>
        <p:spPr>
          <a:xfrm>
            <a:off x="391128" y="2055099"/>
            <a:ext cx="11409744" cy="424731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5400" b="1" i="0" u="none" strike="noStrike" cap="none" normalizeH="0" baseline="0" dirty="0">
                <a:ln>
                  <a:noFill/>
                </a:ln>
                <a:solidFill>
                  <a:schemeClr val="tx1"/>
                </a:solidFill>
                <a:effectLst/>
                <a:latin typeface="Arial" panose="020B0604020202020204" pitchFamily="34" charset="0"/>
              </a:rPr>
              <a:t>Error</a:t>
            </a:r>
            <a:r>
              <a:rPr kumimoji="0" lang="zh-CN" altLang="zh-CN" sz="5400" b="0" i="0" u="none" strike="noStrike" cap="none" normalizeH="0" baseline="0" dirty="0">
                <a:ln>
                  <a:noFill/>
                </a:ln>
                <a:solidFill>
                  <a:schemeClr val="tx1"/>
                </a:solidFill>
                <a:effectLst/>
                <a:latin typeface="Arial" panose="020B0604020202020204" pitchFamily="34" charset="0"/>
              </a:rPr>
              <a:t>: The number </a:t>
            </a:r>
            <a:r>
              <a:rPr kumimoji="0" lang="zh-CN" altLang="zh-CN" sz="5400" b="0" i="0" u="none" strike="noStrike" cap="none" normalizeH="0" baseline="0" dirty="0">
                <a:ln>
                  <a:noFill/>
                </a:ln>
                <a:solidFill>
                  <a:schemeClr val="tx1"/>
                </a:solidFill>
                <a:effectLst/>
                <a:latin typeface="Arial Unicode MS"/>
              </a:rPr>
              <a:t>2</a:t>
            </a:r>
            <a:r>
              <a:rPr kumimoji="0" lang="zh-CN" altLang="zh-CN" sz="5400" b="0" i="0" u="none" strike="noStrike" cap="none" normalizeH="0" baseline="0" dirty="0">
                <a:ln>
                  <a:noFill/>
                </a:ln>
                <a:solidFill>
                  <a:schemeClr val="tx1"/>
                </a:solidFill>
                <a:effectLst/>
              </a:rPr>
              <a:t> is not in the list, so </a:t>
            </a:r>
            <a:r>
              <a:rPr kumimoji="0" lang="zh-CN" altLang="zh-CN" sz="5400" b="0" i="0" u="none" strike="noStrike" cap="none" normalizeH="0" baseline="0" dirty="0">
                <a:ln>
                  <a:noFill/>
                </a:ln>
                <a:solidFill>
                  <a:schemeClr val="tx1"/>
                </a:solidFill>
                <a:effectLst/>
                <a:latin typeface="Arial Unicode MS"/>
              </a:rPr>
              <a:t>remove()</a:t>
            </a:r>
            <a:r>
              <a:rPr kumimoji="0" lang="zh-CN" altLang="zh-CN" sz="5400" b="0" i="0" u="none" strike="noStrike" cap="none" normalizeH="0" baseline="0" dirty="0">
                <a:ln>
                  <a:noFill/>
                </a:ln>
                <a:solidFill>
                  <a:schemeClr val="tx1"/>
                </a:solidFill>
                <a:effectLst/>
              </a:rPr>
              <a:t> fails.</a:t>
            </a:r>
            <a:endParaRPr kumimoji="0" lang="zh-CN" altLang="zh-CN" sz="5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5400" b="1" i="0" u="none" strike="noStrike" cap="none" normalizeH="0" baseline="0" dirty="0">
                <a:ln>
                  <a:noFill/>
                </a:ln>
                <a:solidFill>
                  <a:schemeClr val="tx1"/>
                </a:solidFill>
                <a:effectLst/>
                <a:latin typeface="Arial" panose="020B0604020202020204" pitchFamily="34" charset="0"/>
              </a:rPr>
              <a:t>Correction</a:t>
            </a:r>
            <a:r>
              <a:rPr kumimoji="0" lang="zh-CN" altLang="zh-CN" sz="5400" b="0" i="0" u="none" strike="noStrike" cap="none" normalizeH="0" baseline="0" dirty="0">
                <a:ln>
                  <a:noFill/>
                </a:ln>
                <a:solidFill>
                  <a:schemeClr val="tx1"/>
                </a:solidFill>
                <a:effectLst/>
                <a:latin typeface="Arial" panose="020B0604020202020204" pitchFamily="34" charset="0"/>
              </a:rPr>
              <a:t>: </a:t>
            </a:r>
            <a:r>
              <a:rPr kumimoji="0" lang="zh-CN" altLang="zh-CN" sz="5400" b="0" i="0" u="none" strike="noStrike" cap="none" normalizeH="0" baseline="0" dirty="0">
                <a:ln>
                  <a:noFill/>
                </a:ln>
                <a:solidFill>
                  <a:schemeClr val="tx1"/>
                </a:solidFill>
                <a:effectLst/>
                <a:latin typeface="Arial Unicode MS"/>
              </a:rPr>
              <a:t>num = [1, 3]; num.remove(1)</a:t>
            </a:r>
            <a:r>
              <a:rPr kumimoji="0" lang="zh-CN" altLang="zh-CN" sz="5400" b="0" i="0" u="none" strike="noStrike" cap="none" normalizeH="0" baseline="0" dirty="0">
                <a:ln>
                  <a:noFill/>
                </a:ln>
                <a:solidFill>
                  <a:schemeClr val="tx1"/>
                </a:solidFill>
                <a:effectLst/>
              </a:rPr>
              <a:t> or ensure the list includes </a:t>
            </a:r>
            <a:r>
              <a:rPr kumimoji="0" lang="zh-CN" altLang="zh-CN" sz="5400" b="0" i="0" u="none" strike="noStrike" cap="none" normalizeH="0" baseline="0" dirty="0">
                <a:ln>
                  <a:noFill/>
                </a:ln>
                <a:solidFill>
                  <a:schemeClr val="tx1"/>
                </a:solidFill>
                <a:effectLst/>
                <a:latin typeface="Arial Unicode MS"/>
              </a:rPr>
              <a:t>2</a:t>
            </a:r>
            <a:r>
              <a:rPr kumimoji="0" lang="zh-CN" altLang="zh-CN" sz="5400" b="0" i="0" u="none" strike="noStrike" cap="none" normalizeH="0" baseline="0" dirty="0">
                <a:ln>
                  <a:noFill/>
                </a:ln>
                <a:solidFill>
                  <a:schemeClr val="tx1"/>
                </a:solidFill>
                <a:effectLst/>
              </a:rPr>
              <a:t> </a:t>
            </a:r>
            <a:endParaRPr kumimoji="0" lang="zh-CN" altLang="zh-CN" sz="5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l="48346" t="46574" r="3000" b="42170"/>
          <a:stretch>
            <a:fillRect/>
          </a:stretch>
        </p:blipFill>
        <p:spPr bwMode="auto">
          <a:xfrm>
            <a:off x="358814" y="937549"/>
            <a:ext cx="5868365" cy="891251"/>
          </a:xfrm>
          <a:prstGeom prst="rect">
            <a:avLst/>
          </a:prstGeom>
          <a:noFill/>
        </p:spPr>
      </p:pic>
      <p:sp>
        <p:nvSpPr>
          <p:cNvPr id="5" name="TextBox 4"/>
          <p:cNvSpPr txBox="1"/>
          <p:nvPr/>
        </p:nvSpPr>
        <p:spPr>
          <a:xfrm>
            <a:off x="358814" y="2318762"/>
            <a:ext cx="12115799" cy="175432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5400" b="1" i="0" u="none" strike="noStrike" cap="none" normalizeH="0" baseline="0" dirty="0">
                <a:ln>
                  <a:noFill/>
                </a:ln>
                <a:solidFill>
                  <a:schemeClr val="tx1"/>
                </a:solidFill>
                <a:effectLst/>
                <a:latin typeface="Arial" panose="020B0604020202020204" pitchFamily="34" charset="0"/>
              </a:rPr>
              <a:t>Error</a:t>
            </a:r>
            <a:r>
              <a:rPr kumimoji="0" lang="zh-CN" altLang="zh-CN" sz="5400" b="0" i="0" u="none" strike="noStrike" cap="none" normalizeH="0" baseline="0" dirty="0">
                <a:ln>
                  <a:noFill/>
                </a:ln>
                <a:solidFill>
                  <a:schemeClr val="tx1"/>
                </a:solidFill>
                <a:effectLst/>
                <a:latin typeface="Arial" panose="020B0604020202020204" pitchFamily="34" charset="0"/>
              </a:rPr>
              <a:t>: </a:t>
            </a:r>
            <a:r>
              <a:rPr kumimoji="0" lang="zh-CN" altLang="zh-CN" sz="5400" b="0" i="0" u="none" strike="noStrike" cap="none" normalizeH="0" baseline="0" dirty="0">
                <a:ln>
                  <a:noFill/>
                </a:ln>
                <a:solidFill>
                  <a:schemeClr val="tx1"/>
                </a:solidFill>
                <a:effectLst/>
                <a:latin typeface="Arial Unicode MS"/>
              </a:rPr>
              <a:t>index()</a:t>
            </a:r>
            <a:r>
              <a:rPr kumimoji="0" lang="zh-CN" altLang="zh-CN" sz="5400" b="0" i="0" u="none" strike="noStrike" cap="none" normalizeH="0" baseline="0" dirty="0">
                <a:ln>
                  <a:noFill/>
                </a:ln>
                <a:solidFill>
                  <a:schemeClr val="tx1"/>
                </a:solidFill>
                <a:effectLst/>
              </a:rPr>
              <a:t> expects a string </a:t>
            </a:r>
            <a:r>
              <a:rPr kumimoji="0" lang="zh-CN" altLang="zh-CN" sz="5400" b="0" i="0" u="none" strike="noStrike" cap="none" normalizeH="0" baseline="0" dirty="0">
                <a:ln>
                  <a:noFill/>
                </a:ln>
                <a:solidFill>
                  <a:schemeClr val="tx1"/>
                </a:solidFill>
                <a:effectLst/>
                <a:latin typeface="Arial Unicode MS"/>
              </a:rPr>
              <a:t>'3'</a:t>
            </a:r>
            <a:r>
              <a:rPr kumimoji="0" lang="zh-CN" altLang="zh-CN" sz="5400" b="0" i="0" u="none" strike="noStrike" cap="none" normalizeH="0" baseline="0" dirty="0">
                <a:ln>
                  <a:noFill/>
                </a:ln>
                <a:solidFill>
                  <a:schemeClr val="tx1"/>
                </a:solidFill>
                <a:effectLst/>
              </a:rPr>
              <a:t>.</a:t>
            </a:r>
            <a:endParaRPr kumimoji="0" lang="zh-CN" altLang="zh-CN" sz="5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5400" b="1" i="0" u="none" strike="noStrike" cap="none" normalizeH="0" baseline="0" dirty="0">
                <a:ln>
                  <a:noFill/>
                </a:ln>
                <a:solidFill>
                  <a:schemeClr val="tx1"/>
                </a:solidFill>
                <a:effectLst/>
                <a:latin typeface="Arial" panose="020B0604020202020204" pitchFamily="34" charset="0"/>
              </a:rPr>
              <a:t>Correction</a:t>
            </a:r>
            <a:r>
              <a:rPr kumimoji="0" lang="zh-CN" altLang="zh-CN" sz="5400" b="0" i="0" u="none" strike="noStrike" cap="none" normalizeH="0" baseline="0" dirty="0">
                <a:ln>
                  <a:noFill/>
                </a:ln>
                <a:solidFill>
                  <a:schemeClr val="tx1"/>
                </a:solidFill>
                <a:effectLst/>
                <a:latin typeface="Arial" panose="020B0604020202020204" pitchFamily="34" charset="0"/>
              </a:rPr>
              <a:t>: </a:t>
            </a:r>
            <a:r>
              <a:rPr kumimoji="0" lang="zh-CN" altLang="zh-CN" sz="5400" b="0" i="0" u="none" strike="noStrike" cap="none" normalizeH="0" baseline="0" dirty="0">
                <a:ln>
                  <a:noFill/>
                </a:ln>
                <a:solidFill>
                  <a:schemeClr val="tx1"/>
                </a:solidFill>
                <a:effectLst/>
                <a:latin typeface="Arial Unicode MS"/>
              </a:rPr>
              <a:t>num = ('1', '3').index('3')</a:t>
            </a:r>
            <a:r>
              <a:rPr kumimoji="0" lang="zh-CN" altLang="zh-CN" sz="5400" b="0" i="0" u="none" strike="noStrike" cap="none" normalizeH="0" baseline="0" dirty="0">
                <a:ln>
                  <a:noFill/>
                </a:ln>
                <a:solidFill>
                  <a:schemeClr val="tx1"/>
                </a:solidFill>
                <a:effectLst/>
              </a:rPr>
              <a:t> </a:t>
            </a:r>
            <a:endParaRPr kumimoji="0" lang="zh-CN" altLang="zh-CN" sz="5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l="364" t="54176" r="51750" b="36323"/>
          <a:stretch>
            <a:fillRect/>
          </a:stretch>
        </p:blipFill>
        <p:spPr bwMode="auto">
          <a:xfrm>
            <a:off x="0" y="1111170"/>
            <a:ext cx="5775767" cy="752354"/>
          </a:xfrm>
          <a:prstGeom prst="rect">
            <a:avLst/>
          </a:prstGeom>
          <a:noFill/>
        </p:spPr>
      </p:pic>
      <p:sp>
        <p:nvSpPr>
          <p:cNvPr id="5" name="TextBox 4"/>
          <p:cNvSpPr txBox="1"/>
          <p:nvPr/>
        </p:nvSpPr>
        <p:spPr>
          <a:xfrm>
            <a:off x="176514" y="2231433"/>
            <a:ext cx="12173673" cy="258532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5400" b="1" i="0" u="none" strike="noStrike" cap="none" normalizeH="0" baseline="0" dirty="0">
                <a:ln>
                  <a:noFill/>
                </a:ln>
                <a:solidFill>
                  <a:schemeClr val="tx1"/>
                </a:solidFill>
                <a:effectLst/>
                <a:latin typeface="Arial" panose="020B0604020202020204" pitchFamily="34" charset="0"/>
              </a:rPr>
              <a:t>Error</a:t>
            </a:r>
            <a:r>
              <a:rPr kumimoji="0" lang="zh-CN" altLang="zh-CN" sz="5400" b="0" i="0" u="none" strike="noStrike" cap="none" normalizeH="0" baseline="0" dirty="0">
                <a:ln>
                  <a:noFill/>
                </a:ln>
                <a:solidFill>
                  <a:schemeClr val="tx1"/>
                </a:solidFill>
                <a:effectLst/>
                <a:latin typeface="Arial" panose="020B0604020202020204" pitchFamily="34" charset="0"/>
              </a:rPr>
              <a:t>: </a:t>
            </a:r>
            <a:r>
              <a:rPr kumimoji="0" lang="zh-CN" altLang="zh-CN" sz="5400" b="0" i="0" u="none" strike="noStrike" cap="none" normalizeH="0" baseline="0" dirty="0">
                <a:ln>
                  <a:noFill/>
                </a:ln>
                <a:solidFill>
                  <a:schemeClr val="tx1"/>
                </a:solidFill>
                <a:effectLst/>
                <a:latin typeface="Arial Unicode MS"/>
              </a:rPr>
              <a:t>'5'</a:t>
            </a:r>
            <a:r>
              <a:rPr kumimoji="0" lang="zh-CN" altLang="zh-CN" sz="5400" b="0" i="0" u="none" strike="noStrike" cap="none" normalizeH="0" baseline="0" dirty="0">
                <a:ln>
                  <a:noFill/>
                </a:ln>
                <a:solidFill>
                  <a:schemeClr val="tx1"/>
                </a:solidFill>
                <a:effectLst/>
              </a:rPr>
              <a:t> is a string, should be an integer.</a:t>
            </a:r>
            <a:endParaRPr kumimoji="0" lang="zh-CN" altLang="zh-CN" sz="5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5400" b="1" i="0" u="none" strike="noStrike" cap="none" normalizeH="0" baseline="0" dirty="0">
                <a:ln>
                  <a:noFill/>
                </a:ln>
                <a:solidFill>
                  <a:schemeClr val="tx1"/>
                </a:solidFill>
                <a:effectLst/>
                <a:latin typeface="Arial" panose="020B0604020202020204" pitchFamily="34" charset="0"/>
              </a:rPr>
              <a:t>Correction</a:t>
            </a:r>
            <a:r>
              <a:rPr kumimoji="0" lang="zh-CN" altLang="zh-CN" sz="5400" b="0" i="0" u="none" strike="noStrike" cap="none" normalizeH="0" baseline="0" dirty="0">
                <a:ln>
                  <a:noFill/>
                </a:ln>
                <a:solidFill>
                  <a:schemeClr val="tx1"/>
                </a:solidFill>
                <a:effectLst/>
                <a:latin typeface="Arial" panose="020B0604020202020204" pitchFamily="34" charset="0"/>
              </a:rPr>
              <a:t>: </a:t>
            </a:r>
            <a:r>
              <a:rPr kumimoji="0" lang="zh-CN" altLang="zh-CN" sz="5400" b="0" i="0" u="none" strike="noStrike" cap="none" normalizeH="0" baseline="0" dirty="0">
                <a:ln>
                  <a:noFill/>
                </a:ln>
                <a:solidFill>
                  <a:schemeClr val="tx1"/>
                </a:solidFill>
                <a:effectLst/>
                <a:latin typeface="Arial Unicode MS"/>
              </a:rPr>
              <a:t>letter = ("ha" * 5)[9]</a:t>
            </a:r>
            <a:r>
              <a:rPr kumimoji="0" lang="zh-CN" altLang="zh-CN" sz="5400" b="0" i="0" u="none" strike="noStrike" cap="none" normalizeH="0" baseline="0" dirty="0">
                <a:ln>
                  <a:noFill/>
                </a:ln>
                <a:solidFill>
                  <a:schemeClr val="tx1"/>
                </a:solidFill>
                <a:effectLst/>
              </a:rPr>
              <a:t>.</a:t>
            </a:r>
            <a:r>
              <a:rPr kumimoji="0" lang="zh-CN" altLang="zh-CN" sz="54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l="48346" t="54907" r="7126" b="35445"/>
          <a:stretch>
            <a:fillRect/>
          </a:stretch>
        </p:blipFill>
        <p:spPr bwMode="auto">
          <a:xfrm>
            <a:off x="335666" y="439838"/>
            <a:ext cx="5370653" cy="763930"/>
          </a:xfrm>
          <a:prstGeom prst="rect">
            <a:avLst/>
          </a:prstGeom>
          <a:noFill/>
        </p:spPr>
      </p:pic>
      <p:sp>
        <p:nvSpPr>
          <p:cNvPr id="5" name="TextBox 4"/>
          <p:cNvSpPr txBox="1"/>
          <p:nvPr/>
        </p:nvSpPr>
        <p:spPr>
          <a:xfrm>
            <a:off x="335666" y="2136338"/>
            <a:ext cx="11722260" cy="258532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5400" b="1" i="0" u="none" strike="noStrike" cap="none" normalizeH="0" baseline="0" dirty="0">
                <a:ln>
                  <a:noFill/>
                </a:ln>
                <a:solidFill>
                  <a:schemeClr val="tx1"/>
                </a:solidFill>
                <a:effectLst/>
                <a:latin typeface="Arial" panose="020B0604020202020204" pitchFamily="34" charset="0"/>
              </a:rPr>
              <a:t>Error</a:t>
            </a:r>
            <a:r>
              <a:rPr kumimoji="0" lang="zh-CN" altLang="zh-CN" sz="5400" b="0" i="0" u="none" strike="noStrike" cap="none" normalizeH="0" baseline="0" dirty="0">
                <a:ln>
                  <a:noFill/>
                </a:ln>
                <a:solidFill>
                  <a:schemeClr val="tx1"/>
                </a:solidFill>
                <a:effectLst/>
                <a:latin typeface="Arial" panose="020B0604020202020204" pitchFamily="34" charset="0"/>
              </a:rPr>
              <a:t>: </a:t>
            </a:r>
            <a:r>
              <a:rPr kumimoji="0" lang="zh-CN" altLang="zh-CN" sz="5400" b="0" i="0" u="none" strike="noStrike" cap="none" normalizeH="0" baseline="0" dirty="0">
                <a:ln>
                  <a:noFill/>
                </a:ln>
                <a:solidFill>
                  <a:schemeClr val="tx1"/>
                </a:solidFill>
                <a:effectLst/>
                <a:latin typeface="Arial Unicode MS"/>
              </a:rPr>
              <a:t>'0'</a:t>
            </a:r>
            <a:r>
              <a:rPr kumimoji="0" lang="zh-CN" altLang="zh-CN" sz="5400" b="0" i="0" u="none" strike="noStrike" cap="none" normalizeH="0" baseline="0" dirty="0">
                <a:ln>
                  <a:noFill/>
                </a:ln>
                <a:solidFill>
                  <a:schemeClr val="tx1"/>
                </a:solidFill>
                <a:effectLst/>
              </a:rPr>
              <a:t> is a string, should be an integer.</a:t>
            </a:r>
            <a:endParaRPr kumimoji="0" lang="zh-CN" altLang="zh-CN" sz="5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5400" b="1" i="0" u="none" strike="noStrike" cap="none" normalizeH="0" baseline="0" dirty="0">
                <a:ln>
                  <a:noFill/>
                </a:ln>
                <a:solidFill>
                  <a:schemeClr val="tx1"/>
                </a:solidFill>
                <a:effectLst/>
                <a:latin typeface="Arial" panose="020B0604020202020204" pitchFamily="34" charset="0"/>
              </a:rPr>
              <a:t>Correction</a:t>
            </a:r>
            <a:r>
              <a:rPr kumimoji="0" lang="zh-CN" altLang="zh-CN" sz="5400" b="0" i="0" u="none" strike="noStrike" cap="none" normalizeH="0" baseline="0" dirty="0">
                <a:ln>
                  <a:noFill/>
                </a:ln>
                <a:solidFill>
                  <a:schemeClr val="tx1"/>
                </a:solidFill>
                <a:effectLst/>
                <a:latin typeface="Arial" panose="020B0604020202020204" pitchFamily="34" charset="0"/>
              </a:rPr>
              <a:t>: </a:t>
            </a:r>
            <a:r>
              <a:rPr kumimoji="0" lang="zh-CN" altLang="zh-CN" sz="5400" b="0" i="0" u="none" strike="noStrike" cap="none" normalizeH="0" baseline="0" dirty="0">
                <a:ln>
                  <a:noFill/>
                </a:ln>
                <a:solidFill>
                  <a:schemeClr val="tx1"/>
                </a:solidFill>
                <a:effectLst/>
                <a:latin typeface="Arial Unicode MS"/>
              </a:rPr>
              <a:t>s = ['s', 'e', 'd'][0]</a:t>
            </a:r>
            <a:r>
              <a:rPr kumimoji="0" lang="zh-CN" altLang="zh-CN" sz="5400" b="0" i="0" u="none" strike="noStrike" cap="none" normalizeH="0" baseline="0" dirty="0">
                <a:ln>
                  <a:noFill/>
                </a:ln>
                <a:solidFill>
                  <a:schemeClr val="tx1"/>
                </a:solidFill>
                <a:effectLst/>
              </a:rPr>
              <a:t> </a:t>
            </a:r>
            <a:endParaRPr kumimoji="0" lang="zh-CN" altLang="zh-CN" sz="5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l="364" t="62362" r="52326" b="28136"/>
          <a:stretch>
            <a:fillRect/>
          </a:stretch>
        </p:blipFill>
        <p:spPr bwMode="auto">
          <a:xfrm>
            <a:off x="0" y="405114"/>
            <a:ext cx="5706319" cy="752354"/>
          </a:xfrm>
          <a:prstGeom prst="rect">
            <a:avLst/>
          </a:prstGeom>
          <a:noFill/>
        </p:spPr>
      </p:pic>
      <p:sp>
        <p:nvSpPr>
          <p:cNvPr id="5" name="TextBox 4"/>
          <p:cNvSpPr txBox="1"/>
          <p:nvPr/>
        </p:nvSpPr>
        <p:spPr>
          <a:xfrm>
            <a:off x="176513" y="1522996"/>
            <a:ext cx="12173673" cy="34163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5400" b="1" i="0" u="none" strike="noStrike" cap="none" normalizeH="0" baseline="0" dirty="0">
                <a:ln>
                  <a:noFill/>
                </a:ln>
                <a:solidFill>
                  <a:schemeClr val="tx1"/>
                </a:solidFill>
                <a:effectLst/>
                <a:latin typeface="Arial" panose="020B0604020202020204" pitchFamily="34" charset="0"/>
              </a:rPr>
              <a:t>Error</a:t>
            </a:r>
            <a:r>
              <a:rPr kumimoji="0" lang="zh-CN" altLang="zh-CN" sz="5400" b="0" i="0" u="none" strike="noStrike" cap="none" normalizeH="0" baseline="0" dirty="0">
                <a:ln>
                  <a:noFill/>
                </a:ln>
                <a:solidFill>
                  <a:schemeClr val="tx1"/>
                </a:solidFill>
                <a:effectLst/>
                <a:latin typeface="Arial" panose="020B0604020202020204" pitchFamily="34" charset="0"/>
              </a:rPr>
              <a:t>: Sets are unordered and don’t support indexing.</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5400" b="1" i="0" u="none" strike="noStrike" cap="none" normalizeH="0" baseline="0" dirty="0">
                <a:ln>
                  <a:noFill/>
                </a:ln>
                <a:solidFill>
                  <a:schemeClr val="tx1"/>
                </a:solidFill>
                <a:effectLst/>
                <a:latin typeface="Arial" panose="020B0604020202020204" pitchFamily="34" charset="0"/>
              </a:rPr>
              <a:t>Correction</a:t>
            </a:r>
            <a:r>
              <a:rPr kumimoji="0" lang="zh-CN" altLang="zh-CN" sz="5400" b="0" i="0" u="none" strike="noStrike" cap="none" normalizeH="0" baseline="0" dirty="0">
                <a:ln>
                  <a:noFill/>
                </a:ln>
                <a:solidFill>
                  <a:schemeClr val="tx1"/>
                </a:solidFill>
                <a:effectLst/>
                <a:latin typeface="Arial" panose="020B0604020202020204" pitchFamily="34" charset="0"/>
              </a:rPr>
              <a:t>: Use a list or tuple: </a:t>
            </a:r>
            <a:r>
              <a:rPr kumimoji="0" lang="zh-CN" altLang="zh-CN" sz="5400" b="0" i="0" u="none" strike="noStrike" cap="none" normalizeH="0" baseline="0" dirty="0">
                <a:ln>
                  <a:noFill/>
                </a:ln>
                <a:solidFill>
                  <a:schemeClr val="tx1"/>
                </a:solidFill>
                <a:effectLst/>
                <a:latin typeface="Arial Unicode MS"/>
              </a:rPr>
              <a:t>x = [1, 2, 3][1]</a:t>
            </a:r>
            <a:r>
              <a:rPr kumimoji="0" lang="zh-CN" altLang="zh-CN" sz="5400" b="0" i="0" u="none" strike="noStrike" cap="none" normalizeH="0" baseline="0" dirty="0">
                <a:ln>
                  <a:noFill/>
                </a:ln>
                <a:solidFill>
                  <a:schemeClr val="tx1"/>
                </a:solidFill>
                <a:effectLst/>
              </a:rPr>
              <a:t> </a:t>
            </a:r>
            <a:endParaRPr kumimoji="0" lang="zh-CN" altLang="zh-CN" sz="5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l="47002" t="61923" r="17875" b="27698"/>
          <a:stretch>
            <a:fillRect/>
          </a:stretch>
        </p:blipFill>
        <p:spPr bwMode="auto">
          <a:xfrm>
            <a:off x="0" y="648182"/>
            <a:ext cx="4236334" cy="821802"/>
          </a:xfrm>
          <a:prstGeom prst="rect">
            <a:avLst/>
          </a:prstGeom>
          <a:noFill/>
        </p:spPr>
      </p:pic>
      <p:sp>
        <p:nvSpPr>
          <p:cNvPr id="5" name="TextBox 4"/>
          <p:cNvSpPr txBox="1"/>
          <p:nvPr/>
        </p:nvSpPr>
        <p:spPr>
          <a:xfrm>
            <a:off x="284545" y="1870237"/>
            <a:ext cx="11907455" cy="34163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5400" b="1" i="0" u="none" strike="noStrike" cap="none" normalizeH="0" baseline="0" dirty="0">
                <a:ln>
                  <a:noFill/>
                </a:ln>
                <a:solidFill>
                  <a:schemeClr val="tx1"/>
                </a:solidFill>
                <a:effectLst/>
                <a:latin typeface="Arial" panose="020B0604020202020204" pitchFamily="34" charset="0"/>
              </a:rPr>
              <a:t>Error</a:t>
            </a:r>
            <a:r>
              <a:rPr kumimoji="0" lang="zh-CN" altLang="zh-CN" sz="5400" b="0" i="0" u="none" strike="noStrike" cap="none" normalizeH="0" baseline="0" dirty="0">
                <a:ln>
                  <a:noFill/>
                </a:ln>
                <a:solidFill>
                  <a:schemeClr val="tx1"/>
                </a:solidFill>
                <a:effectLst/>
                <a:latin typeface="Arial" panose="020B0604020202020204" pitchFamily="34" charset="0"/>
              </a:rPr>
              <a:t>: Tuples are immutable and don’t have an </a:t>
            </a:r>
            <a:r>
              <a:rPr kumimoji="0" lang="zh-CN" altLang="zh-CN" sz="5400" b="0" i="0" u="none" strike="noStrike" cap="none" normalizeH="0" baseline="0" dirty="0">
                <a:ln>
                  <a:noFill/>
                </a:ln>
                <a:solidFill>
                  <a:schemeClr val="tx1"/>
                </a:solidFill>
                <a:effectLst/>
                <a:latin typeface="Arial Unicode MS"/>
              </a:rPr>
              <a:t>insert()</a:t>
            </a:r>
            <a:r>
              <a:rPr kumimoji="0" lang="zh-CN" altLang="zh-CN" sz="5400" b="0" i="0" u="none" strike="noStrike" cap="none" normalizeH="0" baseline="0" dirty="0">
                <a:ln>
                  <a:noFill/>
                </a:ln>
                <a:solidFill>
                  <a:schemeClr val="tx1"/>
                </a:solidFill>
                <a:effectLst/>
              </a:rPr>
              <a:t> method.</a:t>
            </a:r>
            <a:endParaRPr kumimoji="0" lang="zh-CN" altLang="zh-CN" sz="5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5400" b="1" i="0" u="none" strike="noStrike" cap="none" normalizeH="0" baseline="0" dirty="0">
                <a:ln>
                  <a:noFill/>
                </a:ln>
                <a:solidFill>
                  <a:schemeClr val="tx1"/>
                </a:solidFill>
                <a:effectLst/>
                <a:latin typeface="Arial" panose="020B0604020202020204" pitchFamily="34" charset="0"/>
              </a:rPr>
              <a:t>Correction</a:t>
            </a:r>
            <a:r>
              <a:rPr kumimoji="0" lang="zh-CN" altLang="zh-CN" sz="5400" b="0" i="0" u="none" strike="noStrike" cap="none" normalizeH="0" baseline="0" dirty="0">
                <a:ln>
                  <a:noFill/>
                </a:ln>
                <a:solidFill>
                  <a:schemeClr val="tx1"/>
                </a:solidFill>
                <a:effectLst/>
                <a:latin typeface="Arial" panose="020B0604020202020204" pitchFamily="34" charset="0"/>
              </a:rPr>
              <a:t>: Use a list: </a:t>
            </a:r>
            <a:r>
              <a:rPr kumimoji="0" lang="zh-CN" altLang="zh-CN" sz="5400" b="0" i="0" u="none" strike="noStrike" cap="none" normalizeH="0" baseline="0" dirty="0">
                <a:ln>
                  <a:noFill/>
                </a:ln>
                <a:solidFill>
                  <a:schemeClr val="tx1"/>
                </a:solidFill>
                <a:effectLst/>
                <a:latin typeface="Arial Unicode MS"/>
              </a:rPr>
              <a:t>x = [2, 3, 1]; x.insert(0, 0)</a:t>
            </a:r>
            <a:r>
              <a:rPr kumimoji="0" lang="zh-CN" altLang="zh-CN" sz="5400" b="0" i="0" u="none" strike="noStrike" cap="none" normalizeH="0" baseline="0" dirty="0">
                <a:ln>
                  <a:noFill/>
                </a:ln>
                <a:solidFill>
                  <a:schemeClr val="tx1"/>
                </a:solidFill>
                <a:effectLst/>
              </a:rPr>
              <a:t> </a:t>
            </a:r>
            <a:endParaRPr kumimoji="0" lang="zh-CN" altLang="zh-CN" sz="5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l="364" t="68793" r="50311" b="22729"/>
          <a:stretch>
            <a:fillRect/>
          </a:stretch>
        </p:blipFill>
        <p:spPr bwMode="auto">
          <a:xfrm>
            <a:off x="146613" y="486137"/>
            <a:ext cx="5949387" cy="671332"/>
          </a:xfrm>
          <a:prstGeom prst="rect">
            <a:avLst/>
          </a:prstGeom>
          <a:noFill/>
        </p:spPr>
      </p:pic>
      <p:sp>
        <p:nvSpPr>
          <p:cNvPr id="5" name="TextBox 4"/>
          <p:cNvSpPr txBox="1"/>
          <p:nvPr/>
        </p:nvSpPr>
        <p:spPr>
          <a:xfrm>
            <a:off x="146613" y="1720840"/>
            <a:ext cx="12127374" cy="34163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5400" b="1" i="0" u="none" strike="noStrike" cap="none" normalizeH="0" baseline="0" dirty="0">
                <a:ln>
                  <a:noFill/>
                </a:ln>
                <a:solidFill>
                  <a:schemeClr val="tx1"/>
                </a:solidFill>
                <a:effectLst/>
                <a:latin typeface="Arial" panose="020B0604020202020204" pitchFamily="34" charset="0"/>
              </a:rPr>
              <a:t>Error</a:t>
            </a:r>
            <a:r>
              <a:rPr kumimoji="0" lang="zh-CN" altLang="zh-CN" sz="5400" b="0" i="0" u="none" strike="noStrike" cap="none" normalizeH="0" baseline="0" dirty="0">
                <a:ln>
                  <a:noFill/>
                </a:ln>
                <a:solidFill>
                  <a:schemeClr val="tx1"/>
                </a:solidFill>
                <a:effectLst/>
                <a:latin typeface="Arial" panose="020B0604020202020204" pitchFamily="34" charset="0"/>
              </a:rPr>
              <a:t>: </a:t>
            </a:r>
            <a:r>
              <a:rPr kumimoji="0" lang="zh-CN" altLang="zh-CN" sz="5400" b="0" i="0" u="none" strike="noStrike" cap="none" normalizeH="0" baseline="0" dirty="0">
                <a:ln>
                  <a:noFill/>
                </a:ln>
                <a:solidFill>
                  <a:schemeClr val="tx1"/>
                </a:solidFill>
                <a:effectLst/>
                <a:latin typeface="Arial Unicode MS"/>
              </a:rPr>
              <a:t>eval()</a:t>
            </a:r>
            <a:r>
              <a:rPr kumimoji="0" lang="zh-CN" altLang="zh-CN" sz="5400" b="0" i="0" u="none" strike="noStrike" cap="none" normalizeH="0" baseline="0" dirty="0">
                <a:ln>
                  <a:noFill/>
                </a:ln>
                <a:solidFill>
                  <a:schemeClr val="tx1"/>
                </a:solidFill>
                <a:effectLst/>
              </a:rPr>
              <a:t> cannot handle assignment expressions.</a:t>
            </a:r>
            <a:endParaRPr kumimoji="0" lang="zh-CN" altLang="zh-CN" sz="5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5400" b="1" i="0" u="none" strike="noStrike" cap="none" normalizeH="0" baseline="0" dirty="0">
                <a:ln>
                  <a:noFill/>
                </a:ln>
                <a:solidFill>
                  <a:schemeClr val="tx1"/>
                </a:solidFill>
                <a:effectLst/>
                <a:latin typeface="Arial" panose="020B0604020202020204" pitchFamily="34" charset="0"/>
              </a:rPr>
              <a:t>Correction</a:t>
            </a:r>
            <a:r>
              <a:rPr kumimoji="0" lang="zh-CN" altLang="zh-CN" sz="5400" b="0" i="0" u="none" strike="noStrike" cap="none" normalizeH="0" baseline="0" dirty="0">
                <a:ln>
                  <a:noFill/>
                </a:ln>
                <a:solidFill>
                  <a:schemeClr val="tx1"/>
                </a:solidFill>
                <a:effectLst/>
                <a:latin typeface="Arial" panose="020B0604020202020204" pitchFamily="34" charset="0"/>
              </a:rPr>
              <a:t>: </a:t>
            </a:r>
            <a:r>
              <a:rPr kumimoji="0" lang="zh-CN" altLang="zh-CN" sz="5400" b="0" i="0" u="none" strike="noStrike" cap="none" normalizeH="0" baseline="0" dirty="0">
                <a:ln>
                  <a:noFill/>
                </a:ln>
                <a:solidFill>
                  <a:schemeClr val="tx1"/>
                </a:solidFill>
                <a:effectLst/>
                <a:latin typeface="Arial Unicode MS"/>
              </a:rPr>
              <a:t>x = 3 * 3</a:t>
            </a:r>
            <a:r>
              <a:rPr kumimoji="0" lang="zh-CN" altLang="zh-CN" sz="5400" b="0" i="0" u="none" strike="noStrike" cap="none" normalizeH="0" baseline="0" dirty="0">
                <a:ln>
                  <a:noFill/>
                </a:ln>
                <a:solidFill>
                  <a:schemeClr val="tx1"/>
                </a:solidFill>
                <a:effectLst/>
              </a:rPr>
              <a:t> or </a:t>
            </a:r>
            <a:r>
              <a:rPr kumimoji="0" lang="zh-CN" altLang="zh-CN" sz="5400" b="0" i="0" u="none" strike="noStrike" cap="none" normalizeH="0" baseline="0" dirty="0">
                <a:ln>
                  <a:noFill/>
                </a:ln>
                <a:solidFill>
                  <a:schemeClr val="tx1"/>
                </a:solidFill>
                <a:effectLst/>
                <a:latin typeface="Arial Unicode MS"/>
              </a:rPr>
              <a:t>num = eval('3 * 3')</a:t>
            </a:r>
            <a:r>
              <a:rPr kumimoji="0" lang="zh-CN" altLang="zh-CN" sz="5400" b="0" i="0" u="none" strike="noStrike" cap="none" normalizeH="0" baseline="0" dirty="0">
                <a:ln>
                  <a:noFill/>
                </a:ln>
                <a:solidFill>
                  <a:schemeClr val="tx1"/>
                </a:solidFill>
                <a:effectLst/>
              </a:rPr>
              <a:t> </a:t>
            </a:r>
            <a:endParaRPr kumimoji="0" lang="zh-CN" altLang="zh-CN" sz="5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l="48538" t="70548" r="15859" b="20973"/>
          <a:stretch>
            <a:fillRect/>
          </a:stretch>
        </p:blipFill>
        <p:spPr bwMode="auto">
          <a:xfrm>
            <a:off x="277792" y="763929"/>
            <a:ext cx="4294208" cy="671332"/>
          </a:xfrm>
          <a:prstGeom prst="rect">
            <a:avLst/>
          </a:prstGeom>
          <a:noFill/>
        </p:spPr>
      </p:pic>
      <p:sp>
        <p:nvSpPr>
          <p:cNvPr id="5" name="TextBox 4"/>
          <p:cNvSpPr txBox="1"/>
          <p:nvPr/>
        </p:nvSpPr>
        <p:spPr>
          <a:xfrm>
            <a:off x="0" y="1930887"/>
            <a:ext cx="11930605" cy="424731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5400" b="1" i="0" u="none" strike="noStrike" cap="none" normalizeH="0" baseline="0" dirty="0">
                <a:ln>
                  <a:noFill/>
                </a:ln>
                <a:solidFill>
                  <a:schemeClr val="tx1"/>
                </a:solidFill>
                <a:effectLst/>
                <a:latin typeface="Arial" panose="020B0604020202020204" pitchFamily="34" charset="0"/>
              </a:rPr>
              <a:t>Error</a:t>
            </a:r>
            <a:r>
              <a:rPr kumimoji="0" lang="zh-CN" altLang="zh-CN" sz="5400" b="0" i="0" u="none" strike="noStrike" cap="none" normalizeH="0" baseline="0" dirty="0">
                <a:ln>
                  <a:noFill/>
                </a:ln>
                <a:solidFill>
                  <a:schemeClr val="tx1"/>
                </a:solidFill>
                <a:effectLst/>
                <a:latin typeface="Arial" panose="020B0604020202020204" pitchFamily="34" charset="0"/>
              </a:rPr>
              <a:t>: </a:t>
            </a:r>
            <a:r>
              <a:rPr kumimoji="0" lang="zh-CN" altLang="zh-CN" sz="5400" b="0" i="0" u="none" strike="noStrike" cap="none" normalizeH="0" baseline="0" dirty="0">
                <a:ln>
                  <a:noFill/>
                </a:ln>
                <a:solidFill>
                  <a:schemeClr val="tx1"/>
                </a:solidFill>
                <a:effectLst/>
                <a:latin typeface="Arial Unicode MS"/>
              </a:rPr>
              <a:t>min()</a:t>
            </a:r>
            <a:r>
              <a:rPr kumimoji="0" lang="zh-CN" altLang="zh-CN" sz="5400" b="0" i="0" u="none" strike="noStrike" cap="none" normalizeH="0" baseline="0" dirty="0">
                <a:ln>
                  <a:noFill/>
                </a:ln>
                <a:solidFill>
                  <a:schemeClr val="tx1"/>
                </a:solidFill>
                <a:effectLst/>
              </a:rPr>
              <a:t> returns a single value, not subscriptable.</a:t>
            </a:r>
            <a:endParaRPr kumimoji="0" lang="zh-CN" altLang="zh-CN" sz="5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5400" b="1" i="0" u="none" strike="noStrike" cap="none" normalizeH="0" baseline="0" dirty="0">
                <a:ln>
                  <a:noFill/>
                </a:ln>
                <a:solidFill>
                  <a:schemeClr val="tx1"/>
                </a:solidFill>
                <a:effectLst/>
                <a:latin typeface="Arial" panose="020B0604020202020204" pitchFamily="34" charset="0"/>
              </a:rPr>
              <a:t>Correction</a:t>
            </a:r>
            <a:r>
              <a:rPr kumimoji="0" lang="zh-CN" altLang="zh-CN" sz="5400" b="0" i="0" u="none" strike="noStrike" cap="none" normalizeH="0" baseline="0" dirty="0">
                <a:ln>
                  <a:noFill/>
                </a:ln>
                <a:solidFill>
                  <a:schemeClr val="tx1"/>
                </a:solidFill>
                <a:effectLst/>
                <a:latin typeface="Arial" panose="020B0604020202020204" pitchFamily="34" charset="0"/>
              </a:rPr>
              <a:t>: </a:t>
            </a:r>
            <a:r>
              <a:rPr kumimoji="0" lang="zh-CN" altLang="zh-CN" sz="5400" b="0" i="0" u="none" strike="noStrike" cap="none" normalizeH="0" baseline="0" dirty="0">
                <a:ln>
                  <a:noFill/>
                </a:ln>
                <a:solidFill>
                  <a:schemeClr val="tx1"/>
                </a:solidFill>
                <a:effectLst/>
                <a:latin typeface="Arial Unicode MS"/>
              </a:rPr>
              <a:t>value = min([1, ord('a')])</a:t>
            </a:r>
            <a:r>
              <a:rPr kumimoji="0" lang="zh-CN" altLang="zh-CN" sz="5400" b="0" i="0" u="none" strike="noStrike" cap="none" normalizeH="0" baseline="0" dirty="0">
                <a:ln>
                  <a:noFill/>
                </a:ln>
                <a:solidFill>
                  <a:schemeClr val="tx1"/>
                </a:solidFill>
                <a:effectLst/>
              </a:rPr>
              <a:t> to ensure consistent types.</a:t>
            </a:r>
            <a:r>
              <a:rPr kumimoji="0" lang="zh-CN" altLang="zh-CN" sz="5400" b="0" i="0" u="none" strike="noStrike" cap="none" normalizeH="0" baseline="0" dirty="0">
                <a:ln>
                  <a:noFill/>
                </a:ln>
                <a:solidFill>
                  <a:schemeClr val="tx1"/>
                </a:solidFill>
                <a:effectLst/>
                <a:latin typeface="Arial" panose="020B0604020202020204" pitchFamily="34" charset="0"/>
              </a:rPr>
              <a:t> </a:t>
            </a:r>
            <a:endParaRPr kumimoji="0" lang="en-AU" altLang="zh-CN" sz="5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lang="en-US" altLang="zh-CN" sz="5400" dirty="0" err="1">
                <a:latin typeface="Arial" panose="020B0604020202020204" pitchFamily="34" charset="0"/>
              </a:rPr>
              <a:t>o</a:t>
            </a:r>
            <a:r>
              <a:rPr kumimoji="0" lang="en-US" altLang="zh-CN" sz="5400" b="0" i="0" u="none" strike="noStrike" cap="none" normalizeH="0" baseline="0" dirty="0" err="1">
                <a:ln>
                  <a:noFill/>
                </a:ln>
                <a:solidFill>
                  <a:schemeClr val="tx1"/>
                </a:solidFill>
                <a:effectLst/>
                <a:latin typeface="Arial" panose="020B0604020202020204" pitchFamily="34" charset="0"/>
              </a:rPr>
              <a:t>rd</a:t>
            </a:r>
            <a:r>
              <a:rPr kumimoji="0" lang="en-US" altLang="zh-CN" sz="5400" b="0" i="0" u="none" strike="noStrike" cap="none" normalizeH="0" baseline="0" dirty="0">
                <a:ln>
                  <a:noFill/>
                </a:ln>
                <a:solidFill>
                  <a:schemeClr val="tx1"/>
                </a:solidFill>
                <a:effectLst/>
                <a:latin typeface="Arial" panose="020B0604020202020204" pitchFamily="34" charset="0"/>
              </a:rPr>
              <a:t>() return the ASCII code of a.</a:t>
            </a:r>
            <a:endParaRPr kumimoji="0" lang="zh-CN" altLang="zh-CN" sz="5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l="364" t="77125" r="-371" b="13666"/>
          <a:stretch>
            <a:fillRect/>
          </a:stretch>
        </p:blipFill>
        <p:spPr bwMode="auto">
          <a:xfrm>
            <a:off x="64835" y="613458"/>
            <a:ext cx="12062329" cy="729206"/>
          </a:xfrm>
          <a:prstGeom prst="rect">
            <a:avLst/>
          </a:prstGeom>
          <a:noFill/>
        </p:spPr>
      </p:pic>
      <p:sp>
        <p:nvSpPr>
          <p:cNvPr id="5" name="TextBox 4"/>
          <p:cNvSpPr txBox="1"/>
          <p:nvPr/>
        </p:nvSpPr>
        <p:spPr>
          <a:xfrm>
            <a:off x="18327" y="1153198"/>
            <a:ext cx="12173673" cy="563231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zh-CN" sz="3600" b="1" i="0" u="none" strike="noStrike" cap="none" normalizeH="0" baseline="0" dirty="0">
                <a:ln>
                  <a:noFill/>
                </a:ln>
                <a:solidFill>
                  <a:schemeClr val="tx1"/>
                </a:solidFill>
                <a:effectLst/>
                <a:latin typeface="Arial" panose="020B0604020202020204" pitchFamily="34" charset="0"/>
              </a:rPr>
              <a:t>19</a:t>
            </a:r>
          </a:p>
          <a:p>
            <a:pPr marL="0" marR="0" lvl="0" indent="0" algn="l" defTabSz="914400" rtl="0" eaLnBrk="0" fontAlgn="base" latinLnBrk="0" hangingPunct="0">
              <a:lnSpc>
                <a:spcPct val="100000"/>
              </a:lnSpc>
              <a:spcBef>
                <a:spcPct val="0"/>
              </a:spcBef>
              <a:spcAft>
                <a:spcPct val="0"/>
              </a:spcAft>
              <a:buClrTx/>
              <a:buSzTx/>
            </a:pPr>
            <a:r>
              <a:rPr kumimoji="0" lang="zh-CN" altLang="zh-CN" sz="3600" b="1" i="0" u="none" strike="noStrike" cap="none" normalizeH="0" baseline="0" dirty="0">
                <a:ln>
                  <a:noFill/>
                </a:ln>
                <a:solidFill>
                  <a:schemeClr val="tx1"/>
                </a:solidFill>
                <a:effectLst/>
                <a:latin typeface="Arial" panose="020B0604020202020204" pitchFamily="34" charset="0"/>
              </a:rPr>
              <a:t>Error</a:t>
            </a:r>
            <a:r>
              <a:rPr kumimoji="0" lang="zh-CN" altLang="zh-CN" sz="3600" b="0" i="0" u="none" strike="noStrike" cap="none" normalizeH="0" baseline="0" dirty="0">
                <a:ln>
                  <a:noFill/>
                </a:ln>
                <a:solidFill>
                  <a:schemeClr val="tx1"/>
                </a:solidFill>
                <a:effectLst/>
                <a:latin typeface="Arial" panose="020B0604020202020204" pitchFamily="34" charset="0"/>
              </a:rPr>
              <a:t>: </a:t>
            </a:r>
            <a:r>
              <a:rPr kumimoji="0" lang="zh-CN" altLang="zh-CN" sz="3600" b="0" i="0" u="none" strike="noStrike" cap="none" normalizeH="0" baseline="0" dirty="0">
                <a:ln>
                  <a:noFill/>
                </a:ln>
                <a:solidFill>
                  <a:schemeClr val="tx1"/>
                </a:solidFill>
                <a:effectLst/>
                <a:latin typeface="Arial Unicode MS"/>
              </a:rPr>
              <a:t>del</a:t>
            </a:r>
            <a:r>
              <a:rPr kumimoji="0" lang="zh-CN" altLang="zh-CN" sz="3600" b="0" i="0" u="none" strike="noStrike" cap="none" normalizeH="0" baseline="0" dirty="0">
                <a:ln>
                  <a:noFill/>
                </a:ln>
                <a:solidFill>
                  <a:schemeClr val="tx1"/>
                </a:solidFill>
                <a:effectLst/>
              </a:rPr>
              <a:t> with nested indexing is incorrect.</a:t>
            </a:r>
            <a:endParaRPr kumimoji="0" lang="zh-CN" altLang="zh-CN"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zh-CN" altLang="zh-CN" sz="3600" b="1" i="0" u="none" strike="noStrike" cap="none" normalizeH="0" baseline="0" dirty="0">
                <a:ln>
                  <a:noFill/>
                </a:ln>
                <a:solidFill>
                  <a:schemeClr val="tx1"/>
                </a:solidFill>
                <a:effectLst/>
                <a:latin typeface="Arial" panose="020B0604020202020204" pitchFamily="34" charset="0"/>
              </a:rPr>
              <a:t>Correction</a:t>
            </a:r>
            <a:r>
              <a:rPr kumimoji="0" lang="zh-CN" altLang="zh-CN" sz="3600" b="0" i="0" u="none" strike="noStrike" cap="none" normalizeH="0" baseline="0" dirty="0">
                <a:ln>
                  <a:noFill/>
                </a:ln>
                <a:solidFill>
                  <a:schemeClr val="tx1"/>
                </a:solidFill>
                <a:effectLst/>
                <a:latin typeface="Arial" panose="020B0604020202020204" pitchFamily="34" charset="0"/>
              </a:rPr>
              <a:t>: Define a list first, then delete, e.g., </a:t>
            </a:r>
            <a:r>
              <a:rPr kumimoji="0" lang="zh-CN" altLang="zh-CN" sz="3600" b="0" i="0" u="none" strike="noStrike" cap="none" normalizeH="0" baseline="0" dirty="0">
                <a:ln>
                  <a:noFill/>
                </a:ln>
                <a:solidFill>
                  <a:schemeClr val="tx1"/>
                </a:solidFill>
                <a:effectLst/>
                <a:latin typeface="Arial Unicode MS"/>
              </a:rPr>
              <a:t>lst = ['11', '12', '13']; del lst[0]</a:t>
            </a:r>
            <a:r>
              <a:rPr kumimoji="0" lang="zh-CN" altLang="zh-CN" sz="3600" b="0" i="0" u="none" strike="noStrike" cap="none" normalizeH="0" baseline="0" dirty="0">
                <a:ln>
                  <a:noFill/>
                </a:ln>
                <a:solidFill>
                  <a:schemeClr val="tx1"/>
                </a:solidFill>
                <a:effectLst/>
              </a:rPr>
              <a:t>.</a:t>
            </a:r>
            <a:endParaRPr kumimoji="0" lang="zh-CN" altLang="zh-CN"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zh-CN" sz="3600" b="1" i="0" u="none" strike="noStrike" cap="none" normalizeH="0" baseline="0" dirty="0">
                <a:ln>
                  <a:noFill/>
                </a:ln>
                <a:solidFill>
                  <a:schemeClr val="tx1"/>
                </a:solidFill>
                <a:effectLst/>
                <a:latin typeface="Arial" panose="020B0604020202020204" pitchFamily="34" charset="0"/>
              </a:rPr>
              <a:t>20</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3600" b="1" i="0" u="none" strike="noStrike" cap="none" normalizeH="0" baseline="0" dirty="0">
                <a:ln>
                  <a:noFill/>
                </a:ln>
                <a:solidFill>
                  <a:schemeClr val="tx1"/>
                </a:solidFill>
                <a:effectLst/>
                <a:latin typeface="Arial" panose="020B0604020202020204" pitchFamily="34" charset="0"/>
              </a:rPr>
              <a:t>Error</a:t>
            </a:r>
            <a:r>
              <a:rPr kumimoji="0" lang="zh-CN" altLang="zh-CN" sz="3600" b="0" i="0" u="none" strike="noStrike" cap="none" normalizeH="0" baseline="0" dirty="0">
                <a:ln>
                  <a:noFill/>
                </a:ln>
                <a:solidFill>
                  <a:schemeClr val="tx1"/>
                </a:solidFill>
                <a:effectLst/>
                <a:latin typeface="Arial" panose="020B0604020202020204" pitchFamily="34" charset="0"/>
              </a:rPr>
              <a:t>: This expression is technically correct but outputs </a:t>
            </a:r>
            <a:r>
              <a:rPr kumimoji="0" lang="zh-CN" altLang="zh-CN" sz="3600" b="0" i="0" u="none" strike="noStrike" cap="none" normalizeH="0" baseline="0" dirty="0">
                <a:ln>
                  <a:noFill/>
                </a:ln>
                <a:solidFill>
                  <a:schemeClr val="tx1"/>
                </a:solidFill>
                <a:effectLst/>
                <a:latin typeface="Arial Unicode MS"/>
              </a:rPr>
              <a:t>False</a:t>
            </a:r>
            <a:r>
              <a:rPr kumimoji="0" lang="zh-CN" altLang="zh-CN" sz="3600" b="0" i="0" u="none" strike="noStrike" cap="none" normalizeH="0" baseline="0" dirty="0">
                <a:ln>
                  <a:noFill/>
                </a:ln>
                <a:solidFill>
                  <a:schemeClr val="tx1"/>
                </a:solidFill>
                <a:effectLst/>
              </a:rPr>
              <a:t>.</a:t>
            </a:r>
            <a:endParaRPr kumimoji="0" lang="zh-CN" altLang="zh-CN"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3600" b="1" i="0" u="none" strike="noStrike" cap="none" normalizeH="0" baseline="0" dirty="0">
                <a:ln>
                  <a:noFill/>
                </a:ln>
                <a:solidFill>
                  <a:schemeClr val="tx1"/>
                </a:solidFill>
                <a:effectLst/>
                <a:latin typeface="Arial" panose="020B0604020202020204" pitchFamily="34" charset="0"/>
              </a:rPr>
              <a:t>Correction</a:t>
            </a:r>
            <a:r>
              <a:rPr kumimoji="0" lang="zh-CN" altLang="zh-CN" sz="3600" b="0" i="0" u="none" strike="noStrike" cap="none" normalizeH="0" baseline="0" dirty="0">
                <a:ln>
                  <a:noFill/>
                </a:ln>
                <a:solidFill>
                  <a:schemeClr val="tx1"/>
                </a:solidFill>
                <a:effectLst/>
                <a:latin typeface="Arial" panose="020B0604020202020204" pitchFamily="34" charset="0"/>
              </a:rPr>
              <a:t>: Use </a:t>
            </a:r>
            <a:r>
              <a:rPr kumimoji="0" lang="zh-CN" altLang="zh-CN" sz="3600" b="0" i="0" u="none" strike="noStrike" cap="none" normalizeH="0" baseline="0" dirty="0">
                <a:ln>
                  <a:noFill/>
                </a:ln>
                <a:solidFill>
                  <a:schemeClr val="tx1"/>
                </a:solidFill>
                <a:effectLst/>
                <a:latin typeface="Arial Unicode MS"/>
              </a:rPr>
              <a:t>print([2] in {1: [2], 2: [3], 3: [1]}.values())</a:t>
            </a:r>
            <a:r>
              <a:rPr kumimoji="0" lang="zh-CN" altLang="zh-CN" sz="3600" b="0" i="0" u="none" strike="noStrike" cap="none" normalizeH="0" baseline="0" dirty="0">
                <a:ln>
                  <a:noFill/>
                </a:ln>
                <a:solidFill>
                  <a:schemeClr val="tx1"/>
                </a:solidFill>
                <a:effectLst/>
              </a:rPr>
              <a:t>.</a:t>
            </a:r>
            <a:endParaRPr kumimoji="0" lang="zh-CN" altLang="zh-CN"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zh-CN" altLang="zh-CN" sz="3600" b="0" i="0" u="none" strike="noStrike" cap="none" normalizeH="0" baseline="0" dirty="0">
                <a:ln>
                  <a:noFill/>
                </a:ln>
                <a:solidFill>
                  <a:schemeClr val="tx1"/>
                </a:solidFill>
                <a:effectLst/>
                <a:latin typeface="Arial Unicode MS"/>
              </a:rPr>
              <a:t>["air", "fire", "earth", "water"].sort()[2]</a:t>
            </a:r>
            <a:endParaRPr kumimoji="0" lang="zh-CN" altLang="zh-CN" sz="3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3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l="364" t="83448" r="39371" b="1134"/>
          <a:stretch>
            <a:fillRect/>
          </a:stretch>
        </p:blipFill>
        <p:spPr bwMode="auto">
          <a:xfrm>
            <a:off x="196770" y="581627"/>
            <a:ext cx="7268901" cy="1220820"/>
          </a:xfrm>
          <a:prstGeom prst="rect">
            <a:avLst/>
          </a:prstGeom>
          <a:noFill/>
        </p:spPr>
      </p:pic>
      <p:sp>
        <p:nvSpPr>
          <p:cNvPr id="4" name="TextBox 3"/>
          <p:cNvSpPr txBox="1"/>
          <p:nvPr/>
        </p:nvSpPr>
        <p:spPr>
          <a:xfrm>
            <a:off x="196770" y="1802447"/>
            <a:ext cx="12173673" cy="452431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4800" b="1" i="0" u="none" strike="noStrike" cap="none" normalizeH="0" baseline="0" dirty="0">
                <a:ln>
                  <a:noFill/>
                </a:ln>
                <a:solidFill>
                  <a:schemeClr val="tx1"/>
                </a:solidFill>
                <a:effectLst/>
                <a:latin typeface="Arial" panose="020B0604020202020204" pitchFamily="34" charset="0"/>
              </a:rPr>
              <a:t>Error</a:t>
            </a:r>
            <a:r>
              <a:rPr kumimoji="0" lang="zh-CN" altLang="zh-CN" sz="4800" b="0" i="0" u="none" strike="noStrike" cap="none" normalizeH="0" baseline="0" dirty="0">
                <a:ln>
                  <a:noFill/>
                </a:ln>
                <a:solidFill>
                  <a:schemeClr val="tx1"/>
                </a:solidFill>
                <a:effectLst/>
                <a:latin typeface="Arial" panose="020B0604020202020204" pitchFamily="34" charset="0"/>
              </a:rPr>
              <a:t>: </a:t>
            </a:r>
            <a:r>
              <a:rPr kumimoji="0" lang="zh-CN" altLang="zh-CN" sz="4800" b="0" i="0" u="none" strike="noStrike" cap="none" normalizeH="0" baseline="0" dirty="0">
                <a:ln>
                  <a:noFill/>
                </a:ln>
                <a:solidFill>
                  <a:schemeClr val="tx1"/>
                </a:solidFill>
                <a:effectLst/>
                <a:latin typeface="Arial Unicode MS"/>
              </a:rPr>
              <a:t>sort()</a:t>
            </a:r>
            <a:r>
              <a:rPr kumimoji="0" lang="zh-CN" altLang="zh-CN" sz="4800" b="0" i="0" u="none" strike="noStrike" cap="none" normalizeH="0" baseline="0" dirty="0">
                <a:ln>
                  <a:noFill/>
                </a:ln>
                <a:solidFill>
                  <a:schemeClr val="tx1"/>
                </a:solidFill>
                <a:effectLst/>
              </a:rPr>
              <a:t> sorts in place and returns </a:t>
            </a:r>
            <a:r>
              <a:rPr kumimoji="0" lang="zh-CN" altLang="zh-CN" sz="4800" b="0" i="0" u="none" strike="noStrike" cap="none" normalizeH="0" baseline="0" dirty="0">
                <a:ln>
                  <a:noFill/>
                </a:ln>
                <a:solidFill>
                  <a:schemeClr val="tx1"/>
                </a:solidFill>
                <a:effectLst/>
                <a:latin typeface="Arial Unicode MS"/>
              </a:rPr>
              <a:t>None</a:t>
            </a:r>
            <a:r>
              <a:rPr kumimoji="0" lang="zh-CN" altLang="zh-CN" sz="4800" b="0" i="0" u="none" strike="noStrike" cap="none" normalizeH="0" baseline="0" dirty="0">
                <a:ln>
                  <a:noFill/>
                </a:ln>
                <a:solidFill>
                  <a:schemeClr val="tx1"/>
                </a:solidFill>
                <a:effectLst/>
              </a:rPr>
              <a:t>.</a:t>
            </a:r>
            <a:endParaRPr kumimoji="0" lang="zh-CN" altLang="zh-CN"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4800" b="1" i="0" u="none" strike="noStrike" cap="none" normalizeH="0" baseline="0" dirty="0">
                <a:ln>
                  <a:noFill/>
                </a:ln>
                <a:solidFill>
                  <a:schemeClr val="tx1"/>
                </a:solidFill>
                <a:effectLst/>
                <a:latin typeface="Arial" panose="020B0604020202020204" pitchFamily="34" charset="0"/>
              </a:rPr>
              <a:t>Correction</a:t>
            </a:r>
            <a:r>
              <a:rPr kumimoji="0" lang="zh-CN" altLang="zh-CN" sz="4800" b="0" i="0" u="none" strike="noStrike" cap="none" normalizeH="0" baseline="0" dirty="0">
                <a:ln>
                  <a:noFill/>
                </a:ln>
                <a:solidFill>
                  <a:schemeClr val="tx1"/>
                </a:solidFill>
                <a:effectLst/>
                <a:latin typeface="Arial" panose="020B0604020202020204" pitchFamily="34" charset="0"/>
              </a:rPr>
              <a:t>: </a:t>
            </a:r>
            <a:r>
              <a:rPr kumimoji="0" lang="zh-CN" altLang="zh-CN" sz="4800" b="0" i="0" u="none" strike="noStrike" cap="none" normalizeH="0" baseline="0" dirty="0">
                <a:ln>
                  <a:noFill/>
                </a:ln>
                <a:solidFill>
                  <a:schemeClr val="tx1"/>
                </a:solidFill>
                <a:effectLst/>
                <a:latin typeface="Arial Unicode MS"/>
              </a:rPr>
              <a:t>lst = ["air", "fire", "earth", "water"]; lst.sort(); print(lst[2])</a:t>
            </a:r>
            <a:r>
              <a:rPr kumimoji="0" lang="zh-CN" altLang="zh-CN" sz="4800" b="0" i="0" u="none" strike="noStrike" cap="none" normalizeH="0" baseline="0" dirty="0">
                <a:ln>
                  <a:noFill/>
                </a:ln>
                <a:solidFill>
                  <a:schemeClr val="tx1"/>
                </a:solidFill>
                <a:effectLst/>
              </a:rPr>
              <a:t>.</a:t>
            </a:r>
            <a:endParaRPr kumimoji="0" lang="en-US" altLang="zh-CN" sz="4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zh-CN" sz="4800" dirty="0">
                <a:latin typeface="Arial" panose="020B0604020202020204" pitchFamily="34" charset="0"/>
              </a:rPr>
              <a:t>22</a:t>
            </a:r>
            <a:endParaRPr kumimoji="0" lang="zh-CN" altLang="zh-CN"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4800" b="1" i="0" u="none" strike="noStrike" cap="none" normalizeH="0" baseline="0" dirty="0">
                <a:ln>
                  <a:noFill/>
                </a:ln>
                <a:solidFill>
                  <a:schemeClr val="tx1"/>
                </a:solidFill>
                <a:effectLst/>
                <a:latin typeface="Arial" panose="020B0604020202020204" pitchFamily="34" charset="0"/>
              </a:rPr>
              <a:t>Error</a:t>
            </a:r>
            <a:r>
              <a:rPr kumimoji="0" lang="zh-CN" altLang="zh-CN" sz="4800" b="0" i="0" u="none" strike="noStrike" cap="none" normalizeH="0" baseline="0" dirty="0">
                <a:ln>
                  <a:noFill/>
                </a:ln>
                <a:solidFill>
                  <a:schemeClr val="tx1"/>
                </a:solidFill>
                <a:effectLst/>
                <a:latin typeface="Arial" panose="020B0604020202020204" pitchFamily="34" charset="0"/>
              </a:rPr>
              <a:t>: </a:t>
            </a:r>
            <a:r>
              <a:rPr kumimoji="0" lang="zh-CN" altLang="zh-CN" sz="4800" b="0" i="0" u="none" strike="noStrike" cap="none" normalizeH="0" baseline="0" dirty="0">
                <a:ln>
                  <a:noFill/>
                </a:ln>
                <a:solidFill>
                  <a:schemeClr val="tx1"/>
                </a:solidFill>
                <a:effectLst/>
                <a:latin typeface="Arial Unicode MS"/>
              </a:rPr>
              <a:t>find()</a:t>
            </a:r>
            <a:r>
              <a:rPr kumimoji="0" lang="zh-CN" altLang="zh-CN" sz="4800" b="0" i="0" u="none" strike="noStrike" cap="none" normalizeH="0" baseline="0" dirty="0">
                <a:ln>
                  <a:noFill/>
                </a:ln>
                <a:solidFill>
                  <a:schemeClr val="tx1"/>
                </a:solidFill>
                <a:effectLst/>
              </a:rPr>
              <a:t> argument should be a string.</a:t>
            </a:r>
            <a:endParaRPr kumimoji="0" lang="zh-CN" altLang="zh-CN"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4800" b="1" i="0" u="none" strike="noStrike" cap="none" normalizeH="0" baseline="0" dirty="0">
                <a:ln>
                  <a:noFill/>
                </a:ln>
                <a:solidFill>
                  <a:schemeClr val="tx1"/>
                </a:solidFill>
                <a:effectLst/>
                <a:latin typeface="Arial" panose="020B0604020202020204" pitchFamily="34" charset="0"/>
              </a:rPr>
              <a:t>Correction</a:t>
            </a:r>
            <a:r>
              <a:rPr kumimoji="0" lang="zh-CN" altLang="zh-CN" sz="4800" b="0" i="0" u="none" strike="noStrike" cap="none" normalizeH="0" baseline="0" dirty="0">
                <a:ln>
                  <a:noFill/>
                </a:ln>
                <a:solidFill>
                  <a:schemeClr val="tx1"/>
                </a:solidFill>
                <a:effectLst/>
                <a:latin typeface="Arial" panose="020B0604020202020204" pitchFamily="34" charset="0"/>
              </a:rPr>
              <a:t>: </a:t>
            </a:r>
            <a:r>
              <a:rPr kumimoji="0" lang="zh-CN" altLang="zh-CN" sz="4800" b="0" i="0" u="none" strike="noStrike" cap="none" normalizeH="0" baseline="0" dirty="0">
                <a:ln>
                  <a:noFill/>
                </a:ln>
                <a:solidFill>
                  <a:schemeClr val="tx1"/>
                </a:solidFill>
                <a:effectLst/>
                <a:latin typeface="Arial Unicode MS"/>
              </a:rPr>
              <a:t>"1, 2, 3".find('1')</a:t>
            </a:r>
            <a:r>
              <a:rPr kumimoji="0" lang="zh-CN" altLang="zh-CN" sz="4800" b="0" i="0" u="none" strike="noStrike" cap="none" normalizeH="0" baseline="0" dirty="0">
                <a:ln>
                  <a:noFill/>
                </a:ln>
                <a:solidFill>
                  <a:schemeClr val="tx1"/>
                </a:solidFill>
                <a:effectLst/>
              </a:rPr>
              <a:t>.</a:t>
            </a:r>
            <a:endParaRPr kumimoji="0" lang="zh-CN" altLang="zh-CN" sz="4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14390" cy="458541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34"/>
          <p:cNvSpPr>
            <a:spLocks noGrp="1" noRot="1" noChangeAspect="1" noMove="1" noResize="1" noEditPoints="1" noAdjustHandles="1" noChangeArrowheads="1" noChangeShapeType="1" noTextEdit="1"/>
          </p:cNvSpPr>
          <p:nvPr/>
        </p:nvSpPr>
        <p:spPr>
          <a:xfrm>
            <a:off x="6050280" y="0"/>
            <a:ext cx="9144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p:cNvSpPr>
            <a:spLocks noGrp="1" noRot="1" noChangeAspect="1" noMove="1" noResize="1" noEditPoints="1" noAdjustHandles="1" noChangeArrowheads="1" noChangeShapeType="1" noTextEdit="1"/>
          </p:cNvSpPr>
          <p:nvPr/>
        </p:nvSpPr>
        <p:spPr>
          <a:xfrm>
            <a:off x="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0" y="1056527"/>
            <a:ext cx="6050280" cy="4086592"/>
          </a:xfrm>
          <a:prstGeom prst="rect">
            <a:avLst/>
          </a:prstGeom>
          <a:noFill/>
        </p:spPr>
      </p:pic>
      <p:grpSp>
        <p:nvGrpSpPr>
          <p:cNvPr id="5" name="Group 4"/>
          <p:cNvGrpSpPr/>
          <p:nvPr/>
        </p:nvGrpSpPr>
        <p:grpSpPr>
          <a:xfrm>
            <a:off x="6141720" y="1056527"/>
            <a:ext cx="6243505" cy="4068609"/>
            <a:chOff x="-9114" y="387644"/>
            <a:chExt cx="6243505" cy="4068609"/>
          </a:xfrm>
        </p:grpSpPr>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0" y="387644"/>
              <a:ext cx="6234391" cy="2814644"/>
            </a:xfrm>
            <a:prstGeom prst="rect">
              <a:avLst/>
            </a:prstGeom>
            <a:noFill/>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auto">
            <a:xfrm>
              <a:off x="-9114" y="3227163"/>
              <a:ext cx="6110991" cy="1229090"/>
            </a:xfrm>
            <a:prstGeom prst="rect">
              <a:avLst/>
            </a:prstGeom>
            <a:noFill/>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dirty="0"/>
              <a:t>Try and Except</a:t>
            </a:r>
            <a:endParaRPr lang="zh-CN" altLang="en-US" b="1" dirty="0"/>
          </a:p>
        </p:txBody>
      </p:sp>
      <p:sp>
        <p:nvSpPr>
          <p:cNvPr id="3" name="Content Placeholder 2"/>
          <p:cNvSpPr>
            <a:spLocks noGrp="1"/>
          </p:cNvSpPr>
          <p:nvPr>
            <p:ph idx="1"/>
          </p:nvPr>
        </p:nvSpPr>
        <p:spPr/>
        <p:txBody>
          <a:bodyPr/>
          <a:lstStyle/>
          <a:p>
            <a:r>
              <a:rPr lang="en-US" altLang="zh-CN" dirty="0"/>
              <a:t>In Python, try and except are used for exception handling. They help you catch and handle errors that occur during code execution, preventing the program from crashing due to an error.</a:t>
            </a:r>
          </a:p>
          <a:p>
            <a:endParaRPr lang="en-US" altLang="zh-CN" dirty="0"/>
          </a:p>
          <a:p>
            <a:pPr marL="0" indent="0">
              <a:buNone/>
            </a:pPr>
            <a:r>
              <a:rPr lang="en-AU" altLang="zh-CN" b="1" dirty="0"/>
              <a:t>Basic Syntax</a:t>
            </a:r>
          </a:p>
          <a:p>
            <a:pPr marL="0" indent="0">
              <a:buNone/>
            </a:pPr>
            <a:r>
              <a:rPr lang="en-US" altLang="zh-CN" dirty="0">
                <a:solidFill>
                  <a:srgbClr val="FF0000"/>
                </a:solidFill>
              </a:rPr>
              <a:t>try: </a:t>
            </a:r>
          </a:p>
          <a:p>
            <a:pPr marL="0" indent="0">
              <a:buNone/>
            </a:pPr>
            <a:r>
              <a:rPr lang="en-US" altLang="zh-CN" dirty="0"/>
              <a:t># Code that might raise an exception </a:t>
            </a:r>
          </a:p>
          <a:p>
            <a:pPr marL="0" indent="0">
              <a:buNone/>
            </a:pPr>
            <a:r>
              <a:rPr lang="en-US" altLang="zh-CN" dirty="0">
                <a:solidFill>
                  <a:srgbClr val="FF0000"/>
                </a:solidFill>
              </a:rPr>
              <a:t>except </a:t>
            </a:r>
            <a:r>
              <a:rPr lang="en-US" altLang="zh-CN" dirty="0" err="1">
                <a:solidFill>
                  <a:srgbClr val="FF0000"/>
                </a:solidFill>
              </a:rPr>
              <a:t>SomeException</a:t>
            </a:r>
            <a:r>
              <a:rPr lang="en-US" altLang="zh-CN" dirty="0">
                <a:solidFill>
                  <a:srgbClr val="FF0000"/>
                </a:solidFill>
              </a:rPr>
              <a:t>: </a:t>
            </a:r>
          </a:p>
          <a:p>
            <a:pPr marL="0" indent="0">
              <a:buNone/>
            </a:pPr>
            <a:r>
              <a:rPr lang="en-US" altLang="zh-CN" dirty="0"/>
              <a:t># Code to handle the exception</a:t>
            </a:r>
          </a:p>
          <a:p>
            <a:pPr marL="0" indent="0">
              <a:buNone/>
            </a:pPr>
            <a:endParaRPr lang="zh-CN" altLang="en-US"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ltLang="zh-CN" b="1" dirty="0"/>
              <a:t>Common Python Exceptions</a:t>
            </a:r>
            <a:endParaRPr lang="zh-CN" altLang="en-US" b="1" dirty="0"/>
          </a:p>
        </p:txBody>
      </p:sp>
      <p:sp>
        <p:nvSpPr>
          <p:cNvPr id="4" name="Rectangle 1"/>
          <p:cNvSpPr>
            <a:spLocks noGrp="1" noChangeArrowheads="1"/>
          </p:cNvSpPr>
          <p:nvPr>
            <p:ph idx="1"/>
          </p:nvPr>
        </p:nvSpPr>
        <p:spPr bwMode="auto">
          <a:xfrm>
            <a:off x="838200" y="1369805"/>
            <a:ext cx="10979552"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b="1" i="0" u="none" strike="noStrike" cap="none" normalizeH="0" baseline="0" dirty="0">
                <a:ln>
                  <a:noFill/>
                </a:ln>
                <a:solidFill>
                  <a:schemeClr val="tx1"/>
                </a:solidFill>
                <a:effectLst/>
                <a:latin typeface="Arial" panose="020B0604020202020204" pitchFamily="34" charset="0"/>
              </a:rPr>
              <a:t>ValueError</a:t>
            </a:r>
            <a:r>
              <a:rPr kumimoji="0" lang="zh-CN" altLang="zh-CN" b="0" i="0" u="none" strike="noStrike" cap="none" normalizeH="0" baseline="0" dirty="0">
                <a:ln>
                  <a:noFill/>
                </a:ln>
                <a:solidFill>
                  <a:schemeClr val="tx1"/>
                </a:solidFill>
                <a:effectLst/>
                <a:latin typeface="Arial" panose="020B0604020202020204" pitchFamily="34" charset="0"/>
              </a:rPr>
              <a:t>: Raised when a function receives an argument of the right type but an inappropriate value (e.g., converting a non-integer string to an integer).</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b="1" i="0" u="none" strike="noStrike" cap="none" normalizeH="0" baseline="0" dirty="0">
                <a:ln>
                  <a:noFill/>
                </a:ln>
                <a:solidFill>
                  <a:schemeClr val="tx1"/>
                </a:solidFill>
                <a:effectLst/>
                <a:latin typeface="Arial" panose="020B0604020202020204" pitchFamily="34" charset="0"/>
              </a:rPr>
              <a:t>TypeError</a:t>
            </a:r>
            <a:r>
              <a:rPr kumimoji="0" lang="zh-CN" altLang="zh-CN" b="0" i="0" u="none" strike="noStrike" cap="none" normalizeH="0" baseline="0" dirty="0">
                <a:ln>
                  <a:noFill/>
                </a:ln>
                <a:solidFill>
                  <a:schemeClr val="tx1"/>
                </a:solidFill>
                <a:effectLst/>
                <a:latin typeface="Arial" panose="020B0604020202020204" pitchFamily="34" charset="0"/>
              </a:rPr>
              <a:t>: Raised when an operation or function is applied to an object of an inappropriate type (e.g., adding a string and an integer).</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b="1" i="0" u="none" strike="noStrike" cap="none" normalizeH="0" baseline="0" dirty="0">
                <a:ln>
                  <a:noFill/>
                </a:ln>
                <a:solidFill>
                  <a:schemeClr val="tx1"/>
                </a:solidFill>
                <a:effectLst/>
                <a:latin typeface="Arial" panose="020B0604020202020204" pitchFamily="34" charset="0"/>
              </a:rPr>
              <a:t>ZeroDivisionError</a:t>
            </a:r>
            <a:r>
              <a:rPr kumimoji="0" lang="zh-CN" altLang="zh-CN" b="0" i="0" u="none" strike="noStrike" cap="none" normalizeH="0" baseline="0" dirty="0">
                <a:ln>
                  <a:noFill/>
                </a:ln>
                <a:solidFill>
                  <a:schemeClr val="tx1"/>
                </a:solidFill>
                <a:effectLst/>
                <a:latin typeface="Arial" panose="020B0604020202020204" pitchFamily="34" charset="0"/>
              </a:rPr>
              <a:t>: Raised when attempting to divide by zero.</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b="1" i="0" u="none" strike="noStrike" cap="none" normalizeH="0" baseline="0" dirty="0">
                <a:ln>
                  <a:noFill/>
                </a:ln>
                <a:solidFill>
                  <a:schemeClr val="tx1"/>
                </a:solidFill>
                <a:effectLst/>
                <a:latin typeface="Arial" panose="020B0604020202020204" pitchFamily="34" charset="0"/>
              </a:rPr>
              <a:t>IndexError</a:t>
            </a:r>
            <a:r>
              <a:rPr kumimoji="0" lang="zh-CN" altLang="zh-CN" b="0" i="0" u="none" strike="noStrike" cap="none" normalizeH="0" baseline="0" dirty="0">
                <a:ln>
                  <a:noFill/>
                </a:ln>
                <a:solidFill>
                  <a:schemeClr val="tx1"/>
                </a:solidFill>
                <a:effectLst/>
                <a:latin typeface="Arial" panose="020B0604020202020204" pitchFamily="34" charset="0"/>
              </a:rPr>
              <a:t>: Raised when trying to access an index that is out of the range of a list or other indexed collection.</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b="1" i="0" u="none" strike="noStrike" cap="none" normalizeH="0" baseline="0" dirty="0">
                <a:ln>
                  <a:noFill/>
                </a:ln>
                <a:solidFill>
                  <a:schemeClr val="tx1"/>
                </a:solidFill>
                <a:effectLst/>
                <a:latin typeface="Arial" panose="020B0604020202020204" pitchFamily="34" charset="0"/>
              </a:rPr>
              <a:t>KeyError</a:t>
            </a:r>
            <a:r>
              <a:rPr kumimoji="0" lang="zh-CN" altLang="zh-CN" b="0" i="0" u="none" strike="noStrike" cap="none" normalizeH="0" baseline="0" dirty="0">
                <a:ln>
                  <a:noFill/>
                </a:ln>
                <a:solidFill>
                  <a:schemeClr val="tx1"/>
                </a:solidFill>
                <a:effectLst/>
                <a:latin typeface="Arial" panose="020B0604020202020204" pitchFamily="34" charset="0"/>
              </a:rPr>
              <a:t>: Raised when trying to access a dictionary key that does not exist.</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b="1" i="0" u="none" strike="noStrike" cap="none" normalizeH="0" baseline="0" dirty="0">
                <a:ln>
                  <a:noFill/>
                </a:ln>
                <a:solidFill>
                  <a:schemeClr val="tx1"/>
                </a:solidFill>
                <a:effectLst/>
                <a:latin typeface="Arial" panose="020B0604020202020204" pitchFamily="34" charset="0"/>
              </a:rPr>
              <a:t>FileNotFoundError</a:t>
            </a:r>
            <a:r>
              <a:rPr kumimoji="0" lang="zh-CN" altLang="zh-CN" b="0" i="0" u="none" strike="noStrike" cap="none" normalizeH="0" baseline="0" dirty="0">
                <a:ln>
                  <a:noFill/>
                </a:ln>
                <a:solidFill>
                  <a:schemeClr val="tx1"/>
                </a:solidFill>
                <a:effectLst/>
                <a:latin typeface="Arial" panose="020B0604020202020204" pitchFamily="34" charset="0"/>
              </a:rPr>
              <a:t>: Raised when trying to open a file that does not exist.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ltLang="zh-CN" b="1" dirty="0"/>
              <a:t>Common Python Exceptions</a:t>
            </a:r>
            <a:endParaRPr lang="zh-CN" altLang="en-US" b="1" dirty="0"/>
          </a:p>
        </p:txBody>
      </p:sp>
      <p:sp>
        <p:nvSpPr>
          <p:cNvPr id="4" name="Rectangle 1"/>
          <p:cNvSpPr>
            <a:spLocks noGrp="1" noChangeArrowheads="1"/>
          </p:cNvSpPr>
          <p:nvPr>
            <p:ph idx="1"/>
          </p:nvPr>
        </p:nvSpPr>
        <p:spPr bwMode="auto">
          <a:xfrm>
            <a:off x="838200" y="1923803"/>
            <a:ext cx="10979552"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2400" b="1" i="0" u="none" strike="noStrike" cap="none" normalizeH="0" baseline="0" dirty="0">
                <a:ln>
                  <a:noFill/>
                </a:ln>
                <a:solidFill>
                  <a:schemeClr val="tx1"/>
                </a:solidFill>
                <a:effectLst/>
                <a:latin typeface="Arial" panose="020B0604020202020204" pitchFamily="34" charset="0"/>
              </a:rPr>
              <a:t>AttributeError</a:t>
            </a:r>
            <a:r>
              <a:rPr kumimoji="0" lang="zh-CN" altLang="zh-CN" sz="2400" b="0" i="0" u="none" strike="noStrike" cap="none" normalizeH="0" baseline="0" dirty="0">
                <a:ln>
                  <a:noFill/>
                </a:ln>
                <a:solidFill>
                  <a:schemeClr val="tx1"/>
                </a:solidFill>
                <a:effectLst/>
                <a:latin typeface="Arial" panose="020B0604020202020204" pitchFamily="34" charset="0"/>
              </a:rPr>
              <a:t>: Raised when an attribute reference or assignment fails (e.g., calling a non-existent method on an object).</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2400" b="1" i="0" u="none" strike="noStrike" cap="none" normalizeH="0" baseline="0" dirty="0">
                <a:ln>
                  <a:noFill/>
                </a:ln>
                <a:solidFill>
                  <a:schemeClr val="tx1"/>
                </a:solidFill>
                <a:effectLst/>
                <a:latin typeface="Arial" panose="020B0604020202020204" pitchFamily="34" charset="0"/>
              </a:rPr>
              <a:t>ImportError</a:t>
            </a:r>
            <a:r>
              <a:rPr kumimoji="0" lang="zh-CN" altLang="zh-CN" sz="2400" b="0" i="0" u="none" strike="noStrike" cap="none" normalizeH="0" baseline="0" dirty="0">
                <a:ln>
                  <a:noFill/>
                </a:ln>
                <a:solidFill>
                  <a:schemeClr val="tx1"/>
                </a:solidFill>
                <a:effectLst/>
                <a:latin typeface="Arial" panose="020B0604020202020204" pitchFamily="34" charset="0"/>
              </a:rPr>
              <a:t>: Raised when an import statement fails to import a module.</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2400" b="1" i="0" u="none" strike="noStrike" cap="none" normalizeH="0" baseline="0" dirty="0">
                <a:ln>
                  <a:noFill/>
                </a:ln>
                <a:solidFill>
                  <a:schemeClr val="tx1"/>
                </a:solidFill>
                <a:effectLst/>
                <a:latin typeface="Arial" panose="020B0604020202020204" pitchFamily="34" charset="0"/>
              </a:rPr>
              <a:t>StopIteration</a:t>
            </a:r>
            <a:r>
              <a:rPr kumimoji="0" lang="zh-CN" altLang="zh-CN" sz="2400" b="0" i="0" u="none" strike="noStrike" cap="none" normalizeH="0" baseline="0" dirty="0">
                <a:ln>
                  <a:noFill/>
                </a:ln>
                <a:solidFill>
                  <a:schemeClr val="tx1"/>
                </a:solidFill>
                <a:effectLst/>
                <a:latin typeface="Arial" panose="020B0604020202020204" pitchFamily="34" charset="0"/>
              </a:rPr>
              <a:t>: Raised to signal the end of an iterator’s items (e.g., using </a:t>
            </a:r>
            <a:r>
              <a:rPr kumimoji="0" lang="zh-CN" altLang="zh-CN" sz="2400" b="0" i="0" u="none" strike="noStrike" cap="none" normalizeH="0" baseline="0" dirty="0">
                <a:ln>
                  <a:noFill/>
                </a:ln>
                <a:solidFill>
                  <a:schemeClr val="tx1"/>
                </a:solidFill>
                <a:effectLst/>
                <a:latin typeface="Arial Unicode MS"/>
              </a:rPr>
              <a:t>next()</a:t>
            </a:r>
            <a:r>
              <a:rPr kumimoji="0" lang="zh-CN" altLang="zh-CN" sz="2400" b="0" i="0" u="none" strike="noStrike" cap="none" normalizeH="0" baseline="0" dirty="0">
                <a:ln>
                  <a:noFill/>
                </a:ln>
                <a:solidFill>
                  <a:schemeClr val="tx1"/>
                </a:solidFill>
                <a:effectLst/>
              </a:rPr>
              <a:t> on an exhausted iterator).</a:t>
            </a:r>
            <a:endParaRPr kumimoji="0" lang="zh-CN" altLang="zh-CN"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2400" b="1" i="0" u="none" strike="noStrike" cap="none" normalizeH="0" baseline="0" dirty="0">
                <a:ln>
                  <a:noFill/>
                </a:ln>
                <a:solidFill>
                  <a:schemeClr val="tx1"/>
                </a:solidFill>
                <a:effectLst/>
                <a:latin typeface="Arial" panose="020B0604020202020204" pitchFamily="34" charset="0"/>
              </a:rPr>
              <a:t>RuntimeError</a:t>
            </a:r>
            <a:r>
              <a:rPr kumimoji="0" lang="zh-CN" altLang="zh-CN" sz="2400" b="0" i="0" u="none" strike="noStrike" cap="none" normalizeH="0" baseline="0" dirty="0">
                <a:ln>
                  <a:noFill/>
                </a:ln>
                <a:solidFill>
                  <a:schemeClr val="tx1"/>
                </a:solidFill>
                <a:effectLst/>
                <a:latin typeface="Arial" panose="020B0604020202020204" pitchFamily="34" charset="0"/>
              </a:rPr>
              <a:t>: A generic error raised when an error doesn’t fall under any specific category (often used in libraries or custom error cases).</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2400" b="1" i="0" u="none" strike="noStrike" cap="none" normalizeH="0" baseline="0" dirty="0">
                <a:ln>
                  <a:noFill/>
                </a:ln>
                <a:solidFill>
                  <a:schemeClr val="tx1"/>
                </a:solidFill>
                <a:effectLst/>
                <a:latin typeface="Arial" panose="020B0604020202020204" pitchFamily="34" charset="0"/>
              </a:rPr>
              <a:t>NameError</a:t>
            </a:r>
            <a:r>
              <a:rPr kumimoji="0" lang="zh-CN" altLang="zh-CN" sz="2400" b="0" i="0" u="none" strike="noStrike" cap="none" normalizeH="0" baseline="0" dirty="0">
                <a:ln>
                  <a:noFill/>
                </a:ln>
                <a:solidFill>
                  <a:schemeClr val="tx1"/>
                </a:solidFill>
                <a:effectLst/>
                <a:latin typeface="Arial" panose="020B0604020202020204" pitchFamily="34" charset="0"/>
              </a:rPr>
              <a:t>: Raised when a local or global name is not found (e.g., accessing a variable that hasn’t been defined).</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2400" b="1" i="0" u="none" strike="noStrike" cap="none" normalizeH="0" baseline="0" dirty="0">
                <a:ln>
                  <a:noFill/>
                </a:ln>
                <a:solidFill>
                  <a:schemeClr val="tx1"/>
                </a:solidFill>
                <a:effectLst/>
                <a:latin typeface="Arial" panose="020B0604020202020204" pitchFamily="34" charset="0"/>
              </a:rPr>
              <a:t>IndentationError</a:t>
            </a:r>
            <a:r>
              <a:rPr kumimoji="0" lang="zh-CN" altLang="zh-CN" sz="2400" b="0" i="0" u="none" strike="noStrike" cap="none" normalizeH="0" baseline="0" dirty="0">
                <a:ln>
                  <a:noFill/>
                </a:ln>
                <a:solidFill>
                  <a:schemeClr val="tx1"/>
                </a:solidFill>
                <a:effectLst/>
                <a:latin typeface="Arial" panose="020B0604020202020204" pitchFamily="34" charset="0"/>
              </a:rPr>
              <a:t>: Raised when there is an error in indentation, such as mixing spaces and tabs (usually caught during code compilation).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26633" y="91150"/>
            <a:ext cx="10203841" cy="667569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91" name="Rectangle 16390"/>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393" name="Freeform: Shape 16392"/>
          <p:cNvSpPr>
            <a:spLocks noGrp="1" noRot="1" noChangeAspect="1" noMove="1" noResize="1" noEditPoints="1" noAdjustHandles="1" noChangeArrowheads="1" noChangeShapeType="1" noTextEdit="1"/>
          </p:cNvSpPr>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395" name="Rectangle 16394"/>
          <p:cNvSpPr>
            <a:spLocks noGrp="1" noRot="1" noChangeAspect="1" noMove="1" noResize="1" noEditPoints="1" noAdjustHandles="1" noChangeArrowheads="1" noChangeShapeType="1" noTextEdit="1"/>
          </p:cNvSpPr>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7" name="Rectangle 16396"/>
          <p:cNvSpPr>
            <a:spLocks noGrp="1" noRot="1" noChangeAspect="1" noMove="1" noResize="1" noEditPoints="1" noAdjustHandles="1" noChangeArrowheads="1" noChangeShapeType="1" noTextEdit="1"/>
          </p:cNvSpPr>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9" name="Freeform: Shape 16398"/>
          <p:cNvSpPr>
            <a:spLocks noGrp="1" noRot="1" noChangeAspect="1" noMove="1" noResize="1" noEditPoints="1" noAdjustHandles="1" noChangeArrowheads="1" noChangeShapeType="1" noTextEdit="1"/>
          </p:cNvSpPr>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401" name="Isosceles Triangle 16400"/>
          <p:cNvSpPr>
            <a:spLocks noGrp="1" noRot="1" noChangeAspect="1" noMove="1" noResize="1" noEditPoints="1" noAdjustHandles="1" noChangeArrowheads="1" noChangeShapeType="1" noTextEdit="1"/>
          </p:cNvSpPr>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386" name="Picture 2" descr="Text&#10;&#10;Description automatically generated"/>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2642" y="749383"/>
            <a:ext cx="11991328" cy="5366118"/>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6403" name="Isosceles Triangle 16402"/>
          <p:cNvSpPr>
            <a:spLocks noGrp="1" noRot="1" noChangeAspect="1" noMove="1" noResize="1" noEditPoints="1" noAdjustHandles="1" noChangeArrowheads="1" noChangeShapeType="1" noTextEdit="1"/>
          </p:cNvSpPr>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17944" y="775505"/>
            <a:ext cx="10556112" cy="5570756"/>
          </a:xfrm>
          <a:prstGeom prst="rect">
            <a:avLst/>
          </a:prstGeom>
          <a:noFill/>
        </p:spPr>
        <p:txBody>
          <a:bodyPr wrap="square">
            <a:spAutoFit/>
          </a:bodyPr>
          <a:lstStyle/>
          <a:p>
            <a:pPr algn="just" rtl="0" fontAlgn="base"/>
            <a:r>
              <a:rPr lang="en-US" altLang="zh-CN" sz="3200" b="1" i="0" dirty="0">
                <a:solidFill>
                  <a:srgbClr val="2F5496"/>
                </a:solidFill>
                <a:effectLst/>
                <a:latin typeface="Calibri" panose="020F0502020204030204" charset="0"/>
              </a:rPr>
              <a:t>Part 2 TEST</a:t>
            </a:r>
          </a:p>
          <a:p>
            <a:pPr algn="just" rtl="0" fontAlgn="base"/>
            <a:r>
              <a:rPr lang="en-US" altLang="zh-CN" sz="3200" b="1" i="0" dirty="0">
                <a:solidFill>
                  <a:srgbClr val="2F5496"/>
                </a:solidFill>
                <a:effectLst/>
                <a:latin typeface="Calibri" panose="020F0502020204030204" charset="0"/>
              </a:rPr>
              <a:t>Give each test a unique description</a:t>
            </a:r>
            <a:r>
              <a:rPr lang="en-US" altLang="zh-CN" sz="3200" b="0" i="0" dirty="0">
                <a:solidFill>
                  <a:srgbClr val="000000"/>
                </a:solidFill>
                <a:effectLst/>
                <a:latin typeface="Calibri" panose="020F0502020204030204" charset="0"/>
              </a:rPr>
              <a:t>. No two tests should have the same description and </a:t>
            </a:r>
            <a:r>
              <a:rPr lang="en-US" altLang="zh-CN" sz="3200" b="1" i="0" dirty="0">
                <a:solidFill>
                  <a:srgbClr val="2F5496"/>
                </a:solidFill>
                <a:effectLst/>
                <a:latin typeface="Calibri" panose="020F0502020204030204" charset="0"/>
              </a:rPr>
              <a:t>avoid numbers in your descriptions</a:t>
            </a:r>
            <a:r>
              <a:rPr lang="en-US" altLang="zh-CN" sz="3200" b="0" i="0" dirty="0">
                <a:solidFill>
                  <a:srgbClr val="000000"/>
                </a:solidFill>
                <a:effectLst/>
                <a:latin typeface="Calibri" panose="020F0502020204030204" charset="0"/>
              </a:rPr>
              <a:t>. Note that the number of rows in the table below is no indication on how many tests you should have. You may need more, you may need fewer. You must first work out the equivalence partitions, then type of data the program works with (ordinal vs. non-ordinal), then the </a:t>
            </a:r>
            <a:r>
              <a:rPr lang="en-US" altLang="zh-CN" sz="3200" b="1" i="0" dirty="0">
                <a:solidFill>
                  <a:srgbClr val="FF0000"/>
                </a:solidFill>
                <a:effectLst/>
                <a:latin typeface="Calibri" panose="020F0502020204030204" charset="0"/>
              </a:rPr>
              <a:t>boundaries and special cases</a:t>
            </a:r>
            <a:r>
              <a:rPr lang="en-US" altLang="zh-CN" sz="3200" b="0" i="0" dirty="0">
                <a:solidFill>
                  <a:srgbClr val="000000"/>
                </a:solidFill>
                <a:effectLst/>
                <a:latin typeface="Calibri" panose="020F0502020204030204" charset="0"/>
              </a:rPr>
              <a:t>, before you start filling in the table with the actual tests.  </a:t>
            </a:r>
            <a:endParaRPr lang="en-US" altLang="zh-CN" sz="3200" b="0" i="0" dirty="0">
              <a:effectLst/>
            </a:endParaRPr>
          </a:p>
          <a:p>
            <a:br>
              <a:rPr lang="en-US" altLang="zh-CN" sz="1800" b="0" i="0" dirty="0">
                <a:solidFill>
                  <a:srgbClr val="000000"/>
                </a:solidFill>
                <a:effectLst/>
                <a:latin typeface="Calibri" panose="020F0502020204030204" charset="0"/>
              </a:rPr>
            </a:b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0" name="Rectangle 102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32" name="Freeform: Shape 1031"/>
          <p:cNvSpPr>
            <a:spLocks noGrp="1" noRot="1" noChangeAspect="1" noMove="1" noResize="1" noEditPoints="1" noAdjustHandles="1" noChangeArrowheads="1" noChangeShapeType="1" noTextEdit="1"/>
          </p:cNvSpPr>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34" name="Freeform: Shape 1033"/>
          <p:cNvSpPr>
            <a:spLocks noGrp="1" noRot="1" noChangeAspect="1" noMove="1" noResize="1" noEditPoints="1" noAdjustHandles="1" noChangeArrowheads="1" noChangeShapeType="1" noTextEdit="1"/>
          </p:cNvSpPr>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6" name="Rectangle 1035"/>
          <p:cNvSpPr>
            <a:spLocks noGrp="1" noRot="1" noChangeAspect="1" noMove="1" noResize="1" noEditPoints="1" noAdjustHandles="1" noChangeArrowheads="1" noChangeShapeType="1" noTextEdit="1"/>
          </p:cNvSpPr>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38" name="Rectangle 1037"/>
          <p:cNvSpPr>
            <a:spLocks noGrp="1" noRot="1" noChangeAspect="1" noMove="1" noResize="1" noEditPoints="1" noAdjustHandles="1" noChangeArrowheads="1" noChangeShapeType="1" noTextEdit="1"/>
          </p:cNvSpPr>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Rectangle 2"/>
          <p:cNvSpPr>
            <a:spLocks noChangeArrowheads="1"/>
          </p:cNvSpPr>
          <p:nvPr/>
        </p:nvSpPr>
        <p:spPr bwMode="auto">
          <a:xfrm>
            <a:off x="-9143" y="2718054"/>
            <a:ext cx="4455672" cy="320725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normAutofit/>
          </a:bodyPr>
          <a:lstStyle/>
          <a:p>
            <a:pPr marR="0" lvl="0" fontAlgn="base">
              <a:lnSpc>
                <a:spcPct val="90000"/>
              </a:lnSpc>
              <a:spcBef>
                <a:spcPct val="0"/>
              </a:spcBef>
              <a:spcAft>
                <a:spcPts val="600"/>
              </a:spcAft>
              <a:buClrTx/>
              <a:buSzTx/>
            </a:pPr>
            <a:r>
              <a:rPr kumimoji="0" lang="en-US" altLang="zh-CN" sz="2400" b="1" i="0" u="none" strike="noStrike" cap="none" normalizeH="0" baseline="0" dirty="0">
                <a:ln>
                  <a:noFill/>
                </a:ln>
                <a:effectLst/>
              </a:rPr>
              <a:t>Movie tickets cost $5 for a child (&lt;10 years of age), $10 for a teenager (10yr ≤ age &lt; 20yr) and $12 for an adult (≥ 20yr). </a:t>
            </a:r>
          </a:p>
          <a:p>
            <a:pPr marL="0" marR="0" lvl="0" indent="-228600" fontAlgn="base">
              <a:lnSpc>
                <a:spcPct val="90000"/>
              </a:lnSpc>
              <a:spcBef>
                <a:spcPct val="0"/>
              </a:spcBef>
              <a:spcAft>
                <a:spcPts val="600"/>
              </a:spcAft>
              <a:buClrTx/>
              <a:buSzTx/>
              <a:buFont typeface="Arial" panose="020B0604020202020204" pitchFamily="34" charset="0"/>
              <a:buChar char="•"/>
            </a:pPr>
            <a:endParaRPr kumimoji="0" lang="en-US" altLang="zh-CN" sz="1700" b="0" i="0" u="none" strike="noStrike" cap="none" normalizeH="0" baseline="0" dirty="0">
              <a:ln>
                <a:noFill/>
              </a:ln>
              <a:effectLst/>
            </a:endParaRPr>
          </a:p>
        </p:txBody>
      </p:sp>
      <p:pic>
        <p:nvPicPr>
          <p:cNvPr id="1025"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901184" y="1545679"/>
            <a:ext cx="6922008" cy="38672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Table&#10;&#10;Description automatically generat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22572"/>
            <a:ext cx="11620500" cy="35528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461303" y="2031886"/>
            <a:ext cx="10348073" cy="1569660"/>
          </a:xfrm>
          <a:prstGeom prst="rect">
            <a:avLst/>
          </a:prstGeom>
          <a:noFill/>
        </p:spPr>
        <p:txBody>
          <a:bodyPr wrap="square">
            <a:spAutoFit/>
          </a:bodyPr>
          <a:lstStyle/>
          <a:p>
            <a:r>
              <a:rPr lang="en-AU" altLang="zh-CN" sz="4800" b="1" i="0" dirty="0">
                <a:solidFill>
                  <a:srgbClr val="000000"/>
                </a:solidFill>
                <a:effectLst/>
                <a:latin typeface="LiberationMono"/>
              </a:rPr>
              <a:t>-------------10  ----------</a:t>
            </a:r>
            <a:r>
              <a:rPr lang="en-AU" altLang="zh-CN" sz="4800" i="0" dirty="0">
                <a:solidFill>
                  <a:srgbClr val="000000"/>
                </a:solidFill>
                <a:effectLst/>
                <a:latin typeface="LiberationMono"/>
              </a:rPr>
              <a:t>20</a:t>
            </a:r>
            <a:r>
              <a:rPr lang="en-AU" altLang="zh-CN" sz="2800" i="0" dirty="0">
                <a:solidFill>
                  <a:srgbClr val="000000"/>
                </a:solidFill>
                <a:effectLst/>
                <a:latin typeface="LiberationMono"/>
              </a:rPr>
              <a:t>(NOT INCLUDED)</a:t>
            </a:r>
            <a:r>
              <a:rPr lang="en-AU" altLang="zh-CN" sz="4800" b="1" i="0" dirty="0">
                <a:solidFill>
                  <a:srgbClr val="000000"/>
                </a:solidFill>
                <a:effectLst/>
                <a:latin typeface="LiberationMono"/>
              </a:rPr>
              <a:t>-----------</a:t>
            </a:r>
            <a:r>
              <a:rPr lang="en-AU" altLang="zh-CN" sz="4800" b="0" i="0" dirty="0">
                <a:solidFill>
                  <a:srgbClr val="000000"/>
                </a:solidFill>
                <a:effectLst/>
                <a:latin typeface="LiberationMono"/>
              </a:rPr>
              <a:t> </a:t>
            </a:r>
            <a:endParaRPr lang="zh-CN" altLang="en-US" sz="4800" dirty="0"/>
          </a:p>
        </p:txBody>
      </p:sp>
      <p:cxnSp>
        <p:nvCxnSpPr>
          <p:cNvPr id="7" name="Straight Arrow Connector 6"/>
          <p:cNvCxnSpPr/>
          <p:nvPr/>
        </p:nvCxnSpPr>
        <p:spPr>
          <a:xfrm>
            <a:off x="2558005" y="1215342"/>
            <a:ext cx="0" cy="816544"/>
          </a:xfrm>
          <a:prstGeom prst="straightConnector1">
            <a:avLst/>
          </a:prstGeom>
          <a:ln>
            <a:solidFill>
              <a:schemeClr val="accent5">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a:off x="4305782" y="1215342"/>
            <a:ext cx="0" cy="816544"/>
          </a:xfrm>
          <a:prstGeom prst="straightConnector1">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a:off x="5898748" y="1215342"/>
            <a:ext cx="0" cy="816544"/>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a:off x="7037407" y="1134319"/>
            <a:ext cx="0" cy="89756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660413" y="717630"/>
            <a:ext cx="1290738" cy="369332"/>
          </a:xfrm>
          <a:prstGeom prst="rect">
            <a:avLst/>
          </a:prstGeom>
          <a:noFill/>
        </p:spPr>
        <p:txBody>
          <a:bodyPr wrap="none" rtlCol="0">
            <a:spAutoFit/>
          </a:bodyPr>
          <a:lstStyle/>
          <a:p>
            <a:r>
              <a:rPr lang="en-US" altLang="zh-CN" dirty="0"/>
              <a:t>Boundaries</a:t>
            </a:r>
            <a:endParaRPr lang="zh-CN" altLang="en-US" dirty="0"/>
          </a:p>
        </p:txBody>
      </p:sp>
      <p:sp>
        <p:nvSpPr>
          <p:cNvPr id="17" name="TextBox 16"/>
          <p:cNvSpPr txBox="1"/>
          <p:nvPr/>
        </p:nvSpPr>
        <p:spPr>
          <a:xfrm>
            <a:off x="6576349" y="717630"/>
            <a:ext cx="1290738" cy="369332"/>
          </a:xfrm>
          <a:prstGeom prst="rect">
            <a:avLst/>
          </a:prstGeom>
          <a:noFill/>
        </p:spPr>
        <p:txBody>
          <a:bodyPr wrap="none" rtlCol="0">
            <a:spAutoFit/>
          </a:bodyPr>
          <a:lstStyle/>
          <a:p>
            <a:r>
              <a:rPr lang="en-US" altLang="zh-CN" dirty="0"/>
              <a:t>Boundaries</a:t>
            </a:r>
            <a:endParaRPr lang="zh-CN" altLang="en-US" dirty="0"/>
          </a:p>
        </p:txBody>
      </p:sp>
      <p:cxnSp>
        <p:nvCxnSpPr>
          <p:cNvPr id="2" name="Straight Arrow Connector 1">
            <a:extLst>
              <a:ext uri="{FF2B5EF4-FFF2-40B4-BE49-F238E27FC236}">
                <a16:creationId xmlns:a16="http://schemas.microsoft.com/office/drawing/2014/main" id="{983CB7E5-A0DA-06F0-A167-D5D80B9CF1A7}"/>
              </a:ext>
            </a:extLst>
          </p:cNvPr>
          <p:cNvCxnSpPr/>
          <p:nvPr/>
        </p:nvCxnSpPr>
        <p:spPr>
          <a:xfrm>
            <a:off x="8858957" y="1215342"/>
            <a:ext cx="0" cy="81654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0" name="Rectangle 102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32" name="Freeform: Shape 1031"/>
          <p:cNvSpPr>
            <a:spLocks noGrp="1" noRot="1" noChangeAspect="1" noMove="1" noResize="1" noEditPoints="1" noAdjustHandles="1" noChangeArrowheads="1" noChangeShapeType="1" noTextEdit="1"/>
          </p:cNvSpPr>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34" name="Freeform: Shape 1033"/>
          <p:cNvSpPr>
            <a:spLocks noGrp="1" noRot="1" noChangeAspect="1" noMove="1" noResize="1" noEditPoints="1" noAdjustHandles="1" noChangeArrowheads="1" noChangeShapeType="1" noTextEdit="1"/>
          </p:cNvSpPr>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6" name="Rectangle 1035"/>
          <p:cNvSpPr>
            <a:spLocks noGrp="1" noRot="1" noChangeAspect="1" noMove="1" noResize="1" noEditPoints="1" noAdjustHandles="1" noChangeArrowheads="1" noChangeShapeType="1" noTextEdit="1"/>
          </p:cNvSpPr>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38" name="Rectangle 1037"/>
          <p:cNvSpPr>
            <a:spLocks noGrp="1" noRot="1" noChangeAspect="1" noMove="1" noResize="1" noEditPoints="1" noAdjustHandles="1" noChangeArrowheads="1" noChangeShapeType="1" noTextEdit="1"/>
          </p:cNvSpPr>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Rectangle 2"/>
          <p:cNvSpPr>
            <a:spLocks noChangeArrowheads="1"/>
          </p:cNvSpPr>
          <p:nvPr/>
        </p:nvSpPr>
        <p:spPr bwMode="auto">
          <a:xfrm>
            <a:off x="-9143" y="2718054"/>
            <a:ext cx="4455672" cy="320725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normAutofit/>
          </a:bodyPr>
          <a:lstStyle/>
          <a:p>
            <a:pPr marR="0" lvl="0" fontAlgn="base">
              <a:lnSpc>
                <a:spcPct val="90000"/>
              </a:lnSpc>
              <a:spcBef>
                <a:spcPct val="0"/>
              </a:spcBef>
              <a:spcAft>
                <a:spcPts val="600"/>
              </a:spcAft>
              <a:buClrTx/>
              <a:buSzTx/>
            </a:pPr>
            <a:r>
              <a:rPr kumimoji="0" lang="en-US" altLang="zh-CN" sz="2400" b="1" i="0" u="none" strike="noStrike" cap="none" normalizeH="0" baseline="0" dirty="0">
                <a:ln>
                  <a:noFill/>
                </a:ln>
                <a:effectLst/>
              </a:rPr>
              <a:t>A company has a recruiting policy of only interviewing applicants between 25 and 40 inclusive. However, they will interview applicants up to the age of 45 if they have at least 10 years’ experience. </a:t>
            </a:r>
          </a:p>
          <a:p>
            <a:pPr marR="0" lvl="0" fontAlgn="base">
              <a:lnSpc>
                <a:spcPct val="90000"/>
              </a:lnSpc>
              <a:spcBef>
                <a:spcPct val="0"/>
              </a:spcBef>
              <a:spcAft>
                <a:spcPts val="600"/>
              </a:spcAft>
              <a:buClrTx/>
              <a:buSzTx/>
            </a:pPr>
            <a:endParaRPr kumimoji="0" lang="en-US" altLang="zh-CN" sz="1700" b="0" i="0" u="none" strike="noStrike" cap="none" normalizeH="0" baseline="0" dirty="0">
              <a:ln>
                <a:noFill/>
              </a:ln>
              <a:effectLst/>
            </a:endParaRPr>
          </a:p>
        </p:txBody>
      </p:sp>
      <p:pic>
        <p:nvPicPr>
          <p:cNvPr id="4" name="Picture 3">
            <a:extLst>
              <a:ext uri="{FF2B5EF4-FFF2-40B4-BE49-F238E27FC236}">
                <a16:creationId xmlns:a16="http://schemas.microsoft.com/office/drawing/2014/main" id="{3A615B98-A296-B5F9-D9C9-7892DC743A11}"/>
              </a:ext>
            </a:extLst>
          </p:cNvPr>
          <p:cNvPicPr>
            <a:picLocks noChangeAspect="1"/>
          </p:cNvPicPr>
          <p:nvPr/>
        </p:nvPicPr>
        <p:blipFill>
          <a:blip r:embed="rId3"/>
          <a:stretch>
            <a:fillRect/>
          </a:stretch>
        </p:blipFill>
        <p:spPr>
          <a:xfrm>
            <a:off x="4446529" y="1411306"/>
            <a:ext cx="7643138" cy="412889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3" name="Picture 12">
            <a:extLst>
              <a:ext uri="{FF2B5EF4-FFF2-40B4-BE49-F238E27FC236}">
                <a16:creationId xmlns:a16="http://schemas.microsoft.com/office/drawing/2014/main" id="{1E87C3CE-4318-2883-EC0A-DDA2389B9918}"/>
              </a:ext>
            </a:extLst>
          </p:cNvPr>
          <p:cNvPicPr>
            <a:picLocks noChangeAspect="1"/>
          </p:cNvPicPr>
          <p:nvPr/>
        </p:nvPicPr>
        <p:blipFill>
          <a:blip r:embed="rId2"/>
          <a:srcRect r="3094" b="1"/>
          <a:stretch/>
        </p:blipFill>
        <p:spPr>
          <a:xfrm>
            <a:off x="20" y="1282"/>
            <a:ext cx="12191980" cy="6856718"/>
          </a:xfrm>
          <a:prstGeom prst="rect">
            <a:avLst/>
          </a:prstGeom>
        </p:spPr>
      </p:pic>
    </p:spTree>
    <p:extLst>
      <p:ext uri="{BB962C8B-B14F-4D97-AF65-F5344CB8AC3E}">
        <p14:creationId xmlns:p14="http://schemas.microsoft.com/office/powerpoint/2010/main" val="31832253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Table&#10;&#10;Description automatically generat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613" y="157163"/>
            <a:ext cx="11534775" cy="6543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0" name="Rectangle 102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32" name="Freeform: Shape 1031"/>
          <p:cNvSpPr>
            <a:spLocks noGrp="1" noRot="1" noChangeAspect="1" noMove="1" noResize="1" noEditPoints="1" noAdjustHandles="1" noChangeArrowheads="1" noChangeShapeType="1" noTextEdit="1"/>
          </p:cNvSpPr>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34" name="Freeform: Shape 1033"/>
          <p:cNvSpPr>
            <a:spLocks noGrp="1" noRot="1" noChangeAspect="1" noMove="1" noResize="1" noEditPoints="1" noAdjustHandles="1" noChangeArrowheads="1" noChangeShapeType="1" noTextEdit="1"/>
          </p:cNvSpPr>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6" name="Rectangle 1035"/>
          <p:cNvSpPr>
            <a:spLocks noGrp="1" noRot="1" noChangeAspect="1" noMove="1" noResize="1" noEditPoints="1" noAdjustHandles="1" noChangeArrowheads="1" noChangeShapeType="1" noTextEdit="1"/>
          </p:cNvSpPr>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38" name="Rectangle 1037"/>
          <p:cNvSpPr>
            <a:spLocks noGrp="1" noRot="1" noChangeAspect="1" noMove="1" noResize="1" noEditPoints="1" noAdjustHandles="1" noChangeArrowheads="1" noChangeShapeType="1" noTextEdit="1"/>
          </p:cNvSpPr>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Rectangle 2"/>
          <p:cNvSpPr>
            <a:spLocks noChangeArrowheads="1"/>
          </p:cNvSpPr>
          <p:nvPr/>
        </p:nvSpPr>
        <p:spPr bwMode="auto">
          <a:xfrm>
            <a:off x="-9143" y="2718054"/>
            <a:ext cx="4455672" cy="320725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normAutofit/>
          </a:bodyPr>
          <a:lstStyle/>
          <a:p>
            <a:pPr marR="0" lvl="0" fontAlgn="base">
              <a:lnSpc>
                <a:spcPct val="90000"/>
              </a:lnSpc>
              <a:spcBef>
                <a:spcPct val="0"/>
              </a:spcBef>
              <a:spcAft>
                <a:spcPts val="600"/>
              </a:spcAft>
              <a:buClrTx/>
              <a:buSzTx/>
            </a:pPr>
            <a:r>
              <a:rPr lang="en-US" altLang="zh-CN" sz="2400" b="0" i="0" dirty="0">
                <a:solidFill>
                  <a:srgbClr val="000000"/>
                </a:solidFill>
                <a:effectLst/>
                <a:latin typeface="Calibri" panose="020F0502020204030204" charset="0"/>
              </a:rPr>
              <a:t>To be elected, a candidate must get over half of the votes cast. An election has 3 candidates, A, B, and C. If no candidate gets over half of the votes, the result is “-”. The input here is the actual number of votes, not percentages.</a:t>
            </a:r>
            <a:endParaRPr kumimoji="0" lang="en-US" altLang="zh-CN" sz="1700" b="0" i="0" u="none" strike="noStrike" cap="none" normalizeH="0" baseline="0" dirty="0">
              <a:ln>
                <a:noFill/>
              </a:ln>
              <a:effectLst/>
            </a:endParaRPr>
          </a:p>
        </p:txBody>
      </p:sp>
      <p:pic>
        <p:nvPicPr>
          <p:cNvPr id="4" name="Picture 3">
            <a:extLst>
              <a:ext uri="{FF2B5EF4-FFF2-40B4-BE49-F238E27FC236}">
                <a16:creationId xmlns:a16="http://schemas.microsoft.com/office/drawing/2014/main" id="{3C00BEDB-5C14-1AE7-3AE7-4A1A74389B2A}"/>
              </a:ext>
            </a:extLst>
          </p:cNvPr>
          <p:cNvPicPr>
            <a:picLocks noChangeAspect="1"/>
          </p:cNvPicPr>
          <p:nvPr/>
        </p:nvPicPr>
        <p:blipFill>
          <a:blip r:embed="rId2"/>
          <a:stretch>
            <a:fillRect/>
          </a:stretch>
        </p:blipFill>
        <p:spPr>
          <a:xfrm>
            <a:off x="4538272" y="1426546"/>
            <a:ext cx="7369247" cy="500282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D4AAA6-9D8C-61BA-492A-41623F1C6A9D}"/>
              </a:ext>
            </a:extLst>
          </p:cNvPr>
          <p:cNvSpPr txBox="1"/>
          <p:nvPr/>
        </p:nvSpPr>
        <p:spPr>
          <a:xfrm>
            <a:off x="924560" y="1098957"/>
            <a:ext cx="10180320" cy="3970318"/>
          </a:xfrm>
          <a:prstGeom prst="rect">
            <a:avLst/>
          </a:prstGeom>
          <a:noFill/>
        </p:spPr>
        <p:txBody>
          <a:bodyPr wrap="square">
            <a:spAutoFit/>
          </a:bodyPr>
          <a:lstStyle/>
          <a:p>
            <a:pPr>
              <a:buNone/>
            </a:pPr>
            <a:r>
              <a:rPr lang="en-AU" sz="3600" dirty="0">
                <a:latin typeface="Abadi" panose="020B0604020104020204" pitchFamily="34" charset="0"/>
              </a:rPr>
              <a:t>First, let's understand the requirements:</a:t>
            </a:r>
          </a:p>
          <a:p>
            <a:pPr>
              <a:buFont typeface="Arial" panose="020B0604020202020204" pitchFamily="34" charset="0"/>
              <a:buChar char="•"/>
            </a:pPr>
            <a:r>
              <a:rPr lang="en-AU" sz="3600" dirty="0">
                <a:latin typeface="Abadi" panose="020B0604020104020204" pitchFamily="34" charset="0"/>
              </a:rPr>
              <a:t>There are 3 candidates: A, B, and C</a:t>
            </a:r>
          </a:p>
          <a:p>
            <a:pPr>
              <a:buFont typeface="Arial" panose="020B0604020202020204" pitchFamily="34" charset="0"/>
              <a:buChar char="•"/>
            </a:pPr>
            <a:r>
              <a:rPr lang="en-AU" sz="3600" dirty="0">
                <a:latin typeface="Abadi" panose="020B0604020104020204" pitchFamily="34" charset="0"/>
              </a:rPr>
              <a:t>To win, a candidate must get over half (&gt;50%) of total votes cast</a:t>
            </a:r>
          </a:p>
          <a:p>
            <a:pPr>
              <a:buFont typeface="Arial" panose="020B0604020202020204" pitchFamily="34" charset="0"/>
              <a:buChar char="•"/>
            </a:pPr>
            <a:r>
              <a:rPr lang="en-AU" sz="3600" dirty="0">
                <a:latin typeface="Abadi" panose="020B0604020104020204" pitchFamily="34" charset="0"/>
              </a:rPr>
              <a:t>If no candidate gets over half, the result is "-"</a:t>
            </a:r>
          </a:p>
          <a:p>
            <a:pPr>
              <a:buFont typeface="Arial" panose="020B0604020202020204" pitchFamily="34" charset="0"/>
              <a:buChar char="•"/>
            </a:pPr>
            <a:r>
              <a:rPr lang="en-AU" sz="3600" dirty="0">
                <a:latin typeface="Abadi" panose="020B0604020104020204" pitchFamily="34" charset="0"/>
              </a:rPr>
              <a:t>Input is the actual number of votes (not percentages)</a:t>
            </a:r>
          </a:p>
        </p:txBody>
      </p:sp>
    </p:spTree>
    <p:extLst>
      <p:ext uri="{BB962C8B-B14F-4D97-AF65-F5344CB8AC3E}">
        <p14:creationId xmlns:p14="http://schemas.microsoft.com/office/powerpoint/2010/main" val="24729627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74DEBCC4-8260-9214-4814-6C9523B79E66}"/>
              </a:ext>
            </a:extLst>
          </p:cNvPr>
          <p:cNvPicPr>
            <a:picLocks noChangeAspect="1"/>
          </p:cNvPicPr>
          <p:nvPr/>
        </p:nvPicPr>
        <p:blipFill>
          <a:blip r:embed="rId2"/>
          <a:srcRect t="10375"/>
          <a:stretch/>
        </p:blipFill>
        <p:spPr>
          <a:xfrm>
            <a:off x="20" y="1282"/>
            <a:ext cx="12191980" cy="6856718"/>
          </a:xfrm>
          <a:prstGeom prst="rect">
            <a:avLst/>
          </a:prstGeom>
        </p:spPr>
      </p:pic>
    </p:spTree>
    <p:extLst>
      <p:ext uri="{BB962C8B-B14F-4D97-AF65-F5344CB8AC3E}">
        <p14:creationId xmlns:p14="http://schemas.microsoft.com/office/powerpoint/2010/main" val="18503656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Table&#10;&#10;Description automatically generat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475" y="0"/>
            <a:ext cx="10431463" cy="68580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063FBD0-4D77-9D72-2D17-457ADBA1D2FC}"/>
                  </a:ext>
                </a:extLst>
              </p14:cNvPr>
              <p14:cNvContentPartPr/>
              <p14:nvPr/>
            </p14:nvContentPartPr>
            <p14:xfrm>
              <a:off x="4783320" y="4631760"/>
              <a:ext cx="1581480" cy="1670040"/>
            </p14:xfrm>
          </p:contentPart>
        </mc:Choice>
        <mc:Fallback xmlns="">
          <p:pic>
            <p:nvPicPr>
              <p:cNvPr id="2" name="Ink 1">
                <a:extLst>
                  <a:ext uri="{FF2B5EF4-FFF2-40B4-BE49-F238E27FC236}">
                    <a16:creationId xmlns:a16="http://schemas.microsoft.com/office/drawing/2014/main" id="{5063FBD0-4D77-9D72-2D17-457ADBA1D2FC}"/>
                  </a:ext>
                </a:extLst>
              </p:cNvPr>
              <p:cNvPicPr/>
              <p:nvPr/>
            </p:nvPicPr>
            <p:blipFill>
              <a:blip r:embed="rId4"/>
              <a:stretch>
                <a:fillRect/>
              </a:stretch>
            </p:blipFill>
            <p:spPr>
              <a:xfrm>
                <a:off x="4773960" y="4622400"/>
                <a:ext cx="1600200" cy="1688760"/>
              </a:xfrm>
              <a:prstGeom prst="rect">
                <a:avLst/>
              </a:prstGeom>
            </p:spPr>
          </p:pic>
        </mc:Fallback>
      </mc:AlternateContent>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mQ0NTA0NGIxOGE3NDJjMGM2MTdhZThkZTg0MWRiMzQ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3124</TotalTime>
  <Words>1274</Words>
  <Application>Microsoft Office PowerPoint</Application>
  <PresentationFormat>Widescreen</PresentationFormat>
  <Paragraphs>95</Paragraphs>
  <Slides>38</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Arial Unicode MS</vt:lpstr>
      <vt:lpstr>等线</vt:lpstr>
      <vt:lpstr>等线 Light</vt:lpstr>
      <vt:lpstr>LiberationMono</vt:lpstr>
      <vt:lpstr>Abadi</vt:lpstr>
      <vt:lpstr>Aptos</vt:lpstr>
      <vt:lpstr>Arial</vt:lpstr>
      <vt:lpstr>Calibri</vt:lpstr>
      <vt:lpstr>Office Theme</vt:lpstr>
      <vt:lpstr>Welcome to Week 11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Try and Except</vt:lpstr>
      <vt:lpstr>Common Python Exceptions</vt:lpstr>
      <vt:lpstr>Common Python Exceptions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Elane.Peng</dc:creator>
  <cp:lastModifiedBy>Elane.Peng</cp:lastModifiedBy>
  <cp:revision>17</cp:revision>
  <dcterms:created xsi:type="dcterms:W3CDTF">2024-10-14T23:05:00Z</dcterms:created>
  <dcterms:modified xsi:type="dcterms:W3CDTF">2025-10-12T07:20:00Z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DB911FB49F3947C1B8DA75189C726A72_12</vt:lpwstr>
  </property>
  <property fmtid="{D5CDD505-2E9C-101B-9397-08002B2CF9AE}" pid="3" name="KSOProductBuildVer">
    <vt:lpwstr>2052-12.1.0.18608</vt:lpwstr>
  </property>
  <property fmtid="{D5CDD505-2E9C-101B-9397-08002B2CF9AE}" pid="4" name="MSIP_Label_bf6fef03-d487-4433-8e43-6b81c0a1b7be_Enabled">
    <vt:lpwstr>true</vt:lpwstr>
  </property>
  <property fmtid="{D5CDD505-2E9C-101B-9397-08002B2CF9AE}" pid="5" name="MSIP_Label_bf6fef03-d487-4433-8e43-6b81c0a1b7be_SetDate">
    <vt:lpwstr>2025-04-23T06:07:06Z</vt:lpwstr>
  </property>
  <property fmtid="{D5CDD505-2E9C-101B-9397-08002B2CF9AE}" pid="6" name="MSIP_Label_bf6fef03-d487-4433-8e43-6b81c0a1b7be_Method">
    <vt:lpwstr>Standard</vt:lpwstr>
  </property>
  <property fmtid="{D5CDD505-2E9C-101B-9397-08002B2CF9AE}" pid="7" name="MSIP_Label_bf6fef03-d487-4433-8e43-6b81c0a1b7be_Name">
    <vt:lpwstr>Unclassified</vt:lpwstr>
  </property>
  <property fmtid="{D5CDD505-2E9C-101B-9397-08002B2CF9AE}" pid="8" name="MSIP_Label_bf6fef03-d487-4433-8e43-6b81c0a1b7be_SiteId">
    <vt:lpwstr>1daf5147-a543-4707-a2fb-2acf0b2a3936</vt:lpwstr>
  </property>
  <property fmtid="{D5CDD505-2E9C-101B-9397-08002B2CF9AE}" pid="9" name="MSIP_Label_bf6fef03-d487-4433-8e43-6b81c0a1b7be_ActionId">
    <vt:lpwstr>03952816-1a03-464e-a86a-f9ba943bafb8</vt:lpwstr>
  </property>
  <property fmtid="{D5CDD505-2E9C-101B-9397-08002B2CF9AE}" pid="10" name="MSIP_Label_bf6fef03-d487-4433-8e43-6b81c0a1b7be_ContentBits">
    <vt:lpwstr>0</vt:lpwstr>
  </property>
  <property fmtid="{D5CDD505-2E9C-101B-9397-08002B2CF9AE}" pid="11" name="MSIP_Label_bf6fef03-d487-4433-8e43-6b81c0a1b7be_Tag">
    <vt:lpwstr>10, 3, 0, 1</vt:lpwstr>
  </property>
</Properties>
</file>