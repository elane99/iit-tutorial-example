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4"/>
  </p:notesMasterIdLst>
  <p:sldIdLst>
    <p:sldId id="256" r:id="rId5"/>
    <p:sldId id="279" r:id="rId6"/>
    <p:sldId id="280" r:id="rId7"/>
    <p:sldId id="257" r:id="rId8"/>
    <p:sldId id="262" r:id="rId9"/>
    <p:sldId id="285" r:id="rId10"/>
    <p:sldId id="286" r:id="rId11"/>
    <p:sldId id="263" r:id="rId12"/>
    <p:sldId id="272" r:id="rId13"/>
    <p:sldId id="273" r:id="rId14"/>
    <p:sldId id="287" r:id="rId15"/>
    <p:sldId id="258" r:id="rId16"/>
    <p:sldId id="266" r:id="rId17"/>
    <p:sldId id="264" r:id="rId18"/>
    <p:sldId id="259" r:id="rId19"/>
    <p:sldId id="282" r:id="rId20"/>
    <p:sldId id="281" r:id="rId21"/>
    <p:sldId id="283" r:id="rId22"/>
    <p:sldId id="284" r:id="rId23"/>
    <p:sldId id="267" r:id="rId24"/>
    <p:sldId id="260" r:id="rId25"/>
    <p:sldId id="268" r:id="rId26"/>
    <p:sldId id="274" r:id="rId27"/>
    <p:sldId id="270" r:id="rId28"/>
    <p:sldId id="276" r:id="rId29"/>
    <p:sldId id="277" r:id="rId30"/>
    <p:sldId id="278" r:id="rId31"/>
    <p:sldId id="275" r:id="rId32"/>
    <p:sldId id="271"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DD17C7-DFE1-45AE-8AD1-707EADF55FAB}" v="7" dt="2025-09-05T02:36:41.52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7484" autoAdjust="0"/>
  </p:normalViewPr>
  <p:slideViewPr>
    <p:cSldViewPr snapToGrid="0">
      <p:cViewPr varScale="1">
        <p:scale>
          <a:sx n="64" d="100"/>
          <a:sy n="64" d="100"/>
        </p:scale>
        <p:origin x="142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093975-B491-4FAB-A8B8-4C20EA603A89}" type="datetimeFigureOut">
              <a:rPr lang="zh-CN" altLang="en-US" smtClean="0"/>
              <a:t>2025/9/5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F40E6-E2AC-4790-B67D-EF6E8770729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None/>
            </a:pPr>
            <a:r>
              <a:rPr kumimoji="0" lang="zh-CN" altLang="zh-CN" sz="1200" b="1" i="0" u="none" strike="noStrike" cap="none" normalizeH="0" baseline="0" dirty="0">
                <a:ln>
                  <a:noFill/>
                </a:ln>
                <a:solidFill>
                  <a:schemeClr val="tx1"/>
                </a:solidFill>
                <a:effectLst/>
                <a:latin typeface="Arial" panose="020B0604020202020204" pitchFamily="34" charset="0"/>
              </a:rPr>
              <a:t>Code Reusability</a:t>
            </a:r>
            <a:r>
              <a:rPr kumimoji="0" lang="zh-CN" altLang="zh-CN" sz="1200" b="0" i="0" u="none" strike="noStrike" cap="none" normalizeH="0" baseline="0" dirty="0">
                <a:ln>
                  <a:noFill/>
                </a:ln>
                <a:solidFill>
                  <a:schemeClr val="tx1"/>
                </a:solidFill>
                <a:effectLst/>
                <a:latin typeface="Arial" panose="020B0604020202020204" pitchFamily="34" charset="0"/>
              </a:rPr>
              <a:t>: Functions allow you to write a block of code once and reuse it multiple times. This reduces repetition and makes your code more efficient and easier to maintain. You can call the same function with different arguments to perform similar tasks without writing duplicate code.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Modularity</a:t>
            </a:r>
            <a:r>
              <a:rPr kumimoji="0" lang="zh-CN" altLang="zh-CN" sz="1200" b="0" i="0" u="none" strike="noStrike" cap="none" normalizeH="0" baseline="0" dirty="0">
                <a:ln>
                  <a:noFill/>
                </a:ln>
                <a:solidFill>
                  <a:schemeClr val="tx1"/>
                </a:solidFill>
                <a:effectLst/>
                <a:latin typeface="Arial" panose="020B0604020202020204" pitchFamily="34" charset="0"/>
              </a:rPr>
              <a:t>: Functions help break down complex problems into smaller, manageable parts. By organizing your code into functions, each with a specific task, it becomes easier to understand, develop, and debug. It also improves the overall structure and readability of the program.</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Maintainability</a:t>
            </a:r>
            <a:r>
              <a:rPr kumimoji="0" lang="zh-CN" altLang="zh-CN" sz="1200" b="0" i="0" u="none" strike="noStrike" cap="none" normalizeH="0" baseline="0" dirty="0">
                <a:ln>
                  <a:noFill/>
                </a:ln>
                <a:solidFill>
                  <a:schemeClr val="tx1"/>
                </a:solidFill>
                <a:effectLst/>
                <a:latin typeface="Arial" panose="020B0604020202020204" pitchFamily="34" charset="0"/>
              </a:rPr>
              <a:t>: If a change or bug fix is needed, you only need to update the function once, rather than modifying code in multiple places. This reduces the chance of errors and improves the maintainability of the code.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Abstraction</a:t>
            </a:r>
            <a:r>
              <a:rPr kumimoji="0" lang="zh-CN" altLang="zh-CN" sz="1200" b="0" i="0" u="none" strike="noStrike" cap="none" normalizeH="0" baseline="0" dirty="0">
                <a:ln>
                  <a:noFill/>
                </a:ln>
                <a:solidFill>
                  <a:schemeClr val="tx1"/>
                </a:solidFill>
                <a:effectLst/>
                <a:latin typeface="Arial" panose="020B0604020202020204" pitchFamily="34" charset="0"/>
              </a:rPr>
              <a:t>: Functions allow you to hide the complexity of the code and focus on the overall logic. When you call a function, you don’t need to worry about how it works internally; you only need to know what it does and what inputs it requires.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Testing</a:t>
            </a:r>
            <a:r>
              <a:rPr kumimoji="0" lang="zh-CN" altLang="zh-CN" sz="1200" b="0" i="0" u="none" strike="noStrike" cap="none" normalizeH="0" baseline="0" dirty="0">
                <a:ln>
                  <a:noFill/>
                </a:ln>
                <a:solidFill>
                  <a:schemeClr val="tx1"/>
                </a:solidFill>
                <a:effectLst/>
                <a:latin typeface="Arial" panose="020B0604020202020204" pitchFamily="34" charset="0"/>
              </a:rPr>
              <a:t>: Functions can be tested individually, making it easier to isolate bugs. You can verify the functionality of a single function before integrating it into a larger program, reducing the likelihood of system-wide errors.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Readability</a:t>
            </a:r>
            <a:r>
              <a:rPr kumimoji="0" lang="zh-CN" altLang="zh-CN" sz="1200" b="0" i="0" u="none" strike="noStrike" cap="none" normalizeH="0" baseline="0" dirty="0">
                <a:ln>
                  <a:noFill/>
                </a:ln>
                <a:solidFill>
                  <a:schemeClr val="tx1"/>
                </a:solidFill>
                <a:effectLst/>
                <a:latin typeface="Arial" panose="020B0604020202020204" pitchFamily="34" charset="0"/>
              </a:rPr>
              <a:t>: Well-named functions make your code self-explanatory. They describe the task they perform, making the overall code more readable and understandable, even for others who may read your code later.</a:t>
            </a:r>
          </a:p>
          <a:p>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2725-6C78-271A-7BA1-734F9996D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97A98-074B-1226-E9D6-7C3A39F32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6C663-B11D-3B2B-B9E2-BC99A35A23E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None/>
            </a:pPr>
            <a:r>
              <a:rPr kumimoji="0" lang="zh-CN" altLang="zh-CN" sz="1200" b="1" i="0" u="none" strike="noStrike" cap="none" normalizeH="0" baseline="0" dirty="0">
                <a:ln>
                  <a:noFill/>
                </a:ln>
                <a:solidFill>
                  <a:schemeClr val="tx1"/>
                </a:solidFill>
                <a:effectLst/>
                <a:latin typeface="Arial" panose="020B0604020202020204" pitchFamily="34" charset="0"/>
              </a:rPr>
              <a:t>Code Reusability</a:t>
            </a:r>
            <a:r>
              <a:rPr kumimoji="0" lang="zh-CN" altLang="zh-CN" sz="1200" b="0" i="0" u="none" strike="noStrike" cap="none" normalizeH="0" baseline="0" dirty="0">
                <a:ln>
                  <a:noFill/>
                </a:ln>
                <a:solidFill>
                  <a:schemeClr val="tx1"/>
                </a:solidFill>
                <a:effectLst/>
                <a:latin typeface="Arial" panose="020B0604020202020204" pitchFamily="34" charset="0"/>
              </a:rPr>
              <a:t>: Functions allow you to write a block of code once and reuse it multiple times. This reduces repetition and makes your code more efficient and easier to maintain. You can call the same function with different arguments to perform similar tasks without writing duplicate code.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Modularity</a:t>
            </a:r>
            <a:r>
              <a:rPr kumimoji="0" lang="zh-CN" altLang="zh-CN" sz="1200" b="0" i="0" u="none" strike="noStrike" cap="none" normalizeH="0" baseline="0" dirty="0">
                <a:ln>
                  <a:noFill/>
                </a:ln>
                <a:solidFill>
                  <a:schemeClr val="tx1"/>
                </a:solidFill>
                <a:effectLst/>
                <a:latin typeface="Arial" panose="020B0604020202020204" pitchFamily="34" charset="0"/>
              </a:rPr>
              <a:t>: Functions help break down complex problems into smaller, manageable parts. By organizing your code into functions, each with a specific task, it becomes easier to understand, develop, and debug. It also improves the overall structure and readability of the program.</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Maintainability</a:t>
            </a:r>
            <a:r>
              <a:rPr kumimoji="0" lang="zh-CN" altLang="zh-CN" sz="1200" b="0" i="0" u="none" strike="noStrike" cap="none" normalizeH="0" baseline="0" dirty="0">
                <a:ln>
                  <a:noFill/>
                </a:ln>
                <a:solidFill>
                  <a:schemeClr val="tx1"/>
                </a:solidFill>
                <a:effectLst/>
                <a:latin typeface="Arial" panose="020B0604020202020204" pitchFamily="34" charset="0"/>
              </a:rPr>
              <a:t>: If a change or bug fix is needed, you only need to update the function once, rather than modifying code in multiple places. This reduces the chance of errors and improves the maintainability of the code.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Abstraction</a:t>
            </a:r>
            <a:r>
              <a:rPr kumimoji="0" lang="zh-CN" altLang="zh-CN" sz="1200" b="0" i="0" u="none" strike="noStrike" cap="none" normalizeH="0" baseline="0" dirty="0">
                <a:ln>
                  <a:noFill/>
                </a:ln>
                <a:solidFill>
                  <a:schemeClr val="tx1"/>
                </a:solidFill>
                <a:effectLst/>
                <a:latin typeface="Arial" panose="020B0604020202020204" pitchFamily="34" charset="0"/>
              </a:rPr>
              <a:t>: Functions allow you to hide the complexity of the code and focus on the overall logic. When you call a function, you don’t need to worry about how it works internally; you only need to know what it does and what inputs it requires.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Testing</a:t>
            </a:r>
            <a:r>
              <a:rPr kumimoji="0" lang="zh-CN" altLang="zh-CN" sz="1200" b="0" i="0" u="none" strike="noStrike" cap="none" normalizeH="0" baseline="0" dirty="0">
                <a:ln>
                  <a:noFill/>
                </a:ln>
                <a:solidFill>
                  <a:schemeClr val="tx1"/>
                </a:solidFill>
                <a:effectLst/>
                <a:latin typeface="Arial" panose="020B0604020202020204" pitchFamily="34" charset="0"/>
              </a:rPr>
              <a:t>: Functions can be tested individually, making it easier to isolate bugs. You can verify the functionality of a single function before integrating it into a larger program, reducing the likelihood of system-wide errors.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Readability</a:t>
            </a:r>
            <a:r>
              <a:rPr kumimoji="0" lang="zh-CN" altLang="zh-CN" sz="1200" b="0" i="0" u="none" strike="noStrike" cap="none" normalizeH="0" baseline="0" dirty="0">
                <a:ln>
                  <a:noFill/>
                </a:ln>
                <a:solidFill>
                  <a:schemeClr val="tx1"/>
                </a:solidFill>
                <a:effectLst/>
                <a:latin typeface="Arial" panose="020B0604020202020204" pitchFamily="34" charset="0"/>
              </a:rPr>
              <a:t>: Well-named functions make your code self-explanatory. They describe the task they perform, making the overall code more readable and understandable, even for others who may read your code later.</a:t>
            </a:r>
          </a:p>
          <a:p>
            <a:endParaRPr lang="zh-CN" altLang="en-US" dirty="0"/>
          </a:p>
        </p:txBody>
      </p:sp>
      <p:sp>
        <p:nvSpPr>
          <p:cNvPr id="4" name="Slide Number Placeholder 3">
            <a:extLst>
              <a:ext uri="{FF2B5EF4-FFF2-40B4-BE49-F238E27FC236}">
                <a16:creationId xmlns:a16="http://schemas.microsoft.com/office/drawing/2014/main" id="{2D685E78-1EA2-43EC-886D-6246671E204E}"/>
              </a:ext>
            </a:extLst>
          </p:cNvPr>
          <p:cNvSpPr>
            <a:spLocks noGrp="1"/>
          </p:cNvSpPr>
          <p:nvPr>
            <p:ph type="sldNum" sz="quarter" idx="5"/>
          </p:nvPr>
        </p:nvSpPr>
        <p:spPr/>
        <p:txBody>
          <a:bodyPr/>
          <a:lstStyle/>
          <a:p>
            <a:fld id="{315F40E6-E2AC-4790-B67D-EF6E87707291}" type="slidenum">
              <a:rPr lang="zh-CN" altLang="en-US" smtClean="0"/>
              <a:t>6</a:t>
            </a:fld>
            <a:endParaRPr lang="zh-CN" altLang="en-US"/>
          </a:p>
        </p:txBody>
      </p:sp>
    </p:spTree>
    <p:extLst>
      <p:ext uri="{BB962C8B-B14F-4D97-AF65-F5344CB8AC3E}">
        <p14:creationId xmlns:p14="http://schemas.microsoft.com/office/powerpoint/2010/main" val="2124269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882EC-B059-CA0B-B060-3D28EFC41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15442-C5F9-4DA6-C00F-06B4B5ECC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75837-1946-BC12-C418-8F99E4D71F5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None/>
            </a:pPr>
            <a:r>
              <a:rPr kumimoji="0" lang="zh-CN" altLang="zh-CN" sz="1200" b="1" i="0" u="none" strike="noStrike" cap="none" normalizeH="0" baseline="0" dirty="0">
                <a:ln>
                  <a:noFill/>
                </a:ln>
                <a:solidFill>
                  <a:schemeClr val="tx1"/>
                </a:solidFill>
                <a:effectLst/>
                <a:latin typeface="Arial" panose="020B0604020202020204" pitchFamily="34" charset="0"/>
              </a:rPr>
              <a:t>Code Reusability</a:t>
            </a:r>
            <a:r>
              <a:rPr kumimoji="0" lang="zh-CN" altLang="zh-CN" sz="1200" b="0" i="0" u="none" strike="noStrike" cap="none" normalizeH="0" baseline="0" dirty="0">
                <a:ln>
                  <a:noFill/>
                </a:ln>
                <a:solidFill>
                  <a:schemeClr val="tx1"/>
                </a:solidFill>
                <a:effectLst/>
                <a:latin typeface="Arial" panose="020B0604020202020204" pitchFamily="34" charset="0"/>
              </a:rPr>
              <a:t>: Functions allow you to write a block of code once and reuse it multiple times. This reduces repetition and makes your code more efficient and easier to maintain. You can call the same function with different arguments to perform similar tasks without writing duplicate code.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Modularity</a:t>
            </a:r>
            <a:r>
              <a:rPr kumimoji="0" lang="zh-CN" altLang="zh-CN" sz="1200" b="0" i="0" u="none" strike="noStrike" cap="none" normalizeH="0" baseline="0" dirty="0">
                <a:ln>
                  <a:noFill/>
                </a:ln>
                <a:solidFill>
                  <a:schemeClr val="tx1"/>
                </a:solidFill>
                <a:effectLst/>
                <a:latin typeface="Arial" panose="020B0604020202020204" pitchFamily="34" charset="0"/>
              </a:rPr>
              <a:t>: Functions help break down complex problems into smaller, manageable parts. By organizing your code into functions, each with a specific task, it becomes easier to understand, develop, and debug. It also improves the overall structure and readability of the program.</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Maintainability</a:t>
            </a:r>
            <a:r>
              <a:rPr kumimoji="0" lang="zh-CN" altLang="zh-CN" sz="1200" b="0" i="0" u="none" strike="noStrike" cap="none" normalizeH="0" baseline="0" dirty="0">
                <a:ln>
                  <a:noFill/>
                </a:ln>
                <a:solidFill>
                  <a:schemeClr val="tx1"/>
                </a:solidFill>
                <a:effectLst/>
                <a:latin typeface="Arial" panose="020B0604020202020204" pitchFamily="34" charset="0"/>
              </a:rPr>
              <a:t>: If a change or bug fix is needed, you only need to update the function once, rather than modifying code in multiple places. This reduces the chance of errors and improves the maintainability of the code.</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Abstraction</a:t>
            </a:r>
            <a:r>
              <a:rPr kumimoji="0" lang="zh-CN" altLang="zh-CN" sz="1200" b="0" i="0" u="none" strike="noStrike" cap="none" normalizeH="0" baseline="0" dirty="0">
                <a:ln>
                  <a:noFill/>
                </a:ln>
                <a:solidFill>
                  <a:schemeClr val="tx1"/>
                </a:solidFill>
                <a:effectLst/>
                <a:latin typeface="Arial" panose="020B0604020202020204" pitchFamily="34" charset="0"/>
              </a:rPr>
              <a:t>: Functions allow you to hide the complexity of the code and focus on the overall logic. When you call a function, you don’t need to worry about how it works internally; you only need to know what it does and what inputs it requires.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Testing</a:t>
            </a:r>
            <a:r>
              <a:rPr kumimoji="0" lang="zh-CN" altLang="zh-CN" sz="1200" b="0" i="0" u="none" strike="noStrike" cap="none" normalizeH="0" baseline="0" dirty="0">
                <a:ln>
                  <a:noFill/>
                </a:ln>
                <a:solidFill>
                  <a:schemeClr val="tx1"/>
                </a:solidFill>
                <a:effectLst/>
                <a:latin typeface="Arial" panose="020B0604020202020204" pitchFamily="34" charset="0"/>
              </a:rPr>
              <a:t>: Functions can be tested individually, making it easier to isolate bugs. You can verify the functionality of a single function before integrating it into a larger program, reducing the likelihood of system-wide errors.</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1200" b="1" i="0" u="none" strike="noStrike" cap="none" normalizeH="0" baseline="0" dirty="0">
                <a:ln>
                  <a:noFill/>
                </a:ln>
                <a:solidFill>
                  <a:schemeClr val="tx1"/>
                </a:solidFill>
                <a:effectLst/>
                <a:latin typeface="Arial" panose="020B0604020202020204" pitchFamily="34" charset="0"/>
              </a:rPr>
              <a:t>Readability</a:t>
            </a:r>
            <a:r>
              <a:rPr kumimoji="0" lang="zh-CN" altLang="zh-CN" sz="1200" b="0" i="0" u="none" strike="noStrike" cap="none" normalizeH="0" baseline="0" dirty="0">
                <a:ln>
                  <a:noFill/>
                </a:ln>
                <a:solidFill>
                  <a:schemeClr val="tx1"/>
                </a:solidFill>
                <a:effectLst/>
                <a:latin typeface="Arial" panose="020B0604020202020204" pitchFamily="34" charset="0"/>
              </a:rPr>
              <a:t>: Well-named functions make your code self-explanatory. They describe the task they perform, making the overall code more readable and understandable, even for others who may read your code later.</a:t>
            </a:r>
          </a:p>
          <a:p>
            <a:endParaRPr lang="zh-CN" altLang="en-US" dirty="0"/>
          </a:p>
        </p:txBody>
      </p:sp>
      <p:sp>
        <p:nvSpPr>
          <p:cNvPr id="4" name="Slide Number Placeholder 3">
            <a:extLst>
              <a:ext uri="{FF2B5EF4-FFF2-40B4-BE49-F238E27FC236}">
                <a16:creationId xmlns:a16="http://schemas.microsoft.com/office/drawing/2014/main" id="{8FD8C0B7-5C0F-2DF8-1A35-65C7C768E07D}"/>
              </a:ext>
            </a:extLst>
          </p:cNvPr>
          <p:cNvSpPr>
            <a:spLocks noGrp="1"/>
          </p:cNvSpPr>
          <p:nvPr>
            <p:ph type="sldNum" sz="quarter" idx="5"/>
          </p:nvPr>
        </p:nvSpPr>
        <p:spPr/>
        <p:txBody>
          <a:bodyPr/>
          <a:lstStyle/>
          <a:p>
            <a:fld id="{315F40E6-E2AC-4790-B67D-EF6E87707291}" type="slidenum">
              <a:rPr lang="zh-CN" altLang="en-US" smtClean="0"/>
              <a:t>7</a:t>
            </a:fld>
            <a:endParaRPr lang="zh-CN" altLang="en-US"/>
          </a:p>
        </p:txBody>
      </p:sp>
    </p:spTree>
    <p:extLst>
      <p:ext uri="{BB962C8B-B14F-4D97-AF65-F5344CB8AC3E}">
        <p14:creationId xmlns:p14="http://schemas.microsoft.com/office/powerpoint/2010/main" val="2912958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Python, the statement </a:t>
            </a:r>
            <a:r>
              <a:rPr lang="en-US" altLang="zh-CN" b="1" dirty="0"/>
              <a:t>"functions can return any type of object"</a:t>
            </a:r>
            <a:r>
              <a:rPr lang="en-US" altLang="zh-CN" dirty="0"/>
              <a:t> means that a function can return a value of any data type, such as:</a:t>
            </a:r>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Python, the statement </a:t>
            </a:r>
            <a:r>
              <a:rPr lang="en-US" altLang="zh-CN" b="1" dirty="0"/>
              <a:t>"functions can return any type of object"</a:t>
            </a:r>
            <a:r>
              <a:rPr lang="en-US" altLang="zh-CN" dirty="0"/>
              <a:t> means that a function can return a value of any data type, such as:</a:t>
            </a:r>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Python, the statement </a:t>
            </a:r>
            <a:r>
              <a:rPr lang="en-US" altLang="zh-CN" b="1" dirty="0"/>
              <a:t>"functions can return any type of object"</a:t>
            </a:r>
            <a:r>
              <a:rPr lang="en-US" altLang="zh-CN" dirty="0"/>
              <a:t> means that a function can return a value of any data type, such as:</a:t>
            </a:r>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structure of this code is a typical </a:t>
            </a:r>
            <a:r>
              <a:rPr lang="en-US" altLang="zh-CN" b="1" dirty="0"/>
              <a:t>function-driven programming structure</a:t>
            </a:r>
            <a:r>
              <a:rPr lang="en-US" altLang="zh-CN" dirty="0"/>
              <a:t>, consisting of a main function main() and two helper functions cost() and ceil(). Below is a detailed breakdown of the structure:</a:t>
            </a:r>
          </a:p>
          <a:p>
            <a:endParaRPr lang="en-US" altLang="zh-CN" dirty="0"/>
          </a:p>
          <a:p>
            <a:r>
              <a:rPr lang="en-US" altLang="zh-CN" b="1" dirty="0"/>
              <a:t>Main Function (main())</a:t>
            </a:r>
          </a:p>
          <a:p>
            <a:pPr>
              <a:buFont typeface="Arial" panose="020B0604020202020204" pitchFamily="34" charset="0"/>
              <a:buChar char="•"/>
            </a:pPr>
            <a:r>
              <a:rPr lang="en-US" altLang="zh-CN" b="1" dirty="0"/>
              <a:t>Purpose</a:t>
            </a:r>
            <a:r>
              <a:rPr lang="en-US" altLang="zh-CN" dirty="0"/>
              <a:t>: The main function is the entry point of the program. It is responsible for obtaining input from the user, calling other functions to compute the postage cost, and outputting the result.</a:t>
            </a:r>
          </a:p>
          <a:p>
            <a:r>
              <a:rPr lang="en-US" altLang="zh-CN" b="1" dirty="0"/>
              <a:t>Postage Calculation Function (cost())</a:t>
            </a:r>
          </a:p>
          <a:p>
            <a:pPr>
              <a:buFont typeface="Arial" panose="020B0604020202020204" pitchFamily="34" charset="0"/>
              <a:buChar char="•"/>
            </a:pPr>
            <a:r>
              <a:rPr lang="en-US" altLang="zh-CN" b="1" dirty="0"/>
              <a:t>Purpose</a:t>
            </a:r>
            <a:r>
              <a:rPr lang="en-US" altLang="zh-CN" dirty="0"/>
              <a:t>: This function calculates the postage cost based on the weight of the letter provided by the user.</a:t>
            </a:r>
          </a:p>
          <a:p>
            <a:pPr>
              <a:buFont typeface="Arial" panose="020B0604020202020204" pitchFamily="34" charset="0"/>
              <a:buChar char="•"/>
            </a:pPr>
            <a:r>
              <a:rPr lang="en-US" altLang="zh-CN" b="1" dirty="0"/>
              <a:t>Ceiling Function (ceil())</a:t>
            </a:r>
          </a:p>
          <a:p>
            <a:pPr>
              <a:buFont typeface="Arial" panose="020B0604020202020204" pitchFamily="34" charset="0"/>
              <a:buChar char="•"/>
            </a:pPr>
            <a:r>
              <a:rPr lang="en-US" altLang="zh-CN" b="1" dirty="0"/>
              <a:t>Purpose</a:t>
            </a:r>
            <a:r>
              <a:rPr lang="en-US" altLang="zh-CN" dirty="0"/>
              <a:t>: This function rounds up any non-integer weight to the nearest whole number, which is important for calculating the extra ounces beyond the first one.</a:t>
            </a:r>
          </a:p>
          <a:p>
            <a:r>
              <a:rPr lang="en-US" altLang="zh-CN" b="1" dirty="0"/>
              <a:t> Program Execution (Main Program Call)</a:t>
            </a:r>
          </a:p>
          <a:p>
            <a:pPr>
              <a:buFont typeface="Arial" panose="020B0604020202020204" pitchFamily="34" charset="0"/>
              <a:buChar char="•"/>
            </a:pPr>
            <a:r>
              <a:rPr lang="en-US" altLang="zh-CN" dirty="0"/>
              <a:t>The entire program starts with the execution of the main() function, where it takes the input, computes the postage, and displays the output.</a:t>
            </a:r>
          </a:p>
          <a:p>
            <a:r>
              <a:rPr lang="en-US" altLang="zh-CN" b="1" dirty="0"/>
              <a:t>Summary:</a:t>
            </a:r>
          </a:p>
          <a:p>
            <a:pPr>
              <a:buFont typeface="Arial" panose="020B0604020202020204" pitchFamily="34" charset="0"/>
              <a:buNone/>
            </a:pPr>
            <a:r>
              <a:rPr lang="en-US" altLang="zh-CN" dirty="0"/>
              <a:t>The code is structured with clear function separation, achieving a modular design where each function focuses on its specific task. This makes the program easier to understand and maintain.</a:t>
            </a:r>
          </a:p>
          <a:p>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13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Logical </a:t>
            </a:r>
            <a:r>
              <a:rPr lang="en-US" altLang="zh-CN" dirty="0" err="1"/>
              <a:t>Breakdown:int</a:t>
            </a:r>
            <a:r>
              <a:rPr lang="en-US" altLang="zh-CN" dirty="0"/>
              <a:t>(x) != x: </a:t>
            </a:r>
          </a:p>
          <a:p>
            <a:r>
              <a:rPr lang="en-US" altLang="zh-CN" dirty="0"/>
              <a:t>This checks if x is an integer. If x is a float, int(x) will remove the decimal portion, leaving only the whole number. </a:t>
            </a:r>
          </a:p>
          <a:p>
            <a:r>
              <a:rPr lang="en-US" altLang="zh-CN" dirty="0"/>
              <a:t>So, if int(x) is not equal to x, it means x is not an </a:t>
            </a:r>
            <a:r>
              <a:rPr lang="en-US" altLang="zh-CN" dirty="0" err="1"/>
              <a:t>integer.return</a:t>
            </a:r>
            <a:r>
              <a:rPr lang="en-US" altLang="zh-CN" dirty="0"/>
              <a:t> int(x + 1):</a:t>
            </a:r>
          </a:p>
          <a:p>
            <a:r>
              <a:rPr lang="en-US" altLang="zh-CN" dirty="0"/>
              <a:t> If x is not an integer, adding 1 to x and converting it to an integer will round it up. </a:t>
            </a:r>
          </a:p>
          <a:p>
            <a:r>
              <a:rPr lang="en-US" altLang="zh-CN" dirty="0"/>
              <a:t>This achieves the ceiling effect, rounding up to the nearest whole number.</a:t>
            </a:r>
          </a:p>
          <a:p>
            <a:r>
              <a:rPr lang="en-US" altLang="zh-CN" dirty="0"/>
              <a:t>else: return x: If x is already an integer, there’s no need to round up, so it simply returns x as it is.</a:t>
            </a:r>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19</a:t>
            </a:fld>
            <a:endParaRPr lang="zh-CN" altLang="en-US"/>
          </a:p>
        </p:txBody>
      </p:sp>
    </p:spTree>
    <p:extLst>
      <p:ext uri="{BB962C8B-B14F-4D97-AF65-F5344CB8AC3E}">
        <p14:creationId xmlns:p14="http://schemas.microsoft.com/office/powerpoint/2010/main" val="3226056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23</a:t>
            </a:fld>
            <a:endParaRPr lang="zh-CN" altLang="en-US"/>
          </a:p>
        </p:txBody>
      </p:sp>
    </p:spTree>
    <p:extLst>
      <p:ext uri="{BB962C8B-B14F-4D97-AF65-F5344CB8AC3E}">
        <p14:creationId xmlns:p14="http://schemas.microsoft.com/office/powerpoint/2010/main" val="3050911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24</a:t>
            </a:fld>
            <a:endParaRPr lang="zh-CN" altLang="en-US"/>
          </a:p>
        </p:txBody>
      </p:sp>
    </p:spTree>
    <p:extLst>
      <p:ext uri="{BB962C8B-B14F-4D97-AF65-F5344CB8AC3E}">
        <p14:creationId xmlns:p14="http://schemas.microsoft.com/office/powerpoint/2010/main" val="1852656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Python, there are two primary ways to sort items in a list: using the sort() method or the sorted() function. Here's how each works:</a:t>
            </a:r>
          </a:p>
          <a:p>
            <a:endParaRPr lang="en-US" altLang="zh-CN" dirty="0"/>
          </a:p>
          <a:p>
            <a:endParaRPr lang="en-US" altLang="zh-CN" dirty="0"/>
          </a:p>
          <a:p>
            <a:r>
              <a:rPr lang="en-US" altLang="zh-CN" b="1" dirty="0"/>
              <a:t>reverse</a:t>
            </a:r>
            <a:r>
              <a:rPr lang="en-US" altLang="zh-CN" dirty="0"/>
              <a:t>: A </a:t>
            </a:r>
            <a:r>
              <a:rPr lang="en-US" altLang="zh-CN" dirty="0" err="1"/>
              <a:t>boolean</a:t>
            </a:r>
            <a:r>
              <a:rPr lang="en-US" altLang="zh-CN" dirty="0"/>
              <a:t> value (True or False). If True, the list is sorted in descending order. The default is False (ascending order).</a:t>
            </a:r>
            <a:r>
              <a:rPr lang="en-US" altLang="zh-CN" b="1" dirty="0"/>
              <a:t>key</a:t>
            </a:r>
            <a:r>
              <a:rPr lang="en-US" altLang="zh-CN" dirty="0"/>
              <a:t>: A function that serves as a basis for sorting. For example, if you want to sort by length of strings, you can use key=</a:t>
            </a:r>
            <a:r>
              <a:rPr lang="en-US" altLang="zh-CN" dirty="0" err="1"/>
              <a:t>len</a:t>
            </a:r>
            <a:r>
              <a:rPr lang="en-US" altLang="zh-CN" dirty="0"/>
              <a:t>.</a:t>
            </a:r>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26</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Python, there are two primary ways to sort items in a list: using the sort() method or the sorted() function. Here's how each works:</a:t>
            </a:r>
          </a:p>
          <a:p>
            <a:endParaRPr lang="en-US" altLang="zh-CN" dirty="0"/>
          </a:p>
          <a:p>
            <a:endParaRPr lang="en-US" altLang="zh-CN" dirty="0"/>
          </a:p>
          <a:p>
            <a:r>
              <a:rPr lang="en-US" altLang="zh-CN" b="1" dirty="0" err="1"/>
              <a:t>iterable</a:t>
            </a:r>
            <a:r>
              <a:rPr lang="en-US" altLang="zh-CN" dirty="0"/>
              <a:t>: Any sequence (e.g., list, tuple, dictionary, string) you want to sort.</a:t>
            </a:r>
          </a:p>
          <a:p>
            <a:endParaRPr lang="en-US" altLang="zh-CN" b="1" dirty="0"/>
          </a:p>
          <a:p>
            <a:r>
              <a:rPr lang="en-US" altLang="zh-CN" b="1" dirty="0"/>
              <a:t>reverse</a:t>
            </a:r>
            <a:r>
              <a:rPr lang="en-US" altLang="zh-CN" dirty="0"/>
              <a:t> and </a:t>
            </a:r>
            <a:r>
              <a:rPr lang="en-US" altLang="zh-CN" b="1" dirty="0"/>
              <a:t>key</a:t>
            </a:r>
            <a:r>
              <a:rPr lang="en-US" altLang="zh-CN" dirty="0"/>
              <a:t> work the same way as in sort METHOD.</a:t>
            </a:r>
            <a:endParaRPr lang="zh-CN" altLang="en-US" dirty="0"/>
          </a:p>
        </p:txBody>
      </p:sp>
      <p:sp>
        <p:nvSpPr>
          <p:cNvPr id="4" name="Slide Number Placeholder 3"/>
          <p:cNvSpPr>
            <a:spLocks noGrp="1"/>
          </p:cNvSpPr>
          <p:nvPr>
            <p:ph type="sldNum" sz="quarter" idx="5"/>
          </p:nvPr>
        </p:nvSpPr>
        <p:spPr/>
        <p:txBody>
          <a:bodyPr/>
          <a:lstStyle/>
          <a:p>
            <a:fld id="{315F40E6-E2AC-4790-B67D-EF6E87707291}" type="slidenum">
              <a:rPr lang="zh-CN" altLang="en-US" smtClean="0"/>
              <a:t>27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fld id="{338143BA-65F5-43E8-971B-48EE40812FAE}" type="datetimeFigureOut">
              <a:rPr lang="zh-CN" altLang="en-US" smtClean="0"/>
              <a:t>2025/9/5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DED238-AE68-4A90-B43D-DECFEB54A0B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8143BA-65F5-43E8-971B-48EE40812FAE}" type="datetimeFigureOut">
              <a:rPr lang="zh-CN" altLang="en-US" smtClean="0"/>
              <a:t>2025/9/5</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DED238-AE68-4A90-B43D-DECFEB54A0B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altLang="zh-CN" dirty="0"/>
              <a:t>Welcome to Week 6</a:t>
            </a:r>
            <a:endParaRPr lang="zh-CN" altLang="en-US" dirty="0"/>
          </a:p>
        </p:txBody>
      </p:sp>
      <p:sp>
        <p:nvSpPr>
          <p:cNvPr id="3" name="Subtitle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65471-2719-69B1-9265-0983DD94BF39}"/>
              </a:ext>
            </a:extLst>
          </p:cNvPr>
          <p:cNvSpPr>
            <a:spLocks noGrp="1"/>
          </p:cNvSpPr>
          <p:nvPr>
            <p:ph type="title"/>
          </p:nvPr>
        </p:nvSpPr>
        <p:spPr/>
        <p:txBody>
          <a:bodyPr/>
          <a:lstStyle/>
          <a:p>
            <a:r>
              <a:rPr lang="en-AU" dirty="0"/>
              <a:t>F</a:t>
            </a:r>
            <a:r>
              <a:rPr lang="en-US" altLang="zh-CN" dirty="0"/>
              <a:t>unction</a:t>
            </a:r>
            <a:endParaRPr lang="en-AU" dirty="0"/>
          </a:p>
        </p:txBody>
      </p:sp>
      <p:sp>
        <p:nvSpPr>
          <p:cNvPr id="3" name="Content Placeholder 2">
            <a:extLst>
              <a:ext uri="{FF2B5EF4-FFF2-40B4-BE49-F238E27FC236}">
                <a16:creationId xmlns:a16="http://schemas.microsoft.com/office/drawing/2014/main" id="{A8213683-A053-4C0D-BF82-CC3741D380F6}"/>
              </a:ext>
            </a:extLst>
          </p:cNvPr>
          <p:cNvSpPr>
            <a:spLocks noGrp="1"/>
          </p:cNvSpPr>
          <p:nvPr>
            <p:ph idx="1"/>
          </p:nvPr>
        </p:nvSpPr>
        <p:spPr>
          <a:xfrm>
            <a:off x="838200" y="1825625"/>
            <a:ext cx="10515600" cy="1407102"/>
          </a:xfrm>
        </p:spPr>
        <p:txBody>
          <a:bodyPr/>
          <a:lstStyle/>
          <a:p>
            <a:r>
              <a:rPr lang="en-AU" dirty="0"/>
              <a:t>In Python, functions are defined using the</a:t>
            </a:r>
            <a:r>
              <a:rPr lang="en-AU" dirty="0">
                <a:highlight>
                  <a:srgbClr val="FFFF00"/>
                </a:highlight>
              </a:rPr>
              <a:t> def</a:t>
            </a:r>
            <a:r>
              <a:rPr lang="en-AU" dirty="0"/>
              <a:t> keyword, followed by the function name, parentheses containing any parameters, and a colon. The function body is indented beneath.</a:t>
            </a:r>
          </a:p>
        </p:txBody>
      </p:sp>
      <p:pic>
        <p:nvPicPr>
          <p:cNvPr id="7" name="Picture 6">
            <a:extLst>
              <a:ext uri="{FF2B5EF4-FFF2-40B4-BE49-F238E27FC236}">
                <a16:creationId xmlns:a16="http://schemas.microsoft.com/office/drawing/2014/main" id="{C43496AF-885A-49B6-D999-B2EC921BDE9F}"/>
              </a:ext>
            </a:extLst>
          </p:cNvPr>
          <p:cNvPicPr>
            <a:picLocks noChangeAspect="1"/>
          </p:cNvPicPr>
          <p:nvPr/>
        </p:nvPicPr>
        <p:blipFill>
          <a:blip r:embed="rId2"/>
          <a:stretch>
            <a:fillRect/>
          </a:stretch>
        </p:blipFill>
        <p:spPr>
          <a:xfrm>
            <a:off x="838200" y="3123801"/>
            <a:ext cx="9864436" cy="3144123"/>
          </a:xfrm>
          <a:prstGeom prst="rect">
            <a:avLst/>
          </a:prstGeom>
        </p:spPr>
      </p:pic>
    </p:spTree>
    <p:extLst>
      <p:ext uri="{BB962C8B-B14F-4D97-AF65-F5344CB8AC3E}">
        <p14:creationId xmlns:p14="http://schemas.microsoft.com/office/powerpoint/2010/main" val="1479581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AF22-F812-A33C-4C9F-B062115580B3}"/>
              </a:ext>
            </a:extLst>
          </p:cNvPr>
          <p:cNvSpPr>
            <a:spLocks noGrp="1"/>
          </p:cNvSpPr>
          <p:nvPr>
            <p:ph type="title"/>
          </p:nvPr>
        </p:nvSpPr>
        <p:spPr/>
        <p:txBody>
          <a:bodyPr/>
          <a:lstStyle/>
          <a:p>
            <a:r>
              <a:rPr kumimoji="0" lang="en-US" altLang="en-US" sz="4400" b="0" i="0" u="none" strike="noStrike" cap="none" normalizeH="0" baseline="0" dirty="0">
                <a:ln>
                  <a:noFill/>
                </a:ln>
                <a:solidFill>
                  <a:schemeClr val="tx1"/>
                </a:solidFill>
                <a:effectLst/>
                <a:latin typeface="Arial" panose="020B0604020202020204" pitchFamily="34" charset="0"/>
              </a:rPr>
              <a:t>Functions can:</a:t>
            </a:r>
            <a:endParaRPr lang="en-AU" dirty="0"/>
          </a:p>
        </p:txBody>
      </p:sp>
      <p:sp>
        <p:nvSpPr>
          <p:cNvPr id="7" name="Rectangle 1">
            <a:extLst>
              <a:ext uri="{FF2B5EF4-FFF2-40B4-BE49-F238E27FC236}">
                <a16:creationId xmlns:a16="http://schemas.microsoft.com/office/drawing/2014/main" id="{B85AE32C-2F96-2165-9B79-51CB2B5D4755}"/>
              </a:ext>
            </a:extLst>
          </p:cNvPr>
          <p:cNvSpPr>
            <a:spLocks noGrp="1" noChangeArrowheads="1"/>
          </p:cNvSpPr>
          <p:nvPr>
            <p:ph idx="1"/>
          </p:nvPr>
        </p:nvSpPr>
        <p:spPr bwMode="auto">
          <a:xfrm>
            <a:off x="838200" y="1985362"/>
            <a:ext cx="102870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Accept multiple parameters (including optional ones with default values)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Return values using the Return Statement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Contain docstrings (like the comment in triple quotes above) to document what they do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Process any type of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9770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Review the following questions that will be discussed in the tutorial session.</a:t>
            </a:r>
            <a:br>
              <a:rPr lang="en-US" altLang="zh-CN" dirty="0"/>
            </a:br>
            <a:endParaRPr lang="zh-CN" altLang="en-US" dirty="0"/>
          </a:p>
        </p:txBody>
      </p:sp>
      <p:sp>
        <p:nvSpPr>
          <p:cNvPr id="3" name="Content Placeholder 2"/>
          <p:cNvSpPr>
            <a:spLocks noGrp="1"/>
          </p:cNvSpPr>
          <p:nvPr>
            <p:ph idx="1"/>
          </p:nvPr>
        </p:nvSpPr>
        <p:spPr/>
        <p:txBody>
          <a:bodyPr>
            <a:normAutofit/>
          </a:bodyPr>
          <a:lstStyle/>
          <a:p>
            <a:r>
              <a:rPr lang="en-US" altLang="zh-CN" sz="5400" dirty="0"/>
              <a:t>Why are functions important in Python?</a:t>
            </a:r>
          </a:p>
          <a:p>
            <a:r>
              <a:rPr lang="en-US" altLang="zh-CN" sz="5400" dirty="0"/>
              <a:t>What does it mean that functions can return any type of object?</a:t>
            </a:r>
            <a:endParaRPr lang="zh-CN" altLang="en-US" sz="5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470480"/>
            <a:ext cx="10515600" cy="1325563"/>
          </a:xfrm>
        </p:spPr>
        <p:txBody>
          <a:bodyPr/>
          <a:lstStyle/>
          <a:p>
            <a:r>
              <a:rPr lang="en-US" altLang="zh-CN" sz="4400" b="1" dirty="0"/>
              <a:t>Why are functions important in Python?</a:t>
            </a:r>
            <a:endParaRPr lang="zh-CN" altLang="en-US" b="1" dirty="0"/>
          </a:p>
        </p:txBody>
      </p:sp>
      <p:pic>
        <p:nvPicPr>
          <p:cNvPr id="5" name="Picture 4">
            <a:extLst>
              <a:ext uri="{FF2B5EF4-FFF2-40B4-BE49-F238E27FC236}">
                <a16:creationId xmlns:a16="http://schemas.microsoft.com/office/drawing/2014/main" id="{42C44179-7339-C969-1924-564003CA4FA2}"/>
              </a:ext>
            </a:extLst>
          </p:cNvPr>
          <p:cNvPicPr>
            <a:picLocks noChangeAspect="1"/>
          </p:cNvPicPr>
          <p:nvPr/>
        </p:nvPicPr>
        <p:blipFill>
          <a:blip r:embed="rId3"/>
          <a:stretch>
            <a:fillRect/>
          </a:stretch>
        </p:blipFill>
        <p:spPr>
          <a:xfrm>
            <a:off x="767080" y="1757212"/>
            <a:ext cx="7751133" cy="33047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A3CF1-FE0D-467E-DC4B-89204968F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7059F-B02F-FE08-A54A-A8679BB6B9A2}"/>
              </a:ext>
            </a:extLst>
          </p:cNvPr>
          <p:cNvSpPr>
            <a:spLocks noGrp="1"/>
          </p:cNvSpPr>
          <p:nvPr>
            <p:ph type="title"/>
          </p:nvPr>
        </p:nvSpPr>
        <p:spPr>
          <a:xfrm>
            <a:off x="767080" y="470480"/>
            <a:ext cx="10515600" cy="1325563"/>
          </a:xfrm>
        </p:spPr>
        <p:txBody>
          <a:bodyPr/>
          <a:lstStyle/>
          <a:p>
            <a:r>
              <a:rPr lang="en-US" altLang="zh-CN" sz="4400" b="1" dirty="0"/>
              <a:t>Why are functions important in Python?</a:t>
            </a:r>
            <a:endParaRPr lang="zh-CN" altLang="en-US" b="1" dirty="0"/>
          </a:p>
        </p:txBody>
      </p:sp>
      <p:pic>
        <p:nvPicPr>
          <p:cNvPr id="4" name="Picture 3">
            <a:extLst>
              <a:ext uri="{FF2B5EF4-FFF2-40B4-BE49-F238E27FC236}">
                <a16:creationId xmlns:a16="http://schemas.microsoft.com/office/drawing/2014/main" id="{B3CCCBB9-51B6-11CA-0465-048FE0884F1A}"/>
              </a:ext>
            </a:extLst>
          </p:cNvPr>
          <p:cNvPicPr>
            <a:picLocks noChangeAspect="1"/>
          </p:cNvPicPr>
          <p:nvPr/>
        </p:nvPicPr>
        <p:blipFill>
          <a:blip r:embed="rId3"/>
          <a:stretch>
            <a:fillRect/>
          </a:stretch>
        </p:blipFill>
        <p:spPr>
          <a:xfrm>
            <a:off x="909319" y="1694551"/>
            <a:ext cx="8686501" cy="4212953"/>
          </a:xfrm>
          <a:prstGeom prst="rect">
            <a:avLst/>
          </a:prstGeom>
        </p:spPr>
      </p:pic>
    </p:spTree>
    <p:extLst>
      <p:ext uri="{BB962C8B-B14F-4D97-AF65-F5344CB8AC3E}">
        <p14:creationId xmlns:p14="http://schemas.microsoft.com/office/powerpoint/2010/main" val="4025059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F684-3358-32CF-AAAF-6677474D8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09072-D976-F242-7684-D73A2FD94B34}"/>
              </a:ext>
            </a:extLst>
          </p:cNvPr>
          <p:cNvSpPr>
            <a:spLocks noGrp="1"/>
          </p:cNvSpPr>
          <p:nvPr>
            <p:ph type="title"/>
          </p:nvPr>
        </p:nvSpPr>
        <p:spPr>
          <a:xfrm>
            <a:off x="767080" y="470480"/>
            <a:ext cx="10515600" cy="1325563"/>
          </a:xfrm>
        </p:spPr>
        <p:txBody>
          <a:bodyPr/>
          <a:lstStyle/>
          <a:p>
            <a:r>
              <a:rPr lang="en-US" altLang="zh-CN" sz="4400" b="1" dirty="0"/>
              <a:t>Why are functions important in Python?</a:t>
            </a:r>
            <a:endParaRPr lang="zh-CN" altLang="en-US" b="1" dirty="0"/>
          </a:p>
        </p:txBody>
      </p:sp>
      <p:pic>
        <p:nvPicPr>
          <p:cNvPr id="5" name="Picture 4">
            <a:extLst>
              <a:ext uri="{FF2B5EF4-FFF2-40B4-BE49-F238E27FC236}">
                <a16:creationId xmlns:a16="http://schemas.microsoft.com/office/drawing/2014/main" id="{7040303B-89EE-EF26-E88D-D505A5EA8F26}"/>
              </a:ext>
            </a:extLst>
          </p:cNvPr>
          <p:cNvPicPr>
            <a:picLocks noChangeAspect="1"/>
          </p:cNvPicPr>
          <p:nvPr/>
        </p:nvPicPr>
        <p:blipFill>
          <a:blip r:embed="rId3"/>
          <a:stretch>
            <a:fillRect/>
          </a:stretch>
        </p:blipFill>
        <p:spPr>
          <a:xfrm>
            <a:off x="909320" y="1547957"/>
            <a:ext cx="8607659" cy="4700427"/>
          </a:xfrm>
          <a:prstGeom prst="rect">
            <a:avLst/>
          </a:prstGeom>
        </p:spPr>
      </p:pic>
    </p:spTree>
    <p:extLst>
      <p:ext uri="{BB962C8B-B14F-4D97-AF65-F5344CB8AC3E}">
        <p14:creationId xmlns:p14="http://schemas.microsoft.com/office/powerpoint/2010/main" val="2415118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400" b="1" dirty="0"/>
              <a:t>What does it mean that functions can return any type of object?</a:t>
            </a:r>
            <a:endParaRPr lang="zh-CN" altLang="en-US" b="1" dirty="0"/>
          </a:p>
        </p:txBody>
      </p:sp>
      <p:sp>
        <p:nvSpPr>
          <p:cNvPr id="3" name="Content Placeholder 2"/>
          <p:cNvSpPr>
            <a:spLocks noGrp="1"/>
          </p:cNvSpPr>
          <p:nvPr>
            <p:ph idx="1"/>
          </p:nvPr>
        </p:nvSpPr>
        <p:spPr>
          <a:xfrm>
            <a:off x="838200" y="1825625"/>
            <a:ext cx="10515600" cy="1603375"/>
          </a:xfrm>
        </p:spPr>
        <p:txBody>
          <a:bodyPr/>
          <a:lstStyle/>
          <a:p>
            <a:pPr marL="0" indent="0">
              <a:buNone/>
            </a:pPr>
            <a:r>
              <a:rPr lang="en-US" altLang="zh-CN" b="1" dirty="0"/>
              <a:t>Primitive Data Types</a:t>
            </a:r>
            <a:r>
              <a:rPr lang="en-US" altLang="zh-CN" dirty="0"/>
              <a:t>:</a:t>
            </a:r>
          </a:p>
          <a:p>
            <a:pPr marL="0" indent="0">
              <a:buNone/>
            </a:pPr>
            <a:r>
              <a:rPr lang="en-US" altLang="zh-CN" dirty="0"/>
              <a:t>A function can return simple data types like integers, floats, strings, or Booleans.</a:t>
            </a:r>
          </a:p>
          <a:p>
            <a:pPr marL="0" indent="0">
              <a:buNone/>
            </a:pPr>
            <a:endParaRPr lang="zh-CN" altLang="en-US" dirty="0"/>
          </a:p>
        </p:txBody>
      </p:sp>
      <p:pic>
        <p:nvPicPr>
          <p:cNvPr id="5" name="Picture 4"/>
          <p:cNvPicPr>
            <a:picLocks noChangeAspect="1"/>
          </p:cNvPicPr>
          <p:nvPr/>
        </p:nvPicPr>
        <p:blipFill>
          <a:blip r:embed="rId3"/>
          <a:stretch>
            <a:fillRect/>
          </a:stretch>
        </p:blipFill>
        <p:spPr>
          <a:xfrm>
            <a:off x="838200" y="3429000"/>
            <a:ext cx="10127647" cy="1603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400" b="1" dirty="0"/>
              <a:t>What does it mean that functions can return any type of object?</a:t>
            </a:r>
            <a:endParaRPr lang="zh-CN" altLang="en-US" b="1" dirty="0"/>
          </a:p>
        </p:txBody>
      </p:sp>
      <p:sp>
        <p:nvSpPr>
          <p:cNvPr id="3" name="Content Placeholder 2"/>
          <p:cNvSpPr>
            <a:spLocks noGrp="1"/>
          </p:cNvSpPr>
          <p:nvPr>
            <p:ph idx="1"/>
          </p:nvPr>
        </p:nvSpPr>
        <p:spPr>
          <a:xfrm>
            <a:off x="838200" y="1825625"/>
            <a:ext cx="10515600" cy="1603375"/>
          </a:xfrm>
        </p:spPr>
        <p:txBody>
          <a:bodyPr/>
          <a:lstStyle/>
          <a:p>
            <a:pPr marL="0" indent="0">
              <a:buNone/>
            </a:pPr>
            <a:r>
              <a:rPr lang="en-US" altLang="zh-CN" b="1" dirty="0"/>
              <a:t>Collections</a:t>
            </a:r>
            <a:r>
              <a:rPr lang="en-US" altLang="zh-CN" dirty="0"/>
              <a:t>:</a:t>
            </a:r>
          </a:p>
          <a:p>
            <a:pPr marL="0" indent="0">
              <a:buNone/>
            </a:pPr>
            <a:r>
              <a:rPr lang="en-US" altLang="zh-CN" dirty="0"/>
              <a:t>A function can return more complex data structures, such as lists, dictionaries, tuples, or sets.</a:t>
            </a:r>
          </a:p>
          <a:p>
            <a:pPr marL="0" indent="0">
              <a:buNone/>
            </a:pPr>
            <a:endParaRPr lang="zh-CN" altLang="en-US" dirty="0"/>
          </a:p>
        </p:txBody>
      </p:sp>
      <p:pic>
        <p:nvPicPr>
          <p:cNvPr id="6" name="Picture 5"/>
          <p:cNvPicPr>
            <a:picLocks noChangeAspect="1"/>
          </p:cNvPicPr>
          <p:nvPr/>
        </p:nvPicPr>
        <p:blipFill>
          <a:blip r:embed="rId3"/>
          <a:stretch>
            <a:fillRect/>
          </a:stretch>
        </p:blipFill>
        <p:spPr>
          <a:xfrm>
            <a:off x="949007" y="3436937"/>
            <a:ext cx="9326674" cy="16033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400" b="1" dirty="0"/>
              <a:t>What does it mean that functions can return any type of object?</a:t>
            </a:r>
            <a:endParaRPr lang="zh-CN" altLang="en-US" b="1" dirty="0"/>
          </a:p>
        </p:txBody>
      </p:sp>
      <p:sp>
        <p:nvSpPr>
          <p:cNvPr id="3" name="Content Placeholder 2"/>
          <p:cNvSpPr>
            <a:spLocks noGrp="1"/>
          </p:cNvSpPr>
          <p:nvPr>
            <p:ph idx="1"/>
          </p:nvPr>
        </p:nvSpPr>
        <p:spPr>
          <a:xfrm>
            <a:off x="838200" y="1825625"/>
            <a:ext cx="10515600" cy="1603375"/>
          </a:xfrm>
        </p:spPr>
        <p:txBody>
          <a:bodyPr>
            <a:normAutofit lnSpcReduction="10000"/>
          </a:bodyPr>
          <a:lstStyle/>
          <a:p>
            <a:pPr marL="0" indent="0">
              <a:buNone/>
            </a:pPr>
            <a:r>
              <a:rPr lang="en-US" altLang="zh-CN" b="1" dirty="0"/>
              <a:t>None:</a:t>
            </a:r>
          </a:p>
          <a:p>
            <a:pPr marL="0" indent="0">
              <a:buNone/>
            </a:pPr>
            <a:r>
              <a:rPr lang="en-US" altLang="zh-CN" dirty="0"/>
              <a:t>A function can return None, which is a special Python value that represents the absence of a value. This is common when the function performs an action but doesn't need to return a result.</a:t>
            </a:r>
            <a:endParaRPr lang="zh-CN" altLang="en-US" dirty="0"/>
          </a:p>
        </p:txBody>
      </p:sp>
      <p:pic>
        <p:nvPicPr>
          <p:cNvPr id="7" name="Picture 6"/>
          <p:cNvPicPr>
            <a:picLocks noChangeAspect="1"/>
          </p:cNvPicPr>
          <p:nvPr/>
        </p:nvPicPr>
        <p:blipFill>
          <a:blip r:embed="rId3"/>
          <a:stretch>
            <a:fillRect/>
          </a:stretch>
        </p:blipFill>
        <p:spPr>
          <a:xfrm>
            <a:off x="868679" y="3563937"/>
            <a:ext cx="10462427" cy="16033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F008B-667E-5180-4E89-2BDECB0EFB8C}"/>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9A10C078-8C91-FE6A-C6D4-4FC3D36BB9E3}"/>
              </a:ext>
            </a:extLst>
          </p:cNvPr>
          <p:cNvSpPr>
            <a:spLocks noGrp="1"/>
          </p:cNvSpPr>
          <p:nvPr>
            <p:ph idx="1"/>
          </p:nvPr>
        </p:nvSpPr>
        <p:spPr/>
        <p:txBody>
          <a:bodyPr/>
          <a:lstStyle/>
          <a:p>
            <a:endParaRPr lang="en-AU"/>
          </a:p>
        </p:txBody>
      </p:sp>
      <p:pic>
        <p:nvPicPr>
          <p:cNvPr id="5" name="Picture 4">
            <a:extLst>
              <a:ext uri="{FF2B5EF4-FFF2-40B4-BE49-F238E27FC236}">
                <a16:creationId xmlns:a16="http://schemas.microsoft.com/office/drawing/2014/main" id="{5768324C-7845-9292-915D-07410CABD240}"/>
              </a:ext>
            </a:extLst>
          </p:cNvPr>
          <p:cNvPicPr>
            <a:picLocks noChangeAspect="1"/>
          </p:cNvPicPr>
          <p:nvPr/>
        </p:nvPicPr>
        <p:blipFill>
          <a:blip r:embed="rId2"/>
          <a:stretch>
            <a:fillRect/>
          </a:stretch>
        </p:blipFill>
        <p:spPr>
          <a:xfrm>
            <a:off x="838199" y="1690688"/>
            <a:ext cx="10842219" cy="3482891"/>
          </a:xfrm>
          <a:prstGeom prst="rect">
            <a:avLst/>
          </a:prstGeom>
        </p:spPr>
      </p:pic>
    </p:spTree>
    <p:extLst>
      <p:ext uri="{BB962C8B-B14F-4D97-AF65-F5344CB8AC3E}">
        <p14:creationId xmlns:p14="http://schemas.microsoft.com/office/powerpoint/2010/main" val="1046352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idx="1"/>
          </p:nvPr>
        </p:nvSpPr>
        <p:spPr>
          <a:xfrm>
            <a:off x="3745148" y="3070225"/>
            <a:ext cx="7608651" cy="3106738"/>
          </a:xfrm>
        </p:spPr>
        <p:txBody>
          <a:bodyPr/>
          <a:lstStyle/>
          <a:p>
            <a:r>
              <a:rPr lang="en-US" altLang="zh-CN" dirty="0"/>
              <a:t>The ceil() function is used to round numbers up to the nearest integer.</a:t>
            </a:r>
            <a:endParaRPr lang="zh-CN" altLang="en-US" dirty="0"/>
          </a:p>
        </p:txBody>
      </p:sp>
      <p:pic>
        <p:nvPicPr>
          <p:cNvPr id="5" name="Picture 4"/>
          <p:cNvPicPr>
            <a:picLocks noChangeAspect="1"/>
          </p:cNvPicPr>
          <p:nvPr/>
        </p:nvPicPr>
        <p:blipFill>
          <a:blip r:embed="rId2"/>
          <a:stretch>
            <a:fillRect/>
          </a:stretch>
        </p:blipFill>
        <p:spPr>
          <a:xfrm>
            <a:off x="0" y="0"/>
            <a:ext cx="11982450" cy="2705100"/>
          </a:xfrm>
          <a:prstGeom prst="rect">
            <a:avLst/>
          </a:prstGeom>
        </p:spPr>
      </p:pic>
      <p:sp>
        <p:nvSpPr>
          <p:cNvPr id="6" name="Oval 5"/>
          <p:cNvSpPr/>
          <p:nvPr/>
        </p:nvSpPr>
        <p:spPr>
          <a:xfrm>
            <a:off x="8385243" y="1916349"/>
            <a:ext cx="505838" cy="359923"/>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1</a:t>
            </a:r>
            <a:endParaRPr lang="zh-CN" alt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altLang="zh-CN" dirty="0"/>
              <a:t>def main():</a:t>
            </a:r>
          </a:p>
          <a:p>
            <a:pPr marL="0" indent="0">
              <a:buNone/>
            </a:pPr>
            <a:r>
              <a:rPr lang="en-US" altLang="zh-CN" dirty="0"/>
              <a:t>    ## Calculate the original cost of mailing an airmail letter.</a:t>
            </a:r>
          </a:p>
          <a:p>
            <a:pPr marL="0" indent="0">
              <a:buNone/>
            </a:pPr>
            <a:r>
              <a:rPr lang="en-US" altLang="zh-CN" dirty="0"/>
              <a:t>    weight </a:t>
            </a:r>
            <a:r>
              <a:rPr lang="en-US" altLang="zh-CN" dirty="0">
                <a:solidFill>
                  <a:srgbClr val="FF0000"/>
                </a:solidFill>
              </a:rPr>
              <a:t>= float</a:t>
            </a:r>
            <a:r>
              <a:rPr lang="en-US" altLang="zh-CN" dirty="0"/>
              <a:t>(input("Enter the number of ounces: "))</a:t>
            </a:r>
          </a:p>
          <a:p>
            <a:pPr marL="0" indent="0">
              <a:buNone/>
            </a:pPr>
            <a:r>
              <a:rPr lang="en-US" altLang="zh-CN" dirty="0"/>
              <a:t>    print("Cost: ${0:0,.2f}".format(cost(weight)))</a:t>
            </a:r>
          </a:p>
          <a:p>
            <a:pPr marL="0" indent="0">
              <a:buNone/>
            </a:pPr>
            <a:endParaRPr lang="en-US" altLang="zh-CN" dirty="0"/>
          </a:p>
          <a:p>
            <a:pPr marL="0" indent="0">
              <a:buNone/>
            </a:pPr>
            <a:r>
              <a:rPr lang="en-US" altLang="zh-CN" dirty="0"/>
              <a:t>def cost(weight):</a:t>
            </a:r>
          </a:p>
          <a:p>
            <a:pPr marL="0" indent="0">
              <a:buNone/>
            </a:pPr>
            <a:r>
              <a:rPr lang="en-US" altLang="zh-CN" dirty="0"/>
              <a:t>    return 0.05 + 0.1 * ceil(weight - 1)</a:t>
            </a:r>
          </a:p>
          <a:p>
            <a:pPr marL="0" indent="0">
              <a:buNone/>
            </a:pPr>
            <a:endParaRPr lang="en-US" altLang="zh-CN" dirty="0"/>
          </a:p>
          <a:p>
            <a:pPr marL="0" indent="0">
              <a:buNone/>
            </a:pPr>
            <a:r>
              <a:rPr lang="en-US" altLang="zh-CN" dirty="0"/>
              <a:t>def ceil(x):</a:t>
            </a:r>
          </a:p>
          <a:p>
            <a:pPr marL="0" indent="0">
              <a:buNone/>
            </a:pPr>
            <a:r>
              <a:rPr lang="en-US" altLang="zh-CN" dirty="0"/>
              <a:t>    if int(x) != x:</a:t>
            </a:r>
          </a:p>
          <a:p>
            <a:pPr marL="0" indent="0">
              <a:buNone/>
            </a:pPr>
            <a:r>
              <a:rPr lang="en-US" altLang="zh-CN" dirty="0"/>
              <a:t>        return int(x + 1)</a:t>
            </a:r>
          </a:p>
          <a:p>
            <a:pPr marL="0" indent="0">
              <a:buNone/>
            </a:pPr>
            <a:r>
              <a:rPr lang="en-US" altLang="zh-CN" dirty="0"/>
              <a:t>    else:</a:t>
            </a:r>
          </a:p>
          <a:p>
            <a:pPr marL="0" indent="0">
              <a:buNone/>
            </a:pPr>
            <a:r>
              <a:rPr lang="en-US" altLang="zh-CN" dirty="0"/>
              <a:t>        return x</a:t>
            </a:r>
          </a:p>
          <a:p>
            <a:pPr marL="0" indent="0">
              <a:buNone/>
            </a:pPr>
            <a:endParaRPr lang="en-US" altLang="zh-CN" dirty="0"/>
          </a:p>
          <a:p>
            <a:pPr marL="0" indent="0">
              <a:buNone/>
            </a:pPr>
            <a:r>
              <a:rPr lang="en-US" altLang="zh-CN" dirty="0"/>
              <a:t>main()</a:t>
            </a:r>
            <a:endParaRPr lang="zh-CN" altLang="en-US" dirty="0"/>
          </a:p>
        </p:txBody>
      </p:sp>
      <p:sp>
        <p:nvSpPr>
          <p:cNvPr id="4" name="Oval 3"/>
          <p:cNvSpPr/>
          <p:nvPr/>
        </p:nvSpPr>
        <p:spPr>
          <a:xfrm>
            <a:off x="379379" y="3852155"/>
            <a:ext cx="2675106" cy="1750978"/>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Oval 7"/>
          <p:cNvSpPr/>
          <p:nvPr/>
        </p:nvSpPr>
        <p:spPr>
          <a:xfrm>
            <a:off x="466928" y="5625131"/>
            <a:ext cx="1588851" cy="70304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 name="Oval 4"/>
          <p:cNvSpPr/>
          <p:nvPr/>
        </p:nvSpPr>
        <p:spPr>
          <a:xfrm>
            <a:off x="466928" y="2951642"/>
            <a:ext cx="3929974" cy="900513"/>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Oval 8"/>
          <p:cNvSpPr/>
          <p:nvPr/>
        </p:nvSpPr>
        <p:spPr>
          <a:xfrm>
            <a:off x="723090" y="1778479"/>
            <a:ext cx="1588851" cy="70304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0" name="Straight Arrow Connector 9"/>
          <p:cNvCxnSpPr/>
          <p:nvPr/>
        </p:nvCxnSpPr>
        <p:spPr>
          <a:xfrm>
            <a:off x="5710136" y="2481528"/>
            <a:ext cx="16147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4481208" y="3425757"/>
            <a:ext cx="16147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3223099" y="4857343"/>
            <a:ext cx="16147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2684834" y="6021421"/>
            <a:ext cx="16147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13028" y="2296862"/>
            <a:ext cx="6093068" cy="369332"/>
          </a:xfrm>
          <a:prstGeom prst="rect">
            <a:avLst/>
          </a:prstGeom>
          <a:noFill/>
        </p:spPr>
        <p:txBody>
          <a:bodyPr wrap="square">
            <a:spAutoFit/>
          </a:bodyPr>
          <a:lstStyle/>
          <a:p>
            <a:r>
              <a:rPr lang="en-US" altLang="zh-CN" b="1" dirty="0"/>
              <a:t>Main Function (main())</a:t>
            </a:r>
          </a:p>
        </p:txBody>
      </p:sp>
      <p:sp>
        <p:nvSpPr>
          <p:cNvPr id="17" name="TextBox 16"/>
          <p:cNvSpPr txBox="1"/>
          <p:nvPr/>
        </p:nvSpPr>
        <p:spPr>
          <a:xfrm>
            <a:off x="6517532" y="3169073"/>
            <a:ext cx="6805246" cy="369332"/>
          </a:xfrm>
          <a:prstGeom prst="rect">
            <a:avLst/>
          </a:prstGeom>
          <a:noFill/>
        </p:spPr>
        <p:txBody>
          <a:bodyPr wrap="square">
            <a:spAutoFit/>
          </a:bodyPr>
          <a:lstStyle/>
          <a:p>
            <a:r>
              <a:rPr lang="en-US" altLang="zh-CN" b="1" dirty="0"/>
              <a:t>Postage Calculation Function (cost())</a:t>
            </a:r>
          </a:p>
        </p:txBody>
      </p:sp>
      <p:sp>
        <p:nvSpPr>
          <p:cNvPr id="19" name="TextBox 18"/>
          <p:cNvSpPr txBox="1"/>
          <p:nvPr/>
        </p:nvSpPr>
        <p:spPr>
          <a:xfrm>
            <a:off x="5288604" y="4656558"/>
            <a:ext cx="6805246" cy="369332"/>
          </a:xfrm>
          <a:prstGeom prst="rect">
            <a:avLst/>
          </a:prstGeom>
          <a:noFill/>
        </p:spPr>
        <p:txBody>
          <a:bodyPr wrap="square">
            <a:spAutoFit/>
          </a:bodyPr>
          <a:lstStyle/>
          <a:p>
            <a:r>
              <a:rPr lang="en-US" altLang="zh-CN" b="1" dirty="0"/>
              <a:t>Ceiling Function (ceil())</a:t>
            </a:r>
          </a:p>
        </p:txBody>
      </p:sp>
      <p:sp>
        <p:nvSpPr>
          <p:cNvPr id="21" name="TextBox 20"/>
          <p:cNvSpPr txBox="1"/>
          <p:nvPr/>
        </p:nvSpPr>
        <p:spPr>
          <a:xfrm>
            <a:off x="4915494" y="5856031"/>
            <a:ext cx="6805246" cy="369332"/>
          </a:xfrm>
          <a:prstGeom prst="rect">
            <a:avLst/>
          </a:prstGeom>
          <a:noFill/>
        </p:spPr>
        <p:txBody>
          <a:bodyPr wrap="square">
            <a:spAutoFit/>
          </a:bodyPr>
          <a:lstStyle/>
          <a:p>
            <a:r>
              <a:rPr lang="en-US" altLang="zh-CN" b="1" dirty="0"/>
              <a:t>Program Execution (Main Program 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Answer 1</a:t>
            </a:r>
            <a:endParaRPr lang="zh-CN" alt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altLang="zh-CN" dirty="0"/>
              <a:t>def main():</a:t>
            </a:r>
          </a:p>
          <a:p>
            <a:pPr marL="0" indent="0">
              <a:buNone/>
            </a:pPr>
            <a:r>
              <a:rPr lang="en-US" altLang="zh-CN" dirty="0"/>
              <a:t>    ## Calculate the original cost of mailing an airmail letter.</a:t>
            </a:r>
          </a:p>
          <a:p>
            <a:pPr marL="0" indent="0">
              <a:buNone/>
            </a:pPr>
            <a:r>
              <a:rPr lang="en-US" altLang="zh-CN" dirty="0"/>
              <a:t>    weight </a:t>
            </a:r>
            <a:r>
              <a:rPr lang="en-US" altLang="zh-CN" dirty="0">
                <a:solidFill>
                  <a:srgbClr val="FF0000"/>
                </a:solidFill>
              </a:rPr>
              <a:t>= float</a:t>
            </a:r>
            <a:r>
              <a:rPr lang="en-US" altLang="zh-CN" dirty="0"/>
              <a:t>(input("Enter the number of ounces: "))</a:t>
            </a:r>
          </a:p>
          <a:p>
            <a:pPr marL="0" indent="0">
              <a:buNone/>
            </a:pPr>
            <a:r>
              <a:rPr lang="en-US" altLang="zh-CN" dirty="0"/>
              <a:t>    print("Cost: ${0:0,.2f}".format(cost(weight)))</a:t>
            </a:r>
          </a:p>
          <a:p>
            <a:pPr marL="0" indent="0">
              <a:buNone/>
            </a:pPr>
            <a:endParaRPr lang="en-US" altLang="zh-CN" dirty="0"/>
          </a:p>
          <a:p>
            <a:pPr marL="0" indent="0">
              <a:buNone/>
            </a:pPr>
            <a:r>
              <a:rPr lang="en-US" altLang="zh-CN" dirty="0"/>
              <a:t>def cost(weight):</a:t>
            </a:r>
          </a:p>
          <a:p>
            <a:pPr marL="0" indent="0">
              <a:buNone/>
            </a:pPr>
            <a:r>
              <a:rPr lang="en-US" altLang="zh-CN" dirty="0"/>
              <a:t>    return 0.05 + 0.1 * ceil(weight - 1)</a:t>
            </a:r>
          </a:p>
          <a:p>
            <a:pPr marL="0" indent="0">
              <a:buNone/>
            </a:pPr>
            <a:endParaRPr lang="en-US" altLang="zh-CN" dirty="0"/>
          </a:p>
          <a:p>
            <a:pPr marL="0" indent="0">
              <a:buNone/>
            </a:pPr>
            <a:r>
              <a:rPr lang="en-US" altLang="zh-CN" dirty="0"/>
              <a:t>def ceil(x):</a:t>
            </a:r>
          </a:p>
          <a:p>
            <a:pPr marL="0" indent="0">
              <a:buNone/>
            </a:pPr>
            <a:r>
              <a:rPr lang="en-US" altLang="zh-CN" dirty="0"/>
              <a:t>    if int(x) != x:</a:t>
            </a:r>
          </a:p>
          <a:p>
            <a:pPr marL="0" indent="0">
              <a:buNone/>
            </a:pPr>
            <a:r>
              <a:rPr lang="en-US" altLang="zh-CN" dirty="0"/>
              <a:t>        return int(x + 1)</a:t>
            </a:r>
          </a:p>
          <a:p>
            <a:pPr marL="0" indent="0">
              <a:buNone/>
            </a:pPr>
            <a:r>
              <a:rPr lang="en-US" altLang="zh-CN" dirty="0"/>
              <a:t>    else:</a:t>
            </a:r>
          </a:p>
          <a:p>
            <a:pPr marL="0" indent="0">
              <a:buNone/>
            </a:pPr>
            <a:r>
              <a:rPr lang="en-US" altLang="zh-CN" dirty="0"/>
              <a:t>        return x</a:t>
            </a:r>
          </a:p>
          <a:p>
            <a:pPr marL="0" indent="0">
              <a:buNone/>
            </a:pPr>
            <a:endParaRPr lang="en-US" altLang="zh-CN" dirty="0"/>
          </a:p>
          <a:p>
            <a:pPr marL="0" indent="0">
              <a:buNone/>
            </a:pPr>
            <a:r>
              <a:rPr lang="en-US" altLang="zh-CN" dirty="0"/>
              <a:t>main()</a:t>
            </a:r>
            <a:endParaRPr lang="zh-CN" altLang="en-US" dirty="0"/>
          </a:p>
        </p:txBody>
      </p:sp>
      <p:sp>
        <p:nvSpPr>
          <p:cNvPr id="4" name="Oval 3"/>
          <p:cNvSpPr/>
          <p:nvPr/>
        </p:nvSpPr>
        <p:spPr>
          <a:xfrm>
            <a:off x="379379" y="3852155"/>
            <a:ext cx="2675106" cy="1750978"/>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6" name="Straight Arrow Connector 5"/>
          <p:cNvCxnSpPr/>
          <p:nvPr/>
        </p:nvCxnSpPr>
        <p:spPr>
          <a:xfrm>
            <a:off x="3677055" y="4708187"/>
            <a:ext cx="16147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26868" y="3852155"/>
            <a:ext cx="4406630" cy="1200329"/>
          </a:xfrm>
          <a:prstGeom prst="rect">
            <a:avLst/>
          </a:prstGeom>
          <a:noFill/>
        </p:spPr>
        <p:txBody>
          <a:bodyPr wrap="square" rtlCol="0">
            <a:spAutoFit/>
          </a:bodyPr>
          <a:lstStyle/>
          <a:p>
            <a:r>
              <a:rPr lang="en-US" altLang="zh-CN" dirty="0"/>
              <a:t>Weight=3.7</a:t>
            </a:r>
          </a:p>
          <a:p>
            <a:r>
              <a:rPr lang="en-US" altLang="zh-CN" dirty="0"/>
              <a:t>X=weight-1= 2.7</a:t>
            </a:r>
          </a:p>
          <a:p>
            <a:r>
              <a:rPr lang="en-US" altLang="zh-CN" dirty="0"/>
              <a:t>Int(2.7) != 2.7</a:t>
            </a:r>
          </a:p>
          <a:p>
            <a:r>
              <a:rPr lang="en-US" altLang="zh-CN" dirty="0"/>
              <a:t>So return int(2.7+1) (=3)</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calcmode="lin" valueType="num">
                                      <p:cBhvr additive="base">
                                        <p:cTn id="1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 calcmode="lin" valueType="num">
                                      <p:cBhvr additive="base">
                                        <p:cTn id="2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idx="1"/>
          </p:nvPr>
        </p:nvSpPr>
        <p:spPr/>
        <p:txBody>
          <a:bodyPr/>
          <a:lstStyle/>
          <a:p>
            <a:endParaRPr lang="zh-CN" altLang="en-US"/>
          </a:p>
        </p:txBody>
      </p:sp>
      <p:pic>
        <p:nvPicPr>
          <p:cNvPr id="5" name="Picture 4"/>
          <p:cNvPicPr>
            <a:picLocks noChangeAspect="1"/>
          </p:cNvPicPr>
          <p:nvPr/>
        </p:nvPicPr>
        <p:blipFill>
          <a:blip r:embed="rId2"/>
          <a:stretch>
            <a:fillRect/>
          </a:stretch>
        </p:blipFill>
        <p:spPr>
          <a:xfrm>
            <a:off x="0" y="12531"/>
            <a:ext cx="12033272" cy="36261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69F3-7F68-8EA3-9986-2826B838138C}"/>
              </a:ext>
            </a:extLst>
          </p:cNvPr>
          <p:cNvSpPr>
            <a:spLocks noGrp="1"/>
          </p:cNvSpPr>
          <p:nvPr>
            <p:ph type="title"/>
          </p:nvPr>
        </p:nvSpPr>
        <p:spPr/>
        <p:txBody>
          <a:bodyPr/>
          <a:lstStyle/>
          <a:p>
            <a:r>
              <a:rPr lang="en-AU" b="1" dirty="0"/>
              <a:t>Stage 1: Pure arithmetic</a:t>
            </a:r>
          </a:p>
        </p:txBody>
      </p:sp>
      <p:sp>
        <p:nvSpPr>
          <p:cNvPr id="3" name="Content Placeholder 2">
            <a:extLst>
              <a:ext uri="{FF2B5EF4-FFF2-40B4-BE49-F238E27FC236}">
                <a16:creationId xmlns:a16="http://schemas.microsoft.com/office/drawing/2014/main" id="{962E9949-D72E-17C2-A031-D71C06C5B76F}"/>
              </a:ext>
            </a:extLst>
          </p:cNvPr>
          <p:cNvSpPr>
            <a:spLocks noGrp="1"/>
          </p:cNvSpPr>
          <p:nvPr>
            <p:ph idx="1"/>
          </p:nvPr>
        </p:nvSpPr>
        <p:spPr/>
        <p:txBody>
          <a:bodyPr/>
          <a:lstStyle/>
          <a:p>
            <a:pPr marL="0" indent="0">
              <a:buNone/>
            </a:pPr>
            <a:r>
              <a:rPr lang="en-US" dirty="0"/>
              <a:t>Old balance = 200</a:t>
            </a:r>
          </a:p>
          <a:p>
            <a:pPr marL="0" indent="0">
              <a:buNone/>
            </a:pPr>
            <a:r>
              <a:rPr lang="en-US" dirty="0"/>
              <a:t>Charges = 150</a:t>
            </a:r>
          </a:p>
          <a:p>
            <a:pPr marL="0" indent="0">
              <a:buNone/>
            </a:pPr>
            <a:r>
              <a:rPr lang="en-US" dirty="0"/>
              <a:t>Credits = 100</a:t>
            </a:r>
          </a:p>
          <a:p>
            <a:pPr marL="0" indent="0">
              <a:buNone/>
            </a:pPr>
            <a:r>
              <a:rPr lang="en-US" b="1" dirty="0"/>
              <a:t>Steps:</a:t>
            </a:r>
          </a:p>
          <a:p>
            <a:pPr marL="0" indent="0">
              <a:buNone/>
            </a:pPr>
            <a:r>
              <a:rPr lang="en-US" dirty="0"/>
              <a:t>Add finance charge → 1.015 × 200 = 203</a:t>
            </a:r>
          </a:p>
          <a:p>
            <a:pPr marL="0" indent="0">
              <a:buNone/>
            </a:pPr>
            <a:r>
              <a:rPr lang="en-US" dirty="0"/>
              <a:t>Add charges → 203 + 150 = 353</a:t>
            </a:r>
          </a:p>
          <a:p>
            <a:pPr marL="0" indent="0">
              <a:buNone/>
            </a:pPr>
            <a:r>
              <a:rPr lang="en-US" dirty="0"/>
              <a:t>Subtract credits → 353 – 100 = 253.00</a:t>
            </a:r>
          </a:p>
          <a:p>
            <a:pPr marL="0" indent="0">
              <a:buNone/>
            </a:pPr>
            <a:r>
              <a:rPr lang="en-US" dirty="0"/>
              <a:t>Minimum payment rule → 20 + 10% × (253 – 20) = 43.30</a:t>
            </a:r>
            <a:endParaRPr lang="en-AU" dirty="0"/>
          </a:p>
        </p:txBody>
      </p:sp>
    </p:spTree>
    <p:extLst>
      <p:ext uri="{BB962C8B-B14F-4D97-AF65-F5344CB8AC3E}">
        <p14:creationId xmlns:p14="http://schemas.microsoft.com/office/powerpoint/2010/main" val="3632412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C24A-24D9-4546-9932-01E7C5B82258}"/>
              </a:ext>
            </a:extLst>
          </p:cNvPr>
          <p:cNvSpPr>
            <a:spLocks noGrp="1"/>
          </p:cNvSpPr>
          <p:nvPr>
            <p:ph type="title"/>
          </p:nvPr>
        </p:nvSpPr>
        <p:spPr/>
        <p:txBody>
          <a:bodyPr/>
          <a:lstStyle/>
          <a:p>
            <a:r>
              <a:rPr lang="en-US" b="1" dirty="0"/>
              <a:t>Stage 2: Sequential Python (no functions)</a:t>
            </a:r>
            <a:endParaRPr lang="en-AU" dirty="0"/>
          </a:p>
        </p:txBody>
      </p:sp>
      <p:pic>
        <p:nvPicPr>
          <p:cNvPr id="5" name="Content Placeholder 4">
            <a:extLst>
              <a:ext uri="{FF2B5EF4-FFF2-40B4-BE49-F238E27FC236}">
                <a16:creationId xmlns:a16="http://schemas.microsoft.com/office/drawing/2014/main" id="{65726E2C-890B-DA67-64CF-C9B58BC00FC9}"/>
              </a:ext>
            </a:extLst>
          </p:cNvPr>
          <p:cNvPicPr>
            <a:picLocks noGrp="1" noChangeAspect="1"/>
          </p:cNvPicPr>
          <p:nvPr>
            <p:ph idx="1"/>
          </p:nvPr>
        </p:nvPicPr>
        <p:blipFill>
          <a:blip r:embed="rId2"/>
          <a:stretch>
            <a:fillRect/>
          </a:stretch>
        </p:blipFill>
        <p:spPr>
          <a:xfrm>
            <a:off x="838200" y="1346193"/>
            <a:ext cx="10431096" cy="5511807"/>
          </a:xfrm>
          <a:prstGeom prst="rect">
            <a:avLst/>
          </a:prstGeom>
        </p:spPr>
      </p:pic>
    </p:spTree>
    <p:extLst>
      <p:ext uri="{BB962C8B-B14F-4D97-AF65-F5344CB8AC3E}">
        <p14:creationId xmlns:p14="http://schemas.microsoft.com/office/powerpoint/2010/main" val="778648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7AD5-09B4-0A1A-D50F-743CD11478A8}"/>
              </a:ext>
            </a:extLst>
          </p:cNvPr>
          <p:cNvSpPr>
            <a:spLocks noGrp="1"/>
          </p:cNvSpPr>
          <p:nvPr>
            <p:ph type="title"/>
          </p:nvPr>
        </p:nvSpPr>
        <p:spPr/>
        <p:txBody>
          <a:bodyPr/>
          <a:lstStyle/>
          <a:p>
            <a:r>
              <a:rPr lang="en-AU" b="1" dirty="0"/>
              <a:t>Stage 3: Introduce functions</a:t>
            </a:r>
          </a:p>
        </p:txBody>
      </p:sp>
      <p:sp>
        <p:nvSpPr>
          <p:cNvPr id="3" name="Content Placeholder 2">
            <a:extLst>
              <a:ext uri="{FF2B5EF4-FFF2-40B4-BE49-F238E27FC236}">
                <a16:creationId xmlns:a16="http://schemas.microsoft.com/office/drawing/2014/main" id="{056F0D65-99C6-7000-0590-132B91D2A30C}"/>
              </a:ext>
            </a:extLst>
          </p:cNvPr>
          <p:cNvSpPr>
            <a:spLocks noGrp="1"/>
          </p:cNvSpPr>
          <p:nvPr>
            <p:ph idx="1"/>
          </p:nvPr>
        </p:nvSpPr>
        <p:spPr/>
        <p:txBody>
          <a:bodyPr/>
          <a:lstStyle/>
          <a:p>
            <a:pPr marL="0" indent="0">
              <a:buNone/>
            </a:pPr>
            <a:r>
              <a:rPr lang="en-US" dirty="0"/>
              <a:t>Functions as </a:t>
            </a:r>
            <a:r>
              <a:rPr lang="en-US" b="1" dirty="0"/>
              <a:t>little machines</a:t>
            </a:r>
            <a:r>
              <a:rPr lang="en-US" dirty="0"/>
              <a:t>:</a:t>
            </a:r>
          </a:p>
          <a:p>
            <a:r>
              <a:rPr lang="en-US" dirty="0"/>
              <a:t>Input machine: asks the user for numbers.</a:t>
            </a:r>
          </a:p>
          <a:p>
            <a:r>
              <a:rPr lang="en-US" dirty="0"/>
              <a:t>Calculation machine: does the math.</a:t>
            </a:r>
          </a:p>
          <a:p>
            <a:r>
              <a:rPr lang="en-US" dirty="0"/>
              <a:t>Output machine: displays results.</a:t>
            </a:r>
          </a:p>
          <a:p>
            <a:pPr marL="0" indent="0">
              <a:buNone/>
            </a:pPr>
            <a:r>
              <a:rPr lang="en-US" dirty="0"/>
              <a:t>This shows why we </a:t>
            </a:r>
            <a:r>
              <a:rPr lang="en-US" i="1" dirty="0"/>
              <a:t>group code</a:t>
            </a:r>
            <a:r>
              <a:rPr lang="en-US" dirty="0"/>
              <a:t> instead of having one long list.</a:t>
            </a:r>
          </a:p>
          <a:p>
            <a:pPr marL="0" indent="0">
              <a:buNone/>
            </a:pPr>
            <a:endParaRPr lang="en-AU" dirty="0"/>
          </a:p>
        </p:txBody>
      </p:sp>
    </p:spTree>
    <p:extLst>
      <p:ext uri="{BB962C8B-B14F-4D97-AF65-F5344CB8AC3E}">
        <p14:creationId xmlns:p14="http://schemas.microsoft.com/office/powerpoint/2010/main" val="3452982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0D83-03E3-7244-03B7-74DB07BBDEF9}"/>
              </a:ext>
            </a:extLst>
          </p:cNvPr>
          <p:cNvSpPr>
            <a:spLocks noGrp="1"/>
          </p:cNvSpPr>
          <p:nvPr>
            <p:ph type="title"/>
          </p:nvPr>
        </p:nvSpPr>
        <p:spPr/>
        <p:txBody>
          <a:bodyPr/>
          <a:lstStyle/>
          <a:p>
            <a:r>
              <a:rPr lang="en-US" b="1" dirty="0"/>
              <a:t>Stage 4: Full structured program</a:t>
            </a:r>
            <a:endParaRPr lang="en-AU" b="1" dirty="0"/>
          </a:p>
        </p:txBody>
      </p:sp>
      <p:sp>
        <p:nvSpPr>
          <p:cNvPr id="3" name="Content Placeholder 2">
            <a:extLst>
              <a:ext uri="{FF2B5EF4-FFF2-40B4-BE49-F238E27FC236}">
                <a16:creationId xmlns:a16="http://schemas.microsoft.com/office/drawing/2014/main" id="{DF2DD070-DD6B-B7BF-F903-FC031C9BC527}"/>
              </a:ext>
            </a:extLst>
          </p:cNvPr>
          <p:cNvSpPr>
            <a:spLocks noGrp="1"/>
          </p:cNvSpPr>
          <p:nvPr>
            <p:ph idx="1"/>
          </p:nvPr>
        </p:nvSpPr>
        <p:spPr/>
        <p:txBody>
          <a:bodyPr/>
          <a:lstStyle/>
          <a:p>
            <a:endParaRPr lang="en-AU" dirty="0"/>
          </a:p>
        </p:txBody>
      </p:sp>
    </p:spTree>
    <p:extLst>
      <p:ext uri="{BB962C8B-B14F-4D97-AF65-F5344CB8AC3E}">
        <p14:creationId xmlns:p14="http://schemas.microsoft.com/office/powerpoint/2010/main" val="155005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8095706" cy="689138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idx="1"/>
          </p:nvPr>
        </p:nvSpPr>
        <p:spPr/>
        <p:txBody>
          <a:bodyPr/>
          <a:lstStyle/>
          <a:p>
            <a:endParaRPr lang="zh-CN" altLang="en-US"/>
          </a:p>
        </p:txBody>
      </p:sp>
      <p:pic>
        <p:nvPicPr>
          <p:cNvPr id="5" name="Picture 4"/>
          <p:cNvPicPr>
            <a:picLocks noChangeAspect="1"/>
          </p:cNvPicPr>
          <p:nvPr/>
        </p:nvPicPr>
        <p:blipFill>
          <a:blip r:embed="rId2"/>
          <a:stretch>
            <a:fillRect/>
          </a:stretch>
        </p:blipFill>
        <p:spPr>
          <a:xfrm>
            <a:off x="0" y="0"/>
            <a:ext cx="12192000" cy="42815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27428"/>
            <a:ext cx="8554720" cy="66033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0" y="237490"/>
            <a:ext cx="11963400" cy="1790700"/>
          </a:xfrm>
          <a:prstGeom prst="rect">
            <a:avLst/>
          </a:prstGeom>
        </p:spPr>
      </p:pic>
      <p:graphicFrame>
        <p:nvGraphicFramePr>
          <p:cNvPr id="4" name="Table 3"/>
          <p:cNvGraphicFramePr>
            <a:graphicFrameLocks noGrp="1"/>
          </p:cNvGraphicFramePr>
          <p:nvPr/>
        </p:nvGraphicFramePr>
        <p:xfrm>
          <a:off x="1066800" y="2245360"/>
          <a:ext cx="9855200" cy="3261361"/>
        </p:xfrm>
        <a:graphic>
          <a:graphicData uri="http://schemas.openxmlformats.org/drawingml/2006/table">
            <a:tbl>
              <a:tblPr firstRow="1" bandRow="1">
                <a:tableStyleId>{9DCAF9ED-07DC-4A11-8D7F-57B35C25682E}</a:tableStyleId>
              </a:tblPr>
              <a:tblGrid>
                <a:gridCol w="4927600">
                  <a:extLst>
                    <a:ext uri="{9D8B030D-6E8A-4147-A177-3AD203B41FA5}">
                      <a16:colId xmlns:a16="http://schemas.microsoft.com/office/drawing/2014/main" val="20000"/>
                    </a:ext>
                  </a:extLst>
                </a:gridCol>
                <a:gridCol w="4927600">
                  <a:extLst>
                    <a:ext uri="{9D8B030D-6E8A-4147-A177-3AD203B41FA5}">
                      <a16:colId xmlns:a16="http://schemas.microsoft.com/office/drawing/2014/main" val="20001"/>
                    </a:ext>
                  </a:extLst>
                </a:gridCol>
              </a:tblGrid>
              <a:tr h="544804">
                <a:tc>
                  <a:txBody>
                    <a:bodyPr/>
                    <a:lstStyle/>
                    <a:p>
                      <a:r>
                        <a:rPr lang="en-US" altLang="zh-CN" dirty="0">
                          <a:ln>
                            <a:solidFill>
                              <a:sysClr val="windowText" lastClr="000000"/>
                            </a:solidFill>
                          </a:ln>
                          <a:solidFill>
                            <a:sysClr val="windowText" lastClr="000000"/>
                          </a:solidFill>
                        </a:rPr>
                        <a:t>Numeric</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ln>
                            <a:solidFill>
                              <a:sysClr val="windowText" lastClr="000000"/>
                            </a:solidFill>
                          </a:ln>
                          <a:solidFill>
                            <a:sysClr val="windowText" lastClr="000000"/>
                          </a:solidFill>
                        </a:rPr>
                        <a:t>Semester grade</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4804">
                <a:tc>
                  <a:txBody>
                    <a:bodyPr/>
                    <a:lstStyle/>
                    <a:p>
                      <a:r>
                        <a:rPr lang="en-US" altLang="zh-CN" dirty="0">
                          <a:ln>
                            <a:solidFill>
                              <a:sysClr val="windowText" lastClr="000000"/>
                            </a:solidFill>
                          </a:ln>
                          <a:solidFill>
                            <a:sysClr val="windowText" lastClr="000000"/>
                          </a:solidFill>
                        </a:rPr>
                        <a:t>&gt;=90</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ln>
                            <a:solidFill>
                              <a:sysClr val="windowText" lastClr="000000"/>
                            </a:solidFill>
                          </a:ln>
                          <a:solidFill>
                            <a:sysClr val="windowText" lastClr="000000"/>
                          </a:solidFill>
                        </a:rPr>
                        <a:t>A</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44804">
                <a:tc>
                  <a:txBody>
                    <a:bodyPr/>
                    <a:lstStyle/>
                    <a:p>
                      <a:r>
                        <a:rPr lang="en-US" altLang="zh-CN" dirty="0">
                          <a:ln>
                            <a:solidFill>
                              <a:sysClr val="windowText" lastClr="000000"/>
                            </a:solidFill>
                          </a:ln>
                          <a:solidFill>
                            <a:sysClr val="windowText" lastClr="000000"/>
                          </a:solidFill>
                        </a:rPr>
                        <a:t>80&lt;= x &lt;90</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ln>
                            <a:solidFill>
                              <a:sysClr val="windowText" lastClr="000000"/>
                            </a:solidFill>
                          </a:ln>
                          <a:solidFill>
                            <a:sysClr val="windowText" lastClr="000000"/>
                          </a:solidFill>
                        </a:rPr>
                        <a:t>B</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44804">
                <a:tc>
                  <a:txBody>
                    <a:bodyPr/>
                    <a:lstStyle/>
                    <a:p>
                      <a:r>
                        <a:rPr lang="en-US" altLang="zh-CN" dirty="0">
                          <a:ln>
                            <a:solidFill>
                              <a:sysClr val="windowText" lastClr="000000"/>
                            </a:solidFill>
                          </a:ln>
                          <a:solidFill>
                            <a:sysClr val="windowText" lastClr="000000"/>
                          </a:solidFill>
                        </a:rPr>
                        <a:t>70&lt;=x&lt;80</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ln>
                            <a:solidFill>
                              <a:sysClr val="windowText" lastClr="000000"/>
                            </a:solidFill>
                          </a:ln>
                          <a:solidFill>
                            <a:sysClr val="windowText" lastClr="000000"/>
                          </a:solidFill>
                        </a:rPr>
                        <a:t>C</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44804">
                <a:tc>
                  <a:txBody>
                    <a:bodyPr/>
                    <a:lstStyle/>
                    <a:p>
                      <a:r>
                        <a:rPr lang="en-US" altLang="zh-CN" dirty="0">
                          <a:ln>
                            <a:solidFill>
                              <a:sysClr val="windowText" lastClr="000000"/>
                            </a:solidFill>
                          </a:ln>
                          <a:solidFill>
                            <a:sysClr val="windowText" lastClr="000000"/>
                          </a:solidFill>
                        </a:rPr>
                        <a:t>60&lt;=x&lt;70</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ln>
                            <a:solidFill>
                              <a:sysClr val="windowText" lastClr="000000"/>
                            </a:solidFill>
                          </a:ln>
                          <a:solidFill>
                            <a:sysClr val="windowText" lastClr="000000"/>
                          </a:solidFill>
                        </a:rPr>
                        <a:t>D</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37341">
                <a:tc>
                  <a:txBody>
                    <a:bodyPr/>
                    <a:lstStyle/>
                    <a:p>
                      <a:r>
                        <a:rPr lang="en-US" altLang="zh-CN" dirty="0">
                          <a:ln>
                            <a:solidFill>
                              <a:sysClr val="windowText" lastClr="000000"/>
                            </a:solidFill>
                          </a:ln>
                          <a:solidFill>
                            <a:sysClr val="windowText" lastClr="000000"/>
                          </a:solidFill>
                        </a:rPr>
                        <a:t>&gt;60</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dirty="0">
                          <a:ln>
                            <a:solidFill>
                              <a:sysClr val="windowText" lastClr="000000"/>
                            </a:solidFill>
                          </a:ln>
                          <a:solidFill>
                            <a:sysClr val="windowText" lastClr="000000"/>
                          </a:solidFill>
                        </a:rPr>
                        <a:t>F</a:t>
                      </a:r>
                      <a:endParaRPr lang="zh-CN" altLang="en-US" dirty="0">
                        <a:ln>
                          <a:solidFill>
                            <a:sysClr val="windowText" lastClr="000000"/>
                          </a:solidFill>
                        </a:ln>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0" y="0"/>
            <a:ext cx="6461760" cy="69364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b="1" i="0" dirty="0">
                <a:solidFill>
                  <a:srgbClr val="212121"/>
                </a:solidFill>
                <a:effectLst/>
                <a:latin typeface="Lato Extended"/>
              </a:rPr>
              <a:t>Review</a:t>
            </a:r>
            <a:r>
              <a:rPr lang="en-US" altLang="zh-CN" b="0" i="0" dirty="0">
                <a:solidFill>
                  <a:srgbClr val="212121"/>
                </a:solidFill>
                <a:effectLst/>
                <a:latin typeface="Lato Extended"/>
              </a:rPr>
              <a:t> the following questions that will be discussed in the tutorial session.</a:t>
            </a:r>
            <a:endParaRPr lang="zh-CN" altLang="en-US" dirty="0"/>
          </a:p>
        </p:txBody>
      </p:sp>
      <p:sp>
        <p:nvSpPr>
          <p:cNvPr id="3" name="Content Placeholder 2"/>
          <p:cNvSpPr>
            <a:spLocks noGrp="1"/>
          </p:cNvSpPr>
          <p:nvPr>
            <p:ph idx="1"/>
          </p:nvPr>
        </p:nvSpPr>
        <p:spPr/>
        <p:txBody>
          <a:bodyPr/>
          <a:lstStyle/>
          <a:p>
            <a:pPr algn="l">
              <a:buFont typeface="Arial" panose="020B0604020202020204" pitchFamily="34" charset="0"/>
              <a:buChar char="•"/>
            </a:pPr>
            <a:r>
              <a:rPr lang="en-US" altLang="zh-CN" b="0" i="0" dirty="0">
                <a:solidFill>
                  <a:srgbClr val="212121"/>
                </a:solidFill>
                <a:effectLst/>
                <a:latin typeface="Lato Extended"/>
              </a:rPr>
              <a:t>How do you sort items in a list?</a:t>
            </a:r>
          </a:p>
          <a:p>
            <a:pPr algn="l">
              <a:buFont typeface="Arial" panose="020B0604020202020204" pitchFamily="34" charset="0"/>
              <a:buChar char="•"/>
            </a:pPr>
            <a:r>
              <a:rPr lang="en-US" altLang="zh-CN" b="0" i="0" dirty="0">
                <a:solidFill>
                  <a:srgbClr val="212121"/>
                </a:solidFill>
                <a:effectLst/>
                <a:latin typeface="Lato Extended"/>
              </a:rPr>
              <a:t>What is the function that sorts items in a list?</a:t>
            </a:r>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i="0" dirty="0">
                <a:solidFill>
                  <a:srgbClr val="212121"/>
                </a:solidFill>
                <a:effectLst/>
                <a:latin typeface="Lato Extended"/>
              </a:rPr>
              <a:t>How do you sort items in a list?</a:t>
            </a:r>
            <a:endParaRPr lang="zh-CN" altLang="en-US" dirty="0"/>
          </a:p>
        </p:txBody>
      </p:sp>
      <p:sp>
        <p:nvSpPr>
          <p:cNvPr id="3" name="Content Placeholder 2"/>
          <p:cNvSpPr>
            <a:spLocks noGrp="1"/>
          </p:cNvSpPr>
          <p:nvPr>
            <p:ph idx="1"/>
          </p:nvPr>
        </p:nvSpPr>
        <p:spPr>
          <a:xfrm>
            <a:off x="838200" y="1825625"/>
            <a:ext cx="10515600" cy="1730375"/>
          </a:xfrm>
        </p:spPr>
        <p:txBody>
          <a:bodyPr>
            <a:normAutofit fontScale="77500" lnSpcReduction="20000"/>
          </a:bodyPr>
          <a:lstStyle/>
          <a:p>
            <a:pPr marL="514350" indent="-514350">
              <a:buAutoNum type="arabicPeriod"/>
            </a:pPr>
            <a:r>
              <a:rPr lang="en-US" altLang="zh-CN" b="1" dirty="0"/>
              <a:t>Using sort() Method (In-place Sorting)</a:t>
            </a:r>
          </a:p>
          <a:p>
            <a:pPr marL="0" indent="0">
              <a:buNone/>
            </a:pPr>
            <a:r>
              <a:rPr lang="en-US" altLang="zh-CN" dirty="0"/>
              <a:t>The sort() method sorts the list in place, meaning the original list is modified and no new list is created. It only works on lists.</a:t>
            </a:r>
          </a:p>
          <a:p>
            <a:pPr marL="0" indent="0">
              <a:buNone/>
            </a:pPr>
            <a:endParaRPr lang="en-US" altLang="zh-CN" dirty="0"/>
          </a:p>
          <a:p>
            <a:pPr marL="0" indent="0">
              <a:buNone/>
            </a:pPr>
            <a:r>
              <a:rPr lang="en-US" altLang="zh-CN" b="1" dirty="0" err="1">
                <a:solidFill>
                  <a:schemeClr val="accent1"/>
                </a:solidFill>
              </a:rPr>
              <a:t>list.sort</a:t>
            </a:r>
            <a:r>
              <a:rPr lang="en-US" altLang="zh-CN" b="1" dirty="0">
                <a:solidFill>
                  <a:schemeClr val="accent1"/>
                </a:solidFill>
              </a:rPr>
              <a:t>(reverse=False, key=None)</a:t>
            </a:r>
          </a:p>
          <a:p>
            <a:pPr marL="0" indent="0">
              <a:buNone/>
            </a:pPr>
            <a:endParaRPr lang="zh-CN" altLang="en-US" dirty="0"/>
          </a:p>
        </p:txBody>
      </p:sp>
      <p:pic>
        <p:nvPicPr>
          <p:cNvPr id="6" name="Picture 5"/>
          <p:cNvPicPr>
            <a:picLocks noChangeAspect="1"/>
          </p:cNvPicPr>
          <p:nvPr/>
        </p:nvPicPr>
        <p:blipFill>
          <a:blip r:embed="rId3"/>
          <a:stretch>
            <a:fillRect/>
          </a:stretch>
        </p:blipFill>
        <p:spPr>
          <a:xfrm>
            <a:off x="0" y="3556000"/>
            <a:ext cx="6164052" cy="2712720"/>
          </a:xfrm>
          <a:prstGeom prst="rect">
            <a:avLst/>
          </a:prstGeom>
        </p:spPr>
      </p:pic>
      <p:pic>
        <p:nvPicPr>
          <p:cNvPr id="8" name="Picture 7"/>
          <p:cNvPicPr>
            <a:picLocks noChangeAspect="1"/>
          </p:cNvPicPr>
          <p:nvPr/>
        </p:nvPicPr>
        <p:blipFill>
          <a:blip r:embed="rId4"/>
          <a:stretch>
            <a:fillRect/>
          </a:stretch>
        </p:blipFill>
        <p:spPr>
          <a:xfrm>
            <a:off x="6674377" y="3556000"/>
            <a:ext cx="6061075" cy="1168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b="0" i="0" dirty="0">
                <a:solidFill>
                  <a:srgbClr val="212121"/>
                </a:solidFill>
                <a:effectLst/>
                <a:latin typeface="Lato Extended"/>
              </a:rPr>
              <a:t>How do you sort items in a list?/ </a:t>
            </a:r>
            <a:r>
              <a:rPr lang="en-US" altLang="zh-CN" dirty="0">
                <a:solidFill>
                  <a:srgbClr val="212121"/>
                </a:solidFill>
                <a:latin typeface="Lato Extended"/>
              </a:rPr>
              <a:t>What is the function that sorts items in a list?</a:t>
            </a:r>
            <a:endParaRPr lang="zh-CN" altLang="en-US" dirty="0"/>
          </a:p>
        </p:txBody>
      </p:sp>
      <p:sp>
        <p:nvSpPr>
          <p:cNvPr id="3" name="Content Placeholder 2"/>
          <p:cNvSpPr>
            <a:spLocks noGrp="1"/>
          </p:cNvSpPr>
          <p:nvPr>
            <p:ph idx="1"/>
          </p:nvPr>
        </p:nvSpPr>
        <p:spPr>
          <a:xfrm>
            <a:off x="838200" y="1825625"/>
            <a:ext cx="10515600" cy="1730375"/>
          </a:xfrm>
        </p:spPr>
        <p:txBody>
          <a:bodyPr>
            <a:normAutofit fontScale="92500" lnSpcReduction="10000"/>
          </a:bodyPr>
          <a:lstStyle/>
          <a:p>
            <a:pPr marL="0" indent="0">
              <a:buNone/>
            </a:pPr>
            <a:r>
              <a:rPr lang="en-US" altLang="zh-CN" b="1" dirty="0"/>
              <a:t>2. Using sorted() Function (Returns a New List)</a:t>
            </a:r>
          </a:p>
          <a:p>
            <a:pPr marL="0" indent="0">
              <a:buNone/>
            </a:pPr>
            <a:r>
              <a:rPr lang="en-US" altLang="zh-CN" dirty="0"/>
              <a:t>The sorted() function returns a new list while leaving the original list unchanged. This function works on any </a:t>
            </a:r>
            <a:r>
              <a:rPr lang="en-US" altLang="zh-CN" dirty="0" err="1"/>
              <a:t>iterable</a:t>
            </a:r>
            <a:r>
              <a:rPr lang="en-US" altLang="zh-CN" dirty="0"/>
              <a:t>, not just lists.</a:t>
            </a:r>
          </a:p>
          <a:p>
            <a:pPr marL="0" indent="0">
              <a:buNone/>
            </a:pPr>
            <a:r>
              <a:rPr lang="en-US" altLang="zh-CN" b="1" dirty="0">
                <a:solidFill>
                  <a:schemeClr val="accent1"/>
                </a:solidFill>
              </a:rPr>
              <a:t>sorted(</a:t>
            </a:r>
            <a:r>
              <a:rPr lang="en-US" altLang="zh-CN" b="1" dirty="0" err="1">
                <a:solidFill>
                  <a:schemeClr val="accent1"/>
                </a:solidFill>
              </a:rPr>
              <a:t>iterable</a:t>
            </a:r>
            <a:r>
              <a:rPr lang="en-US" altLang="zh-CN" b="1" dirty="0">
                <a:solidFill>
                  <a:schemeClr val="accent1"/>
                </a:solidFill>
              </a:rPr>
              <a:t>, reverse=False, key=None)</a:t>
            </a:r>
            <a:endParaRPr lang="zh-CN" altLang="en-US" dirty="0"/>
          </a:p>
        </p:txBody>
      </p:sp>
      <p:pic>
        <p:nvPicPr>
          <p:cNvPr id="7" name="Picture 6"/>
          <p:cNvPicPr>
            <a:picLocks noChangeAspect="1"/>
          </p:cNvPicPr>
          <p:nvPr/>
        </p:nvPicPr>
        <p:blipFill>
          <a:blip r:embed="rId3"/>
          <a:stretch>
            <a:fillRect/>
          </a:stretch>
        </p:blipFill>
        <p:spPr>
          <a:xfrm>
            <a:off x="933132" y="3556000"/>
            <a:ext cx="9596438" cy="3302000"/>
          </a:xfrm>
          <a:prstGeom prst="rect">
            <a:avLst/>
          </a:prstGeom>
        </p:spPr>
      </p:pic>
      <p:sp>
        <p:nvSpPr>
          <p:cNvPr id="10" name="Title 1"/>
          <p:cNvSpPr txBox="1"/>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802640"/>
            <a:ext cx="12023875" cy="277399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 y="0"/>
            <a:ext cx="12050115" cy="582168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Q0NTA0NGIxOGE3NDJjMGM2MTdhZThkZTg0MWRiMz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1D73CF209A902448F3E9B50C9140ECE" ma:contentTypeVersion="11" ma:contentTypeDescription="Create a new document." ma:contentTypeScope="" ma:versionID="cf2a51fa9c252ad8fc70b487bc30a82d">
  <xsd:schema xmlns:xsd="http://www.w3.org/2001/XMLSchema" xmlns:xs="http://www.w3.org/2001/XMLSchema" xmlns:p="http://schemas.microsoft.com/office/2006/metadata/properties" xmlns:ns3="6c05d030-85c3-47ca-ac4e-acb07e2fe7bc" targetNamespace="http://schemas.microsoft.com/office/2006/metadata/properties" ma:root="true" ma:fieldsID="9fd302fc06ccfe1ec6c1e49ebc446c79" ns3:_="">
    <xsd:import namespace="6c05d030-85c3-47ca-ac4e-acb07e2fe7bc"/>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05d030-85c3-47ca-ac4e-acb07e2fe7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c05d030-85c3-47ca-ac4e-acb07e2fe7bc" xsi:nil="true"/>
  </documentManagement>
</p:properties>
</file>

<file path=customXml/itemProps1.xml><?xml version="1.0" encoding="utf-8"?>
<ds:datastoreItem xmlns:ds="http://schemas.openxmlformats.org/officeDocument/2006/customXml" ds:itemID="{A7854AE2-19C5-40D5-BCEF-363B0FEAFE3E}">
  <ds:schemaRefs>
    <ds:schemaRef ds:uri="http://schemas.microsoft.com/sharepoint/v3/contenttype/forms"/>
  </ds:schemaRefs>
</ds:datastoreItem>
</file>

<file path=customXml/itemProps2.xml><?xml version="1.0" encoding="utf-8"?>
<ds:datastoreItem xmlns:ds="http://schemas.openxmlformats.org/officeDocument/2006/customXml" ds:itemID="{04068AF9-4A4E-4B9B-8CF3-63581ACB9D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05d030-85c3-47ca-ac4e-acb07e2fe7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C28F576-C98B-4EDC-A849-5605AC64081F}">
  <ds:schemaRefs>
    <ds:schemaRef ds:uri="http://schemas.microsoft.com/office/infopath/2007/PartnerControls"/>
    <ds:schemaRef ds:uri="http://purl.org/dc/dcmitype/"/>
    <ds:schemaRef ds:uri="http://www.w3.org/XML/1998/namespace"/>
    <ds:schemaRef ds:uri="http://schemas.microsoft.com/office/2006/documentManagement/types"/>
    <ds:schemaRef ds:uri="http://schemas.microsoft.com/office/2006/metadata/properties"/>
    <ds:schemaRef ds:uri="6c05d030-85c3-47ca-ac4e-acb07e2fe7bc"/>
    <ds:schemaRef ds:uri="http://schemas.openxmlformats.org/package/2006/metadata/core-properties"/>
    <ds:schemaRef ds:uri="http://purl.org/dc/elements/1.1/"/>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417</TotalTime>
  <Words>2236</Words>
  <Application>Microsoft Office PowerPoint</Application>
  <PresentationFormat>Widescreen</PresentationFormat>
  <Paragraphs>168</Paragraphs>
  <Slides>29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等线</vt:lpstr>
      <vt:lpstr>等线 Light</vt:lpstr>
      <vt:lpstr>Lato Extended</vt:lpstr>
      <vt:lpstr>Arial</vt:lpstr>
      <vt:lpstr>Office Theme</vt:lpstr>
      <vt:lpstr>Welcome to Week 6</vt:lpstr>
      <vt:lpstr>Function</vt:lpstr>
      <vt:lpstr>Functions can:</vt:lpstr>
      <vt:lpstr>Review the following questions that will be discussed in the tutorial session. </vt:lpstr>
      <vt:lpstr>Why are functions important in Python?</vt:lpstr>
      <vt:lpstr>Why are functions important in Python?</vt:lpstr>
      <vt:lpstr>Why are functions important in Python?</vt:lpstr>
      <vt:lpstr>What does it mean that functions can return any type of object?</vt:lpstr>
      <vt:lpstr>What does it mean that functions can return any type of object?</vt:lpstr>
      <vt:lpstr>What does it mean that functions can return any type of object?</vt:lpstr>
      <vt:lpstr>PowerPoint Presentation</vt:lpstr>
      <vt:lpstr>PowerPoint Presentation</vt:lpstr>
      <vt:lpstr>Answer 1</vt:lpstr>
      <vt:lpstr>Answer 1</vt:lpstr>
      <vt:lpstr>PowerPoint Presentation</vt:lpstr>
      <vt:lpstr>Stage 1: Pure arithmetic</vt:lpstr>
      <vt:lpstr>Stage 2: Sequential Python (no functions)</vt:lpstr>
      <vt:lpstr>Stage 3: Introduce functions</vt:lpstr>
      <vt:lpstr>Stage 4: Full structured program</vt:lpstr>
      <vt:lpstr>PowerPoint Presentation</vt:lpstr>
      <vt:lpstr>PowerPoint Presentation</vt:lpstr>
      <vt:lpstr>PowerPoint Presentation</vt:lpstr>
      <vt:lpstr>PowerPoint Presentation</vt:lpstr>
      <vt:lpstr>PowerPoint Presentation</vt:lpstr>
      <vt:lpstr>Review the following questions that will be discussed in the tutorial session.</vt:lpstr>
      <vt:lpstr>How do you sort items in a list?</vt:lpstr>
      <vt:lpstr>How do you sort items in a list?/ What is the function that sorts items in a list?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Yue.Peng</dc:creator>
  <cp:lastModifiedBy>Elane.Peng</cp:lastModifiedBy>
  <cp:revision>9</cp:revision>
  <dcterms:created xsi:type="dcterms:W3CDTF">2024-09-10T04:43:00Z</dcterms:created>
  <dcterms:modified xsi:type="dcterms:W3CDTF">2025-09-05T04:20:30Z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9FF0A109F53842C2A6FAFC5A3F613E32_12</vt:lpwstr>
  </property>
  <property fmtid="{D5CDD505-2E9C-101B-9397-08002B2CF9AE}" pid="3" name="KSOProductBuildVer">
    <vt:lpwstr>2052-12.1.0.18240</vt:lpwstr>
  </property>
  <property fmtid="{D5CDD505-2E9C-101B-9397-08002B2CF9AE}" pid="4" name="MSIP_Label_bf6fef03-d487-4433-8e43-6b81c0a1b7be_Enabled">
    <vt:lpwstr>true</vt:lpwstr>
  </property>
  <property fmtid="{D5CDD505-2E9C-101B-9397-08002B2CF9AE}" pid="5" name="MSIP_Label_bf6fef03-d487-4433-8e43-6b81c0a1b7be_SetDate">
    <vt:lpwstr>2025-04-09T05:25:31Z</vt:lpwstr>
  </property>
  <property fmtid="{D5CDD505-2E9C-101B-9397-08002B2CF9AE}" pid="6" name="MSIP_Label_bf6fef03-d487-4433-8e43-6b81c0a1b7be_Method">
    <vt:lpwstr>Standard</vt:lpwstr>
  </property>
  <property fmtid="{D5CDD505-2E9C-101B-9397-08002B2CF9AE}" pid="7" name="MSIP_Label_bf6fef03-d487-4433-8e43-6b81c0a1b7be_Name">
    <vt:lpwstr>Unclassified</vt:lpwstr>
  </property>
  <property fmtid="{D5CDD505-2E9C-101B-9397-08002B2CF9AE}" pid="8" name="MSIP_Label_bf6fef03-d487-4433-8e43-6b81c0a1b7be_SiteId">
    <vt:lpwstr>1daf5147-a543-4707-a2fb-2acf0b2a3936</vt:lpwstr>
  </property>
  <property fmtid="{D5CDD505-2E9C-101B-9397-08002B2CF9AE}" pid="9" name="MSIP_Label_bf6fef03-d487-4433-8e43-6b81c0a1b7be_ActionId">
    <vt:lpwstr>c8d3218e-3d5f-44bd-ba61-d4c02c4c1ae8</vt:lpwstr>
  </property>
  <property fmtid="{D5CDD505-2E9C-101B-9397-08002B2CF9AE}" pid="10" name="MSIP_Label_bf6fef03-d487-4433-8e43-6b81c0a1b7be_ContentBits">
    <vt:lpwstr>0</vt:lpwstr>
  </property>
  <property fmtid="{D5CDD505-2E9C-101B-9397-08002B2CF9AE}" pid="11" name="MSIP_Label_bf6fef03-d487-4433-8e43-6b81c0a1b7be_Tag">
    <vt:lpwstr>10, 3, 0, 1</vt:lpwstr>
  </property>
  <property fmtid="{D5CDD505-2E9C-101B-9397-08002B2CF9AE}" pid="12" name="ContentTypeId">
    <vt:lpwstr>0x01010051D73CF209A902448F3E9B50C9140ECE</vt:lpwstr>
  </property>
</Properties>
</file>