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85" r:id="rId13"/>
    <p:sldId id="309" r:id="rId14"/>
    <p:sldId id="270" r:id="rId15"/>
    <p:sldId id="281" r:id="rId16"/>
    <p:sldId id="283" r:id="rId17"/>
    <p:sldId id="271" r:id="rId18"/>
    <p:sldId id="272" r:id="rId19"/>
    <p:sldId id="284" r:id="rId20"/>
    <p:sldId id="287" r:id="rId21"/>
    <p:sldId id="288" r:id="rId22"/>
    <p:sldId id="310" r:id="rId23"/>
    <p:sldId id="289" r:id="rId24"/>
    <p:sldId id="273" r:id="rId25"/>
    <p:sldId id="275" r:id="rId26"/>
    <p:sldId id="290" r:id="rId27"/>
    <p:sldId id="274" r:id="rId28"/>
    <p:sldId id="276" r:id="rId29"/>
    <p:sldId id="291" r:id="rId30"/>
    <p:sldId id="292" r:id="rId31"/>
    <p:sldId id="277" r:id="rId32"/>
    <p:sldId id="278" r:id="rId33"/>
    <p:sldId id="293" r:id="rId34"/>
    <p:sldId id="295" r:id="rId35"/>
    <p:sldId id="294" r:id="rId36"/>
    <p:sldId id="296" r:id="rId37"/>
    <p:sldId id="297" r:id="rId38"/>
    <p:sldId id="298" r:id="rId39"/>
    <p:sldId id="299" r:id="rId40"/>
    <p:sldId id="300" r:id="rId41"/>
    <p:sldId id="313" r:id="rId42"/>
    <p:sldId id="314" r:id="rId43"/>
    <p:sldId id="315" r:id="rId44"/>
    <p:sldId id="279" r:id="rId45"/>
    <p:sldId id="280" r:id="rId46"/>
    <p:sldId id="301" r:id="rId47"/>
    <p:sldId id="306" r:id="rId48"/>
    <p:sldId id="304" r:id="rId49"/>
    <p:sldId id="305" r:id="rId50"/>
    <p:sldId id="302" r:id="rId51"/>
    <p:sldId id="311" r:id="rId52"/>
    <p:sldId id="303" r:id="rId53"/>
    <p:sldId id="312" r:id="rId54"/>
    <p:sldId id="307" r:id="rId55"/>
    <p:sldId id="308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91" autoAdjust="0"/>
    <p:restoredTop sz="95706" autoAdjust="0"/>
  </p:normalViewPr>
  <p:slideViewPr>
    <p:cSldViewPr snapToGrid="0">
      <p:cViewPr varScale="1">
        <p:scale>
          <a:sx n="94" d="100"/>
          <a:sy n="94" d="100"/>
        </p:scale>
        <p:origin x="115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5-05-02T06:26:34.0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22210 10685 0,'-83'0'78,"-55"0"-63,-56 0-15,-82 0 16,-83 0-16,55 0 16,-27 0-16,-84 0 15,-54 0-15,27-55 16,55 27-16,28 0 16,83 28-16,-139 0 15,56 0-15,28 0 16,-28 0-16,27 0 15,56 0-15,0 0 16,82-55-16,1 55 16,0 0-16,27 0 15,-83-27-15,56 27 16,-28 0-16,-28 0 16,83 0-1,-27 0-15,0 0 0,-1 0 16,56 0-16,-55 0 15,-83-28 1,55 0-16,-56 28 0,-165-55 16,83 55-1,0 0-15,83 0 16,-56 0-16,-110 0 16,56 0-16,27 0 15,82 0-15,1 0 16,-55 0-16,54 0 15,1 0-15,-28 0 16,28 0-16,0 0 16,-56 0-16,139 0 15,0-28-15,82 28 16,28 0-16,0 0 16,1 0-16,54 0 15,-27 0-15,27 0 16,-82 0-16,-1 0 15,1 0 1,54 0-16,-54 0 16,27 0-16,55 0 15,-27 0-15,0 0 16,0 0-16,-28 0 16,-28 0-16,28 0 0,0 0 15,-27-27-15,0 27 16,54-28-16,-54 1 15,-1 27 1,-27-56-16,0 56 0,-28-27 16,28-1-16,-28 1 15,139 27 1,-56-28-16,55 0 16,1 28-16,-1 0 15,0-27-15,-27 27 16,-55-28-16,-1 1 15,56 27-15,-56-28 16,29 0-16,26 28 16,29 0-16,-1 0 15,0-27-15,28-28 94,0 27-94,0-27 0,0-28 16,0-28-16,0 29 15,0-29-15,0 28 16,0 28 0,0-28-16,0 28 0,0 0 15,-27-28-15,27-27 16,-28-56-16,28 0 15,0 28 1,0-27-16,0-29 16,0 84-16,0 27 15,0 0-15,28-27 16,-28-1-16,27 1 16,29-83-16,-29-56 15,1 111-15,0 28 16,-28-1-16,27 84 15,1-29-15,-28 29 16,27 27 93,29 0-109,-1 0 16,28 0-16,27 0 16,28 0-16,28 27 15,-28 1-15,111 55 16,-56-55-16,1-1 16,54 1-16,56 27 15,28-27-15,-56-1 16,28 28-16,27 1 15,-55-1-15,-55-28 16,83 1-16,-110 0 0,-29-28 16,29 27-1,-1 28-15,-55-55 16,-27 28-16,-1-28 16,1 0-16,-1 0 15,-55 0-15,56 28 16,-1-1-16,-27-27 15,-27 0 1,54 0-16,-27 28 0,27 0 16,-27-28-16,28 0 15,27 27-15,55-27 16,-55 0-16,139 0 16,-29 0-16,-27 0 15,0 0-15,111 0 16,-139 0-16,28 0 15,28 0 1,55 0-16,-56 0 0,28 0 16,-55 0-1,111 0-15,-139 0 0,28 0 16,0 0 0,111 0-16,-84 0 15,29 0-15,-1 0 16,83 0-16,-138 0 15,83 0-15,-83 0 16,0 0-16,-83 0 16,83-27-16,-83 27 15,28 0-15,-1-28 16,29 28-16,82-28 16,-83 28-16,-27 0 15,0 0-15,-28 0 16,0-55-16,-27 55 15,27-28 1,-28 28-16,1 0 0,-1 0 16,111-27-16,-83 27 15,0 0-15,56 0 16,-28 0 0,-1 0-16,-27 0 0,1 0 15,82 0 1,-83 0-16,55 0 15,56 0-15,54 0 16,-54 0-16,-28 0 16,111 0-16,-111 0 15,-28 0-15,28 0 16,110 0-16,-110 0 16,28 0-16,-28 0 15,55 0-15,-27 0 16,-28 0-16,0 0 15,55 0-15,-27 0 16,-28 0-16,-28 0 16,56 0-16,-111 55 15,0-55-15,55 0 16,1 0-16,27 0 16,55 28-1,111-28-15,-84 0 0,-26 0 16,109 0-16,-26 0 15,-1 0-15,-28 0 16,-138 0 0,-27 0-16,83 0 15,-111 0-15,0 0 16,-27 0-16,-29 27 16,-54-27-16,0 0 15,-1 83 95,-27 28-95,0 27-15,0 0 16,0 83-16,0-28 15,0-55-15,0 0 16,0 55-16,0-55 16,0 0-16,0 28 15,-27 27-15,-56 0 16,28-27-16,-28 27 16,27-82-16,29-1 15,27-27 1,-28-55-16,1 27 15,-1-28-15,0 1 16,28 0 0,-55-1-16,0 1 15,0-1-15,-28 1 16,-28 0-16,-27-1 16,-55 1-16,-56 27 15,56-27-15,-166-1 16,27-27-16,-27 0 15,83 0-15,-139 0 16,1 0-16,-221 56 16,110-56-16,83 27 15,-193-27-15,220 0 16,-27 0-16,56 0 16,220 0-16,-166 0 15,84 28-15,-29-28 16,56 0-16,28 0 15,55 0-15,0 0 16,0 0-16,-28 0 16,83 0-1,-27 0-15,27 0 0,55 0 16,-27 0 0,-28 0-16,55 0 0,-27 0 15,-28 0 1,56 0-1,-1 0-15,-27 0 16,27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01475-6958-471D-A010-2A003E97DDF5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69685-3637-4812-9CC5-6529A1F8D6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62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69685-3637-4812-9CC5-6529A1F8D6D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1357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previous challenges show the use of the SELECT statement to retrieve all rows from a table. However, we often need to restrict the rows that are retrieved. This can be achieved with the WHERE clause, which consists of the keyword WHERE followed by a search condition that specifies the rows to be retrieved.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69685-3637-4812-9CC5-6529A1F8D6D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0714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effectLst/>
              </a:rPr>
              <a:t>Without GROUP BY, columns in SELECT must be within aggregate functions"</a:t>
            </a:r>
          </a:p>
          <a:p>
            <a:pPr>
              <a:buNone/>
            </a:pPr>
            <a:r>
              <a:rPr lang="en-US" dirty="0">
                <a:effectLst/>
              </a:rPr>
              <a:t>This means that if you're using aggregate functions (like COUNT, SUM, AVG) in a SELECT statement without a GROUP BY clause, then every column in your SELECT list must be inside an aggregate function.</a:t>
            </a:r>
          </a:p>
          <a:p>
            <a:pPr>
              <a:buNone/>
            </a:pPr>
            <a:r>
              <a:rPr lang="en-US" dirty="0">
                <a:effectLst/>
              </a:rPr>
              <a:t>The example "SELECT </a:t>
            </a:r>
            <a:r>
              <a:rPr lang="en-US" dirty="0" err="1">
                <a:effectLst/>
              </a:rPr>
              <a:t>staffNo</a:t>
            </a:r>
            <a:r>
              <a:rPr lang="en-US" dirty="0">
                <a:effectLst/>
              </a:rPr>
              <a:t>, COUNT(salary) FROM Staff;" is incorrect 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It contains an aggregate function COUNT(salary)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It doesn't have a GROUP BY clause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 </a:t>
            </a:r>
            <a:r>
              <a:rPr lang="en-US" dirty="0" err="1">
                <a:effectLst/>
              </a:rPr>
              <a:t>staffNo</a:t>
            </a:r>
            <a:r>
              <a:rPr lang="en-US" dirty="0">
                <a:effectLst/>
              </a:rPr>
              <a:t> column is not wrapped in an aggregate function</a:t>
            </a:r>
          </a:p>
          <a:p>
            <a:pPr>
              <a:buNone/>
            </a:pPr>
            <a:r>
              <a:rPr lang="en-US" dirty="0">
                <a:effectLst/>
              </a:rPr>
              <a:t>This query is problematic because aggregate functions like COUNT reduce multiple rows to a single value, while non-aggregated columns like </a:t>
            </a:r>
            <a:r>
              <a:rPr lang="en-US" dirty="0" err="1">
                <a:effectLst/>
              </a:rPr>
              <a:t>staffNo</a:t>
            </a:r>
            <a:r>
              <a:rPr lang="en-US" dirty="0">
                <a:effectLst/>
              </a:rPr>
              <a:t> would return multiple values. SQL doesn't know how to reconcile these different cardinalities without a GROUP BY clause.</a:t>
            </a:r>
          </a:p>
          <a:p>
            <a:pPr>
              <a:buNone/>
            </a:pPr>
            <a:r>
              <a:rPr lang="en-US" dirty="0">
                <a:effectLst/>
              </a:rPr>
              <a:t>To fix this query, you have two options: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69685-3637-4812-9CC5-6529A1F8D6DB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0322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5045-DD47-83A9-DD30-34E99CC2C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1D894E-F830-97CB-236A-36FBA1A2E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45CCC-5145-C4CB-4500-A58D8E17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CE47-D23B-408D-A3B4-AC4531A9E4E7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846F2-7F40-934A-D397-455BF5C5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3F915-E5D4-0965-BC87-15841F44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E1E3-55AF-4BF5-B706-A27B9634C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021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ED6B-1A60-D699-7667-0D35FF39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25A7B-AD7E-6122-E8AC-A9157224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73B3B-6C0E-FEE2-7A8C-677D3A6EE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CE47-D23B-408D-A3B4-AC4531A9E4E7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5A778-55B2-7C7E-7687-58863847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9A922-B84E-856F-5732-EF6F8409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E1E3-55AF-4BF5-B706-A27B9634C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1872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11427-6034-0BC1-2EA7-F9378F490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A36A1-F12E-546C-A385-C50AB815A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13305-881F-D34E-DCAB-E2C70BC3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CE47-D23B-408D-A3B4-AC4531A9E4E7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68B09-4B30-4B25-B3DD-CD444B31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006BF-6E62-7AD9-AD12-C8EE81601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E1E3-55AF-4BF5-B706-A27B9634C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0507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DDF9-1FA4-07D8-C284-E5BFCBAA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D6DEB-4913-6662-375B-3CF3AAEFD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B365E-70B6-2724-45B0-8F45FE3D1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9C4F4-1E5E-346E-F171-8C8809EDB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CE47-D23B-408D-A3B4-AC4531A9E4E7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40E80-6CFB-F264-C103-2B1826C13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1E5F8-29FE-CA10-677F-5A44205B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E1E3-55AF-4BF5-B706-A27B9634C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2568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B20B-65E5-893E-07F5-6E9364F07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55A56-E91B-D7D8-22DB-E28879C86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550674-FAAE-C369-90CC-18AF7345C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7E89A-DB8C-60EC-3413-D6B956890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DF1B0-EC1A-DAED-0A27-C937F18035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98ED81-9F87-7591-4CA2-4410E5C76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CE47-D23B-408D-A3B4-AC4531A9E4E7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B3840F-E684-9AF8-68DC-0D809004E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444FC-DE08-5A85-12D5-AC57EE7D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E1E3-55AF-4BF5-B706-A27B9634C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458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160A-A8E7-A227-0225-EF8D224B0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93334B-252A-B98A-E785-0DCB6EA1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CE47-D23B-408D-A3B4-AC4531A9E4E7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D5640-49BB-CB70-C354-9247F474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37A23-95B7-EF9C-F107-AD528B50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E1E3-55AF-4BF5-B706-A27B9634C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3446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1E7A4-325B-E7FA-6031-A692098A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CE47-D23B-408D-A3B4-AC4531A9E4E7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B9E32-C3EE-CC3A-4187-77381EAE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460B4-0112-57FD-0A4B-42F51C87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E1E3-55AF-4BF5-B706-A27B9634C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0746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CEB0-2D89-34C8-6880-73FF84D5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FF902-E5AF-925E-FC36-B0A9298AC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730D7-C6F8-72D7-6313-115BDB3D5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8E14E-1716-A0DA-CB59-F0AB9E383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CE47-D23B-408D-A3B4-AC4531A9E4E7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13A28-4CF0-0B7B-3239-03244E1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3C65A-41F8-8C04-851C-6A219B131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E1E3-55AF-4BF5-B706-A27B9634C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924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B3BE7-75B6-F331-CBE6-70F8E13C3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4FDAF3-9629-378B-7C6C-EAD620446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6765C-64B3-31B7-539D-B246CE076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DB709-81A1-F9CA-5196-1453322B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CE47-D23B-408D-A3B4-AC4531A9E4E7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AC2CD-7ADC-A877-A508-893AA3AE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D0BBE-7753-869F-E0C0-0235408D6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E1E3-55AF-4BF5-B706-A27B9634C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838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B0CD-4498-B1C7-D687-06BA7353C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24DAF-ECAB-1B92-4BF7-4876296D8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3CE6-2E99-2258-A5BC-6D16B222E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CE47-D23B-408D-A3B4-AC4531A9E4E7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2365E-A3E8-1D1D-3ED1-72F9B4975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72855-252E-2A76-8F52-B01854DC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E1E3-55AF-4BF5-B706-A27B9634C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988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9EF33D-1F10-9DC8-F2CE-20203118CC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860CA-49CD-28BA-366D-B4265904B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43F1B-D1C0-BD00-B563-B127E7F6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CE47-D23B-408D-A3B4-AC4531A9E4E7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A9966-AD29-DBC1-7811-629888C3E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B0807-A92D-E0FE-AA68-6A816C7D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E1E3-55AF-4BF5-B706-A27B9634C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8745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69BBB-5A07-9A3A-6973-3ED5E484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808AF-5540-2E6B-9928-9DAB08911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41615-7560-7879-ED9F-92597257C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5CE47-D23B-408D-A3B4-AC4531A9E4E7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50D1-BFA4-1983-0836-C7BFDFFADA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431B9-F6F3-DB44-B5A4-867DFE8AE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0E1E3-55AF-4BF5-B706-A27B9634C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26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97EB-D538-182B-B472-AB5965A61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Week10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E1CB6-F175-0D14-F254-352B7037EE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908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668416-55BA-3DD1-124D-73D0A0225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313"/>
          <a:stretch>
            <a:fillRect/>
          </a:stretch>
        </p:blipFill>
        <p:spPr>
          <a:xfrm>
            <a:off x="315706" y="1289958"/>
            <a:ext cx="11876294" cy="4615360"/>
          </a:xfrm>
        </p:spPr>
      </p:pic>
    </p:spTree>
    <p:extLst>
      <p:ext uri="{BB962C8B-B14F-4D97-AF65-F5344CB8AC3E}">
        <p14:creationId xmlns:p14="http://schemas.microsoft.com/office/powerpoint/2010/main" val="3643231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DC75-5494-5D68-3160-58895A2BC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1: Retrieve all columns, all rows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18F3-2467-0DD4-40F5-37687BF89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full details of all staff. Because there are no restrictions specified in this query, the WHERE clause is unnecessary, and all columns are required. We write this query as: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SELECT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staffNo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fName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lName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oPosition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sex, DOB, salary,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branchNo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FROM Staff; </a:t>
            </a:r>
          </a:p>
          <a:p>
            <a:pPr marL="0" indent="0">
              <a:buNone/>
            </a:pPr>
            <a:endParaRPr lang="en-US" sz="2000" dirty="0"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  <a:p>
            <a:pPr marL="0" indent="0">
              <a:buNone/>
            </a:pPr>
            <a:r>
              <a:rPr lang="en-AU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SELECT *</a:t>
            </a:r>
          </a:p>
          <a:p>
            <a:pPr marL="0" indent="0">
              <a:buNone/>
            </a:pPr>
            <a:r>
              <a:rPr lang="en-AU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FROM Staff;</a:t>
            </a:r>
          </a:p>
          <a:p>
            <a:pPr marL="0" indent="0">
              <a:buNone/>
            </a:pPr>
            <a:endParaRPr lang="en-AU" sz="2000" dirty="0"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66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20E9-C6D4-5D64-EDD4-78AEC3F7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7400" cy="1325563"/>
          </a:xfrm>
        </p:spPr>
        <p:txBody>
          <a:bodyPr/>
          <a:lstStyle/>
          <a:p>
            <a:r>
              <a:rPr lang="en-US" dirty="0"/>
              <a:t>Challenge 2: Retrieve specific columns, all rows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7127A-D5E2-C9EF-AA5A-356D73C2B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 a list of salaries for all staff, showing only the staff number, the first and last names, and the salary details.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SELECT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staffNo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fName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lName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salary </a:t>
            </a:r>
          </a:p>
          <a:p>
            <a:pPr marL="0" indent="0">
              <a:buNone/>
            </a:pP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FROM Staff; </a:t>
            </a:r>
            <a:endParaRPr lang="en-AU" sz="2000" dirty="0"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993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4670-93D3-46CA-D0D5-71CCED67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Row selection (WHERE clause)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BC94D-31B0-D1EC-5622-C038DF80E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five basic search conditions (or predicates, using the ISO terminology) are as follows: </a:t>
            </a:r>
          </a:p>
          <a:p>
            <a:pPr marL="0" indent="0">
              <a:buNone/>
            </a:pPr>
            <a:r>
              <a:rPr lang="en-US" sz="2400" dirty="0"/>
              <a:t>• Comparison: Compare the value of one expression to the value of another expression.</a:t>
            </a:r>
          </a:p>
          <a:p>
            <a:pPr marL="0" indent="0">
              <a:buNone/>
            </a:pPr>
            <a:r>
              <a:rPr lang="en-US" sz="2400" dirty="0"/>
              <a:t>• Range: Test whether the value of an expression falls within a specified range of values.</a:t>
            </a:r>
          </a:p>
          <a:p>
            <a:pPr marL="0" indent="0">
              <a:buNone/>
            </a:pPr>
            <a:r>
              <a:rPr lang="en-US" sz="2400" dirty="0"/>
              <a:t>• Set membership: Test whether the value of an expression equals one of a set of values.</a:t>
            </a:r>
          </a:p>
          <a:p>
            <a:pPr marL="0" indent="0">
              <a:buNone/>
            </a:pPr>
            <a:r>
              <a:rPr lang="en-US" sz="2400" dirty="0"/>
              <a:t>• Pattern match: Test whether a string matches a specified pattern. • Null: Test whether a column has a null (unknown) value.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049075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80A31-09A9-3404-D9BB-C1158F00C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5: Comparison search condition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FEB74-F025-E582-C057-A057B1E2C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all staff with a salary greater than £10,000.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 SELECT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staffNo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fName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lName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salary </a:t>
            </a:r>
          </a:p>
          <a:p>
            <a:pPr marL="0" indent="0">
              <a:buNone/>
            </a:pP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 FROM Staff  WHERE salary &gt; 10000;</a:t>
            </a:r>
          </a:p>
          <a:p>
            <a:pPr marL="0" indent="0">
              <a:buNone/>
            </a:pPr>
            <a:endParaRPr lang="en-US" sz="2000" dirty="0"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  <a:p>
            <a:pPr marL="0" indent="0">
              <a:buNone/>
            </a:pPr>
            <a:endParaRPr lang="en-AU" sz="2000" dirty="0"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7724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E17D4-D330-46B8-E3E8-E71CB1DA5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/>
              <a:t>In SQL, the following simple comparison operators are available:</a:t>
            </a:r>
          </a:p>
          <a:p>
            <a:r>
              <a:rPr lang="en-US" dirty="0"/>
              <a:t> = equals</a:t>
            </a:r>
          </a:p>
          <a:p>
            <a:r>
              <a:rPr lang="en-US" dirty="0"/>
              <a:t> &lt;&gt; is not equal to (ISO standard)</a:t>
            </a:r>
          </a:p>
          <a:p>
            <a:r>
              <a:rPr lang="en-US" dirty="0"/>
              <a:t> ! = is not equal to (allowed in some dialects)</a:t>
            </a:r>
          </a:p>
          <a:p>
            <a:r>
              <a:rPr lang="en-US" dirty="0"/>
              <a:t> &lt; is less than </a:t>
            </a:r>
          </a:p>
          <a:p>
            <a:r>
              <a:rPr lang="en-US" dirty="0"/>
              <a:t>&lt; = is less than or equal to</a:t>
            </a:r>
          </a:p>
          <a:p>
            <a:r>
              <a:rPr lang="en-US" dirty="0"/>
              <a:t> &gt; is greater than </a:t>
            </a:r>
          </a:p>
          <a:p>
            <a:r>
              <a:rPr lang="en-US" dirty="0"/>
              <a:t>&gt; = is greater than or equal to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1028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5355A-0F2F-9FA8-DAC0-C85B8A94D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More complex predicates can be generated using the logical operators AND, OR, and NOT, with parentheses (if needed or desired) to show the order of evaluation. </a:t>
            </a:r>
          </a:p>
          <a:p>
            <a:pPr marL="0" indent="0">
              <a:buNone/>
            </a:pPr>
            <a:r>
              <a:rPr lang="en-US" dirty="0"/>
              <a:t>The rules for evaluating a conditional expression are: </a:t>
            </a:r>
          </a:p>
          <a:p>
            <a:r>
              <a:rPr lang="en-US" dirty="0"/>
              <a:t>an expression is evaluated left to right; </a:t>
            </a:r>
          </a:p>
          <a:p>
            <a:r>
              <a:rPr lang="en-US" dirty="0"/>
              <a:t>subexpressions in brackets are evaluated first; </a:t>
            </a:r>
          </a:p>
          <a:p>
            <a:r>
              <a:rPr lang="en-US" dirty="0"/>
              <a:t>NOTs are evaluated before ANDs and ORs; </a:t>
            </a:r>
          </a:p>
          <a:p>
            <a:r>
              <a:rPr lang="en-US" dirty="0"/>
              <a:t>ANDs are evaluated before ORs. </a:t>
            </a:r>
          </a:p>
          <a:p>
            <a:r>
              <a:rPr lang="en-US" dirty="0"/>
              <a:t>The use of parentheses is always recommended, in order to remove any possible ambiguities.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17687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F6AA2-8B33-D4D7-D8A0-55AD5D993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Properties in Glasgow with rent &lt; 500</a:t>
            </a:r>
          </a:p>
          <a:p>
            <a:pPr marL="0" indent="0">
              <a:buNone/>
            </a:pPr>
            <a:r>
              <a:rPr lang="en-US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SELECT </a:t>
            </a:r>
            <a:r>
              <a:rPr lang="en-US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propertyNo</a:t>
            </a:r>
            <a:r>
              <a:rPr lang="en-US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street, city, rent</a:t>
            </a:r>
          </a:p>
          <a:p>
            <a:pPr marL="0" indent="0">
              <a:buNone/>
            </a:pPr>
            <a:r>
              <a:rPr lang="en-US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FROM </a:t>
            </a:r>
            <a:r>
              <a:rPr lang="en-US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PropertyForRent</a:t>
            </a:r>
            <a:endParaRPr lang="en-US" dirty="0"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  <a:p>
            <a:pPr marL="0" indent="0">
              <a:buNone/>
            </a:pPr>
            <a:r>
              <a:rPr lang="en-US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WHERE city = 'Glasgow' AND rent &lt; 500;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2EFA9A-D475-B678-A497-7433A5F1C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7353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0DAA7-99FA-3341-DCE9-17594B857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search condition (BETWEEN/NOT BETWEEN)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63370-1EB8-446B-3520-DB415986A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all staff with a salary</a:t>
            </a:r>
            <a:r>
              <a:rPr lang="en-US" b="1" dirty="0"/>
              <a:t> </a:t>
            </a:r>
            <a:r>
              <a:rPr lang="en-US" dirty="0"/>
              <a:t>between £20,000 and £30,000.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SELECT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staffNo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fName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</a:t>
            </a:r>
            <a:r>
              <a:rPr lang="en-US" sz="20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Lname</a:t>
            </a: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, position, salary </a:t>
            </a:r>
          </a:p>
          <a:p>
            <a:pPr marL="0" indent="0">
              <a:buNone/>
            </a:pP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 FROM Staff </a:t>
            </a:r>
          </a:p>
          <a:p>
            <a:pPr marL="0" indent="0">
              <a:buNone/>
            </a:pPr>
            <a:r>
              <a:rPr lang="en-US" sz="20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 WHERE salary BETWEEN 20000 AND 30000;</a:t>
            </a:r>
            <a:endParaRPr lang="en-AU" sz="2000" dirty="0"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5226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0574-282C-2C1E-7152-61D0106C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3: Sorting Results (ORDER BY Clause)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E1DC0-DD7F-7C96-6B78-7652CE51C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SQL ORDER BY Clause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Controls the sorting order of query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Query results have no specific order by default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Must be the last clause in a SELECT statement</a:t>
            </a:r>
          </a:p>
          <a:p>
            <a:pPr>
              <a:buNone/>
            </a:pPr>
            <a:r>
              <a:rPr lang="en-US" b="1" dirty="0"/>
              <a:t>Sorting Methods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sort by one or multiple columns (comma-separated)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ascending (ASC) and descending (DESC) order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use column names or position numbers (1,2,3...)</a:t>
            </a:r>
          </a:p>
          <a:p>
            <a:pPr>
              <a:buNone/>
            </a:pPr>
            <a:r>
              <a:rPr lang="en-US" b="1" dirty="0"/>
              <a:t>Important Notes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sort by columns not displayed in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SQL dialects require ORDER BY elements to appear in the SELECT list</a:t>
            </a:r>
          </a:p>
          <a:p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D2E5F3-6F8A-63BC-E9C6-7BA8046EB3DF}"/>
              </a:ext>
            </a:extLst>
          </p:cNvPr>
          <p:cNvSpPr txBox="1">
            <a:spLocks/>
          </p:cNvSpPr>
          <p:nvPr/>
        </p:nvSpPr>
        <p:spPr>
          <a:xfrm>
            <a:off x="838200" y="17832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023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64F71-3862-908F-521B-FE851A33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8 Single-column ordering)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9103-27F9-72CA-42B8-4E729B5A8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Produce a list of salaries for all staff, arranged in descending order of salary.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7C902-9CD6-F5DE-6894-68D667C3F97C}"/>
              </a:ext>
            </a:extLst>
          </p:cNvPr>
          <p:cNvSpPr txBox="1"/>
          <p:nvPr/>
        </p:nvSpPr>
        <p:spPr>
          <a:xfrm>
            <a:off x="914399" y="3061981"/>
            <a:ext cx="84057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SELECT </a:t>
            </a:r>
            <a:r>
              <a:rPr lang="en-AU" dirty="0" err="1"/>
              <a:t>staffNo</a:t>
            </a:r>
            <a:r>
              <a:rPr lang="en-AU" dirty="0"/>
              <a:t>, </a:t>
            </a:r>
            <a:r>
              <a:rPr lang="en-AU" dirty="0" err="1"/>
              <a:t>fName</a:t>
            </a:r>
            <a:r>
              <a:rPr lang="en-AU" dirty="0"/>
              <a:t>, </a:t>
            </a:r>
            <a:r>
              <a:rPr lang="en-AU" dirty="0" err="1"/>
              <a:t>Lname</a:t>
            </a:r>
            <a:r>
              <a:rPr lang="en-AU" dirty="0"/>
              <a:t>, salary</a:t>
            </a:r>
          </a:p>
          <a:p>
            <a:r>
              <a:rPr lang="en-AU" dirty="0"/>
              <a:t>FROM Staff</a:t>
            </a:r>
          </a:p>
          <a:p>
            <a:r>
              <a:rPr lang="en-AU" dirty="0"/>
              <a:t>ORDER BY salary DESC</a:t>
            </a:r>
          </a:p>
        </p:txBody>
      </p:sp>
    </p:spTree>
    <p:extLst>
      <p:ext uri="{BB962C8B-B14F-4D97-AF65-F5344CB8AC3E}">
        <p14:creationId xmlns:p14="http://schemas.microsoft.com/office/powerpoint/2010/main" val="501645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0C18-D426-2750-B116-F8DE3461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0841-8588-2C62-26DD-66A8044E6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9 Multiple column ordering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D659F-9164-9F62-1F17-3C37D7788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Produce an abbreviated list of properties arranged in order of property type.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propertyNo</a:t>
            </a:r>
            <a:r>
              <a:rPr lang="en-US" dirty="0"/>
              <a:t>, </a:t>
            </a:r>
            <a:r>
              <a:rPr lang="en-US" dirty="0" err="1"/>
              <a:t>propertyType</a:t>
            </a:r>
            <a:r>
              <a:rPr lang="en-US" dirty="0"/>
              <a:t>, rooms, rent 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PropertyForRent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ORDER BY </a:t>
            </a:r>
            <a:r>
              <a:rPr lang="en-US" dirty="0" err="1"/>
              <a:t>propertyType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T</a:t>
            </a:r>
            <a:r>
              <a:rPr lang="en-US" altLang="zh-CN" dirty="0"/>
              <a:t>o arrange the properties in order of rent, we specify a minor order: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propertyNo</a:t>
            </a:r>
            <a:r>
              <a:rPr lang="en-US" dirty="0"/>
              <a:t>, </a:t>
            </a:r>
            <a:r>
              <a:rPr lang="en-US" dirty="0" err="1"/>
              <a:t>propertyType</a:t>
            </a:r>
            <a:r>
              <a:rPr lang="en-US" dirty="0"/>
              <a:t>, rooms, rent 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PropertyForRent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ORDER BY </a:t>
            </a:r>
            <a:r>
              <a:rPr lang="en-US" dirty="0" err="1"/>
              <a:t>propertyType</a:t>
            </a:r>
            <a:r>
              <a:rPr lang="en-US" dirty="0"/>
              <a:t>, rent DESC;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7D311E-3B52-9BC2-D96D-C31CFB886961}"/>
              </a:ext>
            </a:extLst>
          </p:cNvPr>
          <p:cNvCxnSpPr>
            <a:cxnSpLocks/>
          </p:cNvCxnSpPr>
          <p:nvPr/>
        </p:nvCxnSpPr>
        <p:spPr>
          <a:xfrm flipV="1">
            <a:off x="5293895" y="6042026"/>
            <a:ext cx="0" cy="455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C0E05F-4455-743B-05FD-4F3F791A7F94}"/>
              </a:ext>
            </a:extLst>
          </p:cNvPr>
          <p:cNvCxnSpPr>
            <a:cxnSpLocks/>
          </p:cNvCxnSpPr>
          <p:nvPr/>
        </p:nvCxnSpPr>
        <p:spPr>
          <a:xfrm flipV="1">
            <a:off x="3376863" y="5998997"/>
            <a:ext cx="0" cy="498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F0EC2BB-E032-8C4A-8549-E7ECE53F4120}"/>
              </a:ext>
            </a:extLst>
          </p:cNvPr>
          <p:cNvSpPr txBox="1"/>
          <p:nvPr/>
        </p:nvSpPr>
        <p:spPr>
          <a:xfrm>
            <a:off x="2775285" y="642887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Major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E30E0E-5605-BE16-2ED7-23C51F8FB387}"/>
              </a:ext>
            </a:extLst>
          </p:cNvPr>
          <p:cNvSpPr txBox="1"/>
          <p:nvPr/>
        </p:nvSpPr>
        <p:spPr>
          <a:xfrm>
            <a:off x="4836695" y="64928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Minor</a:t>
            </a:r>
          </a:p>
        </p:txBody>
      </p:sp>
    </p:spTree>
    <p:extLst>
      <p:ext uri="{BB962C8B-B14F-4D97-AF65-F5344CB8AC3E}">
        <p14:creationId xmlns:p14="http://schemas.microsoft.com/office/powerpoint/2010/main" val="826319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2A9D-68BF-C0B4-2298-A58E57C64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4: Using the SQL Aggregate Functions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39C11-5EDF-C404-C97D-0E76ED4EF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Standard Aggregate Functions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 - Number of values in a column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 - Total of values in a column (numeric only)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AVG - Average of values in a column (numeric only)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MIN - Smallest value in a column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MAX - Largest value in a column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5945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24CE1-2FCC-2A6C-DB8F-45B0C6C1A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648D-EB9E-BBAB-EB37-DFBF1AA99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4: Using the SQL Aggregate Functions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9A51-FE72-0B92-9EC8-35AB5A536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Syntax: </a:t>
            </a:r>
          </a:p>
          <a:p>
            <a:pPr marL="514350" indent="-514350">
              <a:buAutoNum type="arabicPeriod"/>
            </a:pPr>
            <a:r>
              <a:rPr lang="en-US" dirty="0"/>
              <a:t>COUNT(): Counts the number of rows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SUM()/AVG()/MIN()/MAX()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>
              <a:buNone/>
            </a:pP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B8176F-FDBC-6A7B-DD58-9BC2CB990946}"/>
              </a:ext>
            </a:extLst>
          </p:cNvPr>
          <p:cNvSpPr txBox="1"/>
          <p:nvPr/>
        </p:nvSpPr>
        <p:spPr>
          <a:xfrm>
            <a:off x="1430867" y="48023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078F2"/>
                </a:solidFill>
                <a:effectLst/>
              </a:rPr>
              <a:t>SUM/MIN/AVG/MAX</a:t>
            </a:r>
            <a:r>
              <a:rPr lang="en-AU" dirty="0">
                <a:solidFill>
                  <a:srgbClr val="383A42"/>
                </a:solidFill>
                <a:effectLst/>
              </a:rPr>
              <a:t>(</a:t>
            </a:r>
            <a:r>
              <a:rPr lang="en-AU" dirty="0" err="1"/>
              <a:t>column_name</a:t>
            </a:r>
            <a:r>
              <a:rPr lang="en-AU" dirty="0">
                <a:solidFill>
                  <a:srgbClr val="383A42"/>
                </a:solidFill>
                <a:effectLst/>
              </a:rPr>
              <a:t>)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EBE030-B369-1024-2B22-E978CA5654B5}"/>
              </a:ext>
            </a:extLst>
          </p:cNvPr>
          <p:cNvSpPr txBox="1"/>
          <p:nvPr/>
        </p:nvSpPr>
        <p:spPr>
          <a:xfrm>
            <a:off x="1430867" y="2784832"/>
            <a:ext cx="8305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078F2"/>
                </a:solidFill>
                <a:effectLst/>
              </a:rPr>
              <a:t>COUNT</a:t>
            </a:r>
            <a:r>
              <a:rPr lang="en-US" dirty="0">
                <a:solidFill>
                  <a:srgbClr val="383A42"/>
                </a:solidFill>
                <a:effectLst/>
              </a:rPr>
              <a:t>(</a:t>
            </a:r>
            <a:r>
              <a:rPr lang="en-US" dirty="0">
                <a:solidFill>
                  <a:srgbClr val="4078F2"/>
                </a:solidFill>
                <a:effectLst/>
              </a:rPr>
              <a:t>*</a:t>
            </a:r>
            <a:r>
              <a:rPr lang="en-US" dirty="0">
                <a:solidFill>
                  <a:srgbClr val="383A42"/>
                </a:solidFill>
                <a:effectLst/>
              </a:rPr>
              <a:t>)</a:t>
            </a:r>
            <a:r>
              <a:rPr lang="en-US" dirty="0"/>
              <a:t> </a:t>
            </a:r>
            <a:r>
              <a:rPr lang="en-US" i="1" dirty="0">
                <a:solidFill>
                  <a:srgbClr val="A0A1A7"/>
                </a:solidFill>
                <a:effectLst/>
              </a:rPr>
              <a:t>-- counts all rows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4078F2"/>
                </a:solidFill>
                <a:effectLst/>
              </a:rPr>
              <a:t>COUNT</a:t>
            </a:r>
            <a:r>
              <a:rPr lang="en-US" dirty="0">
                <a:solidFill>
                  <a:srgbClr val="383A42"/>
                </a:solidFill>
                <a:effectLst/>
              </a:rPr>
              <a:t>(</a:t>
            </a:r>
            <a:r>
              <a:rPr lang="en-US" dirty="0" err="1"/>
              <a:t>column_name</a:t>
            </a:r>
            <a:r>
              <a:rPr lang="en-US" dirty="0">
                <a:solidFill>
                  <a:srgbClr val="383A42"/>
                </a:solidFill>
                <a:effectLst/>
              </a:rPr>
              <a:t>)</a:t>
            </a:r>
            <a:r>
              <a:rPr lang="en-US" dirty="0"/>
              <a:t> </a:t>
            </a:r>
            <a:r>
              <a:rPr lang="en-US" i="1" dirty="0">
                <a:solidFill>
                  <a:srgbClr val="A0A1A7"/>
                </a:solidFill>
                <a:effectLst/>
              </a:rPr>
              <a:t>-- counts non-NULL</a:t>
            </a:r>
            <a:r>
              <a:rPr lang="zh-CN" altLang="en-US" i="1" dirty="0">
                <a:solidFill>
                  <a:srgbClr val="A0A1A7"/>
                </a:solidFill>
                <a:effectLst/>
              </a:rPr>
              <a:t>（</a:t>
            </a:r>
            <a:r>
              <a:rPr lang="en-AU" altLang="zh-CN" i="1" dirty="0">
                <a:solidFill>
                  <a:srgbClr val="A0A1A7"/>
                </a:solidFill>
                <a:effectLst/>
              </a:rPr>
              <a:t>Not Empty</a:t>
            </a:r>
            <a:r>
              <a:rPr lang="zh-CN" altLang="en-US" i="1" dirty="0">
                <a:solidFill>
                  <a:srgbClr val="A0A1A7"/>
                </a:solidFill>
                <a:effectLst/>
              </a:rPr>
              <a:t>）</a:t>
            </a:r>
            <a:r>
              <a:rPr lang="en-US" i="1" dirty="0">
                <a:solidFill>
                  <a:srgbClr val="A0A1A7"/>
                </a:solidFill>
                <a:effectLst/>
              </a:rPr>
              <a:t> values in a column</a:t>
            </a:r>
          </a:p>
          <a:p>
            <a:r>
              <a:rPr lang="en-US" dirty="0">
                <a:solidFill>
                  <a:srgbClr val="4078F2"/>
                </a:solidFill>
                <a:effectLst/>
              </a:rPr>
              <a:t>COUNT</a:t>
            </a:r>
            <a:r>
              <a:rPr lang="en-US" dirty="0">
                <a:solidFill>
                  <a:srgbClr val="383A42"/>
                </a:solidFill>
                <a:effectLst/>
              </a:rPr>
              <a:t>(</a:t>
            </a:r>
            <a:r>
              <a:rPr lang="en-US" dirty="0">
                <a:solidFill>
                  <a:srgbClr val="A626A4"/>
                </a:solidFill>
                <a:effectLst/>
              </a:rPr>
              <a:t>DISTINCT</a:t>
            </a:r>
            <a:r>
              <a:rPr lang="en-US" dirty="0"/>
              <a:t> </a:t>
            </a:r>
            <a:r>
              <a:rPr lang="en-US" dirty="0" err="1"/>
              <a:t>column_name</a:t>
            </a:r>
            <a:r>
              <a:rPr lang="en-US" dirty="0">
                <a:solidFill>
                  <a:srgbClr val="383A42"/>
                </a:solidFill>
                <a:effectLst/>
              </a:rPr>
              <a:t>)</a:t>
            </a:r>
            <a:r>
              <a:rPr lang="en-US" dirty="0"/>
              <a:t> </a:t>
            </a:r>
            <a:r>
              <a:rPr lang="en-US" i="1" dirty="0">
                <a:solidFill>
                  <a:srgbClr val="A0A1A7"/>
                </a:solidFill>
                <a:effectLst/>
              </a:rPr>
              <a:t>-- counts unique non-NULL values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8408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5AAE7-ACF0-B068-44B9-E2CC1B94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79CE3-7E2D-7928-1B1E-A72CA5E25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4: Using the SQL Aggregate Functions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B1793-039E-B939-D144-33C7F38AA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Syntax: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>
              <a:buNone/>
            </a:pP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77746-2DC3-DC80-15F4-5E898713D2DB}"/>
              </a:ext>
            </a:extLst>
          </p:cNvPr>
          <p:cNvSpPr txBox="1"/>
          <p:nvPr/>
        </p:nvSpPr>
        <p:spPr>
          <a:xfrm>
            <a:off x="1413933" y="2477642"/>
            <a:ext cx="7086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A626A4"/>
                </a:solidFill>
                <a:effectLst/>
              </a:rPr>
              <a:t>SELECT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4078F2"/>
                </a:solidFill>
                <a:effectLst/>
              </a:rPr>
              <a:t>COUNT</a:t>
            </a:r>
            <a:r>
              <a:rPr lang="en-US" sz="3200" dirty="0">
                <a:solidFill>
                  <a:srgbClr val="383A42"/>
                </a:solidFill>
                <a:effectLst/>
              </a:rPr>
              <a:t>(</a:t>
            </a:r>
            <a:r>
              <a:rPr lang="en-US" sz="3200" dirty="0"/>
              <a:t>column2</a:t>
            </a:r>
            <a:r>
              <a:rPr lang="en-US" sz="3200" dirty="0">
                <a:solidFill>
                  <a:srgbClr val="383A42"/>
                </a:solidFill>
                <a:effectLst/>
              </a:rPr>
              <a:t>)</a:t>
            </a:r>
            <a:r>
              <a:rPr lang="en-US" sz="3200" dirty="0"/>
              <a:t> </a:t>
            </a:r>
          </a:p>
          <a:p>
            <a:r>
              <a:rPr lang="en-US" sz="3200" dirty="0">
                <a:solidFill>
                  <a:srgbClr val="A626A4"/>
                </a:solidFill>
                <a:effectLst/>
              </a:rPr>
              <a:t>FROM</a:t>
            </a:r>
            <a:r>
              <a:rPr lang="en-US" sz="3200" dirty="0"/>
              <a:t> </a:t>
            </a:r>
            <a:r>
              <a:rPr lang="en-US" sz="3200" dirty="0" err="1"/>
              <a:t>table_name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2727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5CFD-AC82-B660-9152-4A688A9E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4: Using the SQL Aggregate Functions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791F5-2521-943E-70D5-323ECA3A0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Key Behaviors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Functions operate on a single column and return a single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functions except COUNT(*) ignore NULL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COUNT(*) counts all rows regardless of NULL or duplicate values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168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876F6-4302-E351-84EB-1B6E203D6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4: Using the SQL Aggregate Functions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95338-AE2C-A769-E412-A33EBAB5C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DISTINCT Keyword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Eliminates duplicates before applying the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affect SUM and AVG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Has no effect on MIN and MAX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be specified only once per query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9033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E7321-48FE-FD00-A369-6DEDB723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725D-29DE-8F04-0967-1880F357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4: Using the SQL Aggregate Functions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536D6-C788-8B40-FC6D-B26C47937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Usage Rules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Aggregate functions can only appear in SELECT list and HAVING clause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Without GROUP BY, columns in SELECT must be within aggregate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 of incorrect query: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A626A4"/>
                </a:solidFill>
                <a:effectLst/>
              </a:rPr>
              <a:t>   SELECT</a:t>
            </a:r>
            <a:r>
              <a:rPr lang="en-US" sz="2800" b="1" dirty="0"/>
              <a:t> </a:t>
            </a:r>
            <a:r>
              <a:rPr lang="en-US" sz="2800" b="1" dirty="0" err="1"/>
              <a:t>staffNo,</a:t>
            </a:r>
            <a:r>
              <a:rPr lang="en-US" sz="2800" b="1" dirty="0" err="1">
                <a:solidFill>
                  <a:srgbClr val="4078F2"/>
                </a:solidFill>
                <a:effectLst/>
              </a:rPr>
              <a:t>COUNT</a:t>
            </a:r>
            <a:r>
              <a:rPr lang="en-US" sz="2800" b="1" dirty="0">
                <a:solidFill>
                  <a:srgbClr val="383A42"/>
                </a:solidFill>
                <a:effectLst/>
              </a:rPr>
              <a:t>(</a:t>
            </a:r>
            <a:r>
              <a:rPr lang="en-US" b="1" dirty="0"/>
              <a:t>salary</a:t>
            </a:r>
            <a:r>
              <a:rPr lang="en-US" sz="2800" b="1" dirty="0">
                <a:solidFill>
                  <a:srgbClr val="383A42"/>
                </a:solidFill>
                <a:effectLst/>
              </a:rPr>
              <a:t>)</a:t>
            </a:r>
            <a:r>
              <a:rPr lang="en-US" sz="2800" b="1" dirty="0"/>
              <a:t>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A626A4"/>
                </a:solidFill>
                <a:effectLst/>
              </a:rPr>
              <a:t>   FROM</a:t>
            </a:r>
            <a:r>
              <a:rPr lang="en-US" sz="2800" b="1" dirty="0"/>
              <a:t> </a:t>
            </a:r>
            <a:r>
              <a:rPr lang="en-US" b="1" dirty="0"/>
              <a:t>Staff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482363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B3FF-AE4E-26ED-5B63-428D48AB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10: Use of COUNT(*)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8F7E1-7843-F5EA-6542-57D781087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many properties cost more than £350 per month to rent?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SELECT COUNT(*) AS </a:t>
            </a:r>
            <a:r>
              <a:rPr lang="en-US" b="1" dirty="0" err="1"/>
              <a:t>myCount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/>
              <a:t>FROM </a:t>
            </a:r>
            <a:r>
              <a:rPr lang="en-US" b="1" dirty="0" err="1"/>
              <a:t>PropertyForRent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/>
              <a:t>WHERE rent &gt; 350;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08680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807D-C989-2AA2-5820-150363C1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11 Use of COUNT and SUM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16ADB-55F7-115A-D19E-323FBBB23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Find the total number of Managers and the sum of their salaries.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627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685EC-5BF9-ADD4-46EE-A4EDA50F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2F98-A251-83CA-2AA2-1596B8BF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11 Use of COUNT and SUM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4870B-8C40-4ED2-ADF5-63BAEC7A2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Find the total number of Managers and the sum of their salaries.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SELECT COUNT (</a:t>
            </a:r>
            <a:r>
              <a:rPr lang="en-US" b="1" dirty="0" err="1"/>
              <a:t>staffNo</a:t>
            </a:r>
            <a:r>
              <a:rPr lang="en-US" b="1" dirty="0"/>
              <a:t>) AS </a:t>
            </a:r>
            <a:r>
              <a:rPr lang="en-US" b="1" dirty="0" err="1"/>
              <a:t>myCount</a:t>
            </a:r>
            <a:r>
              <a:rPr lang="en-US" b="1" dirty="0"/>
              <a:t>, SUM (salary) AS </a:t>
            </a:r>
            <a:r>
              <a:rPr lang="en-US" b="1" dirty="0" err="1"/>
              <a:t>mySum</a:t>
            </a:r>
            <a:r>
              <a:rPr lang="en-US" b="1" dirty="0"/>
              <a:t>   FROM Staff </a:t>
            </a:r>
          </a:p>
          <a:p>
            <a:pPr marL="0" indent="0">
              <a:buNone/>
            </a:pPr>
            <a:r>
              <a:rPr lang="en-US" b="1" dirty="0"/>
              <a:t>WHERE </a:t>
            </a:r>
            <a:r>
              <a:rPr lang="en-US" altLang="zh-CN" b="1" dirty="0" err="1"/>
              <a:t>o</a:t>
            </a:r>
            <a:r>
              <a:rPr lang="en-US" b="1" dirty="0" err="1"/>
              <a:t>Position</a:t>
            </a:r>
            <a:r>
              <a:rPr lang="en-US" b="1" dirty="0"/>
              <a:t> = "Manager";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369466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60C4-10E0-2224-81E4-160FC8227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12 Use of </a:t>
            </a:r>
            <a:r>
              <a:rPr lang="en-US" dirty="0" err="1"/>
              <a:t>MlN</a:t>
            </a:r>
            <a:r>
              <a:rPr lang="en-US" dirty="0"/>
              <a:t>, MAX, AVG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CE9D1-6D4E-8B7F-D1B2-FC6C0980C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744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the minimum, maximum, and average staff salary.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b="1" dirty="0"/>
              <a:t>SELECT MIN(salary) AS </a:t>
            </a:r>
            <a:r>
              <a:rPr lang="en-US" sz="2000" b="1" dirty="0" err="1"/>
              <a:t>myMin</a:t>
            </a:r>
            <a:r>
              <a:rPr lang="en-US" sz="2000" b="1" dirty="0"/>
              <a:t>, MAX (salary) AS </a:t>
            </a:r>
            <a:r>
              <a:rPr lang="en-US" sz="2000" b="1" dirty="0" err="1"/>
              <a:t>myMax</a:t>
            </a:r>
            <a:r>
              <a:rPr lang="en-US" sz="2000" b="1" dirty="0"/>
              <a:t>, AVG (salary) AS </a:t>
            </a:r>
            <a:r>
              <a:rPr lang="en-US" sz="2000" b="1" dirty="0" err="1"/>
              <a:t>myAvg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FROM Staff; 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2942575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A6FA9-8CA4-AC0A-F27B-BCBF3718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5: Grouping Results (GROUP BY Clause)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37644-D61D-1F0A-DF99-11657D40A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Grouping Query Basics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 BY clause generates data subtotals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Grouped queries organize data and produce one summary row per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Columns in GROUP BY are called grouping columns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2748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6FCB-1877-C3E2-B7A9-77DA3EC58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832A0-29D7-EF65-BD2C-FE0E16BFA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5: Grouping Results (GROUP BY Clause)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6E91F-9086-C014-9228-EC6E825E9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Important Restrictions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column names in SELECT must appear in GROUP BY (unless used only in aggregate functions)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 BY clause may contain columns not listed in SELECT</a:t>
            </a:r>
          </a:p>
          <a:p>
            <a:pPr>
              <a:buNone/>
            </a:pPr>
            <a:r>
              <a:rPr lang="en-US" b="1" dirty="0"/>
              <a:t>WHERE and GROUP BY Order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WHERE conditions are applied first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Groups are then formed from remaining rows that satisfy the search condition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3162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E91F-9610-10B1-5763-42E716701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13: Use of GROUP BY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17F7F-FBCB-09C0-4F33-E2BEDDC36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013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the number of staff working in each branch and the sum of their salaries.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SELECT </a:t>
            </a:r>
            <a:r>
              <a:rPr lang="en-US" b="1" dirty="0" err="1"/>
              <a:t>branchNo</a:t>
            </a:r>
            <a:r>
              <a:rPr lang="en-US" b="1" dirty="0"/>
              <a:t>, COUNT (</a:t>
            </a:r>
            <a:r>
              <a:rPr lang="en-US" b="1" dirty="0" err="1"/>
              <a:t>staffNo</a:t>
            </a:r>
            <a:r>
              <a:rPr lang="en-US" b="1" dirty="0"/>
              <a:t>) AS </a:t>
            </a:r>
            <a:r>
              <a:rPr lang="en-US" b="1" dirty="0" err="1"/>
              <a:t>myCount</a:t>
            </a:r>
            <a:r>
              <a:rPr lang="en-US" b="1" dirty="0"/>
              <a:t>, SUM (salary) AS </a:t>
            </a:r>
            <a:r>
              <a:rPr lang="en-US" b="1" dirty="0" err="1"/>
              <a:t>mySum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/>
              <a:t>FROM Staff </a:t>
            </a:r>
          </a:p>
          <a:p>
            <a:pPr marL="0" indent="0">
              <a:buNone/>
            </a:pPr>
            <a:r>
              <a:rPr lang="en-US" b="1" dirty="0"/>
              <a:t>GROUP BY </a:t>
            </a:r>
            <a:r>
              <a:rPr lang="en-US" b="1" dirty="0" err="1"/>
              <a:t>branchNo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/>
              <a:t>ORDER BY </a:t>
            </a:r>
            <a:r>
              <a:rPr lang="en-US" b="1" dirty="0" err="1"/>
              <a:t>branchNo</a:t>
            </a:r>
            <a:r>
              <a:rPr lang="en-US" b="1" dirty="0"/>
              <a:t>;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920375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E7F4-A163-F280-7D70-64205750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6: Restricting groupings (HAVING clause)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1349A-82E0-6AF8-F378-461CEAE49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Purpose and Function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HAVING clause restricts which groups appear in final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Works specifically with GROUP BY clause</a:t>
            </a:r>
          </a:p>
          <a:p>
            <a:pPr>
              <a:buNone/>
            </a:pPr>
            <a:r>
              <a:rPr lang="en-US" b="1" dirty="0"/>
              <a:t>HAVING vs WHERE Comparison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WHERE filters individual rows before grouping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HAVING filters groups after they are formed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1663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D618-9DB9-584C-8231-1F39C759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6: Restricting groupings (HAVING clause)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D8767-4339-2B13-96A2-0B54FCBC7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/>
              <a:t>ISO Standard Requirements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Column names in HAVING must either: </a:t>
            </a:r>
          </a:p>
          <a:p>
            <a:pPr marL="0" indent="0">
              <a:buNone/>
            </a:pPr>
            <a:r>
              <a:rPr lang="en-US" dirty="0"/>
              <a:t>• Appear in the GROUP BY list, or </a:t>
            </a:r>
          </a:p>
          <a:p>
            <a:pPr marL="0" indent="0">
              <a:buNone/>
            </a:pPr>
            <a:r>
              <a:rPr lang="en-US" dirty="0"/>
              <a:t>• Be contained within an aggregate function</a:t>
            </a:r>
          </a:p>
          <a:p>
            <a:pPr>
              <a:buNone/>
            </a:pPr>
            <a:r>
              <a:rPr lang="en-US" b="1" dirty="0"/>
              <a:t>Practical Considerations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HAVING conditions typically include at least one aggregate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Without aggregate functions, conditions could be moved to WHERE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Aggregate functions cannot be used in WHERE clause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Any query using HAVING can be rewritten without it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53815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0ECC-6522-7687-6681-A22AFAA6A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14: Use of HAVING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DD5BC-71C9-742A-7E18-6E9EE58C6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each branch office with more than one member of staff, find the number of staff working in each branch and the sum of their salaries.</a:t>
            </a:r>
          </a:p>
          <a:p>
            <a:pPr marL="0" indent="0">
              <a:buNone/>
            </a:pPr>
            <a:r>
              <a:rPr lang="en-US" b="1" dirty="0"/>
              <a:t>SELECT </a:t>
            </a:r>
            <a:r>
              <a:rPr lang="en-US" b="1" dirty="0" err="1"/>
              <a:t>branchNo</a:t>
            </a:r>
            <a:r>
              <a:rPr lang="en-US" b="1" dirty="0"/>
              <a:t>, COUNT (</a:t>
            </a:r>
            <a:r>
              <a:rPr lang="en-US" b="1" dirty="0" err="1"/>
              <a:t>staffNo</a:t>
            </a:r>
            <a:r>
              <a:rPr lang="en-US" b="1" dirty="0"/>
              <a:t>) AS </a:t>
            </a:r>
            <a:r>
              <a:rPr lang="en-US" b="1" dirty="0" err="1"/>
              <a:t>myCount</a:t>
            </a:r>
            <a:r>
              <a:rPr lang="en-US" b="1" dirty="0"/>
              <a:t>, SUM (salary) AS </a:t>
            </a:r>
            <a:r>
              <a:rPr lang="en-US" b="1" dirty="0" err="1"/>
              <a:t>mySum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FROM Staff</a:t>
            </a:r>
          </a:p>
          <a:p>
            <a:pPr marL="0" indent="0">
              <a:buNone/>
            </a:pPr>
            <a:r>
              <a:rPr lang="en-US" b="1" dirty="0"/>
              <a:t>GROUP BY </a:t>
            </a:r>
            <a:r>
              <a:rPr lang="en-US" b="1" dirty="0" err="1"/>
              <a:t>branchNo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HAVING COUNT (</a:t>
            </a:r>
            <a:r>
              <a:rPr lang="en-US" b="1" dirty="0" err="1"/>
              <a:t>staffNo</a:t>
            </a:r>
            <a:r>
              <a:rPr lang="en-US" b="1" dirty="0"/>
              <a:t>) &gt; 1</a:t>
            </a:r>
          </a:p>
          <a:p>
            <a:pPr marL="0" indent="0">
              <a:buNone/>
            </a:pPr>
            <a:r>
              <a:rPr lang="en-US" b="1" dirty="0"/>
              <a:t>ORDER BY </a:t>
            </a:r>
            <a:r>
              <a:rPr lang="en-US" b="1" dirty="0" err="1"/>
              <a:t>branchNo</a:t>
            </a:r>
            <a:r>
              <a:rPr lang="en-US" b="1" dirty="0"/>
              <a:t>;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41574747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384D-7154-AF89-78E5-F6231C2AD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Part 7: Multi-table Queries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54FEB-28BC-5844-9AFD-C078F7505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queries we've considered so far have a major constraint - all columns in the result table must come </a:t>
            </a:r>
            <a:r>
              <a:rPr lang="en-US" dirty="0">
                <a:highlight>
                  <a:srgbClr val="FFFF00"/>
                </a:highlight>
              </a:rPr>
              <a:t>from a single table</a:t>
            </a:r>
            <a:r>
              <a:rPr lang="en-US" dirty="0"/>
              <a:t>. This is often insufficient for answering common user queries.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Purpose of </a:t>
            </a:r>
            <a:r>
              <a:rPr lang="en-US" b="1" dirty="0"/>
              <a:t>joins</a:t>
            </a:r>
            <a:r>
              <a:rPr lang="en-US" dirty="0"/>
              <a:t>: </a:t>
            </a:r>
            <a:r>
              <a:rPr lang="en-US" b="1" dirty="0"/>
              <a:t>Join</a:t>
            </a:r>
            <a:r>
              <a:rPr lang="en-US" dirty="0"/>
              <a:t> operations allow you to combine information from multiple tables into one result table by forming pairs of related rows.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joins work: </a:t>
            </a:r>
            <a:r>
              <a:rPr lang="en-US" b="1" dirty="0"/>
              <a:t>Joins combine row pairs where matching columns in both tables have the same value.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897556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8C45-F724-C350-793C-1D192C5A1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Part 7: Multi-table Queries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1FCE-5CD1-0597-E8E8-F27995766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Basic syntax: To perform a join, include multiple table names in the FROM clause separated by commas, typically using a WHERE clause to specify the join columns. </a:t>
            </a:r>
          </a:p>
          <a:p>
            <a:pPr>
              <a:buNone/>
            </a:pPr>
            <a:r>
              <a:rPr lang="en-US" dirty="0"/>
              <a:t>For example: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A626A4"/>
                </a:solidFill>
                <a:effectLst/>
              </a:rPr>
              <a:t>SELECT</a:t>
            </a:r>
            <a:r>
              <a:rPr lang="en-US" b="1" dirty="0"/>
              <a:t> </a:t>
            </a:r>
            <a:r>
              <a:rPr lang="en-US" b="1" dirty="0">
                <a:solidFill>
                  <a:srgbClr val="A626A4"/>
                </a:solidFill>
                <a:effectLst/>
              </a:rPr>
              <a:t>columns</a:t>
            </a:r>
            <a:r>
              <a:rPr lang="en-US" b="1" dirty="0"/>
              <a:t> </a:t>
            </a:r>
          </a:p>
          <a:p>
            <a:pPr>
              <a:buNone/>
            </a:pPr>
            <a:r>
              <a:rPr lang="en-US" b="1" dirty="0">
                <a:solidFill>
                  <a:srgbClr val="A626A4"/>
                </a:solidFill>
                <a:effectLst/>
              </a:rPr>
              <a:t>FROM</a:t>
            </a:r>
            <a:r>
              <a:rPr lang="en-US" b="1" dirty="0"/>
              <a:t> table1</a:t>
            </a:r>
            <a:r>
              <a:rPr lang="en-US" b="1" dirty="0">
                <a:solidFill>
                  <a:srgbClr val="383A42"/>
                </a:solidFill>
                <a:effectLst/>
              </a:rPr>
              <a:t>,</a:t>
            </a:r>
            <a:r>
              <a:rPr lang="en-US" b="1" dirty="0"/>
              <a:t> table2 </a:t>
            </a:r>
          </a:p>
          <a:p>
            <a:pPr>
              <a:buNone/>
            </a:pPr>
            <a:r>
              <a:rPr lang="en-US" b="1" dirty="0">
                <a:solidFill>
                  <a:srgbClr val="A626A4"/>
                </a:solidFill>
                <a:effectLst/>
              </a:rPr>
              <a:t>WHERE</a:t>
            </a:r>
            <a:r>
              <a:rPr lang="en-US" b="1" dirty="0"/>
              <a:t> table1</a:t>
            </a:r>
            <a:r>
              <a:rPr lang="en-US" b="1" dirty="0">
                <a:solidFill>
                  <a:srgbClr val="383A42"/>
                </a:solidFill>
                <a:effectLst/>
              </a:rPr>
              <a:t>.</a:t>
            </a:r>
            <a:r>
              <a:rPr lang="en-US" b="1" dirty="0">
                <a:solidFill>
                  <a:srgbClr val="A626A4"/>
                </a:solidFill>
                <a:effectLst/>
              </a:rPr>
              <a:t>column</a:t>
            </a:r>
            <a:r>
              <a:rPr lang="en-US" b="1" dirty="0"/>
              <a:t> </a:t>
            </a:r>
            <a:r>
              <a:rPr lang="en-US" b="1" dirty="0">
                <a:solidFill>
                  <a:srgbClr val="4078F2"/>
                </a:solidFill>
                <a:effectLst/>
              </a:rPr>
              <a:t>=</a:t>
            </a:r>
            <a:r>
              <a:rPr lang="en-US" b="1" dirty="0"/>
              <a:t> table2</a:t>
            </a:r>
            <a:r>
              <a:rPr lang="en-US" b="1" dirty="0">
                <a:solidFill>
                  <a:srgbClr val="383A42"/>
                </a:solidFill>
                <a:effectLst/>
              </a:rPr>
              <a:t>.</a:t>
            </a:r>
            <a:r>
              <a:rPr lang="en-US" b="1" dirty="0">
                <a:solidFill>
                  <a:srgbClr val="A626A4"/>
                </a:solidFill>
                <a:effectLst/>
              </a:rPr>
              <a:t>column</a:t>
            </a:r>
            <a:r>
              <a:rPr lang="en-US" b="1" dirty="0">
                <a:solidFill>
                  <a:srgbClr val="383A42"/>
                </a:solidFill>
                <a:effectLst/>
              </a:rPr>
              <a:t>;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532869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71D56-8BF8-94B4-F219-3C354861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Part 7: Multi-table Queries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B7979-5B5B-387E-8E36-C50BF0273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056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Table Aliases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You can use aliases for tables in the FROM clause. The alias is separated from the table name with a space. Aliases can qualify column names to avoid ambiguity and provide shorthand notation. If an alias is provided, it can be used anywhere instead of the table name. </a:t>
            </a:r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A626A4"/>
                </a:solidFill>
                <a:effectLst/>
              </a:rPr>
              <a:t>SELECT</a:t>
            </a:r>
            <a:r>
              <a:rPr lang="en-US" b="1" dirty="0"/>
              <a:t> </a:t>
            </a:r>
            <a:r>
              <a:rPr lang="en-US" b="1" dirty="0">
                <a:solidFill>
                  <a:srgbClr val="A626A4"/>
                </a:solidFill>
                <a:effectLst/>
              </a:rPr>
              <a:t>columns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A626A4"/>
                </a:solidFill>
                <a:effectLst/>
              </a:rPr>
              <a:t>FROM</a:t>
            </a:r>
            <a:r>
              <a:rPr lang="en-US" b="1" dirty="0"/>
              <a:t> table1 t1</a:t>
            </a:r>
            <a:r>
              <a:rPr lang="en-US" b="1" dirty="0">
                <a:solidFill>
                  <a:srgbClr val="383A42"/>
                </a:solidFill>
                <a:effectLst/>
              </a:rPr>
              <a:t>,</a:t>
            </a:r>
            <a:r>
              <a:rPr lang="en-US" b="1" dirty="0"/>
              <a:t> table2 t2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A626A4"/>
                </a:solidFill>
                <a:effectLst/>
              </a:rPr>
              <a:t>WHERE</a:t>
            </a:r>
            <a:r>
              <a:rPr lang="en-US" b="1" dirty="0"/>
              <a:t> t1</a:t>
            </a:r>
            <a:r>
              <a:rPr lang="en-US" b="1" dirty="0">
                <a:solidFill>
                  <a:srgbClr val="383A42"/>
                </a:solidFill>
                <a:effectLst/>
              </a:rPr>
              <a:t>.</a:t>
            </a:r>
            <a:r>
              <a:rPr lang="en-US" b="1" dirty="0">
                <a:solidFill>
                  <a:srgbClr val="A626A4"/>
                </a:solidFill>
                <a:effectLst/>
              </a:rPr>
              <a:t>column</a:t>
            </a:r>
            <a:r>
              <a:rPr lang="en-US" b="1" dirty="0"/>
              <a:t> </a:t>
            </a:r>
            <a:r>
              <a:rPr lang="en-US" b="1" dirty="0">
                <a:solidFill>
                  <a:srgbClr val="4078F2"/>
                </a:solidFill>
                <a:effectLst/>
              </a:rPr>
              <a:t>=</a:t>
            </a:r>
            <a:r>
              <a:rPr lang="en-US" b="1" dirty="0"/>
              <a:t> t2</a:t>
            </a:r>
            <a:r>
              <a:rPr lang="en-US" b="1" dirty="0">
                <a:solidFill>
                  <a:srgbClr val="383A42"/>
                </a:solidFill>
                <a:effectLst/>
              </a:rPr>
              <a:t>.</a:t>
            </a:r>
            <a:r>
              <a:rPr lang="en-US" b="1" dirty="0">
                <a:solidFill>
                  <a:srgbClr val="A626A4"/>
                </a:solidFill>
                <a:effectLst/>
              </a:rPr>
              <a:t>column</a:t>
            </a:r>
            <a:r>
              <a:rPr lang="en-US" b="1" dirty="0">
                <a:solidFill>
                  <a:srgbClr val="383A42"/>
                </a:solidFill>
                <a:effectLst/>
              </a:rPr>
              <a:t>;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930509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5C00-AB2B-505F-3C36-DB7C5627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Challenge 15: Simple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D4147-D5C7-37DB-72A9-BE1F8B962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List the names of all clients who have viewed a property, along with any comments supplied.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AU" b="1" dirty="0"/>
              <a:t>SELECT </a:t>
            </a:r>
            <a:r>
              <a:rPr lang="en-AU" b="1" dirty="0" err="1"/>
              <a:t>c.clientNo</a:t>
            </a:r>
            <a:r>
              <a:rPr lang="en-AU" b="1" dirty="0"/>
              <a:t>, </a:t>
            </a:r>
            <a:r>
              <a:rPr lang="en-AU" b="1" dirty="0" err="1"/>
              <a:t>fName</a:t>
            </a:r>
            <a:r>
              <a:rPr lang="en-AU" b="1" dirty="0"/>
              <a:t>, </a:t>
            </a:r>
            <a:r>
              <a:rPr lang="en-AU" b="1" dirty="0" err="1"/>
              <a:t>Lname</a:t>
            </a:r>
            <a:r>
              <a:rPr lang="en-AU" b="1" dirty="0"/>
              <a:t>, </a:t>
            </a:r>
            <a:r>
              <a:rPr lang="en-AU" b="1" dirty="0" err="1"/>
              <a:t>propertyNo</a:t>
            </a:r>
            <a:r>
              <a:rPr lang="en-AU" b="1" dirty="0"/>
              <a:t>, comments </a:t>
            </a:r>
          </a:p>
          <a:p>
            <a:pPr marL="0" indent="0">
              <a:buNone/>
            </a:pPr>
            <a:r>
              <a:rPr lang="en-AU" b="1" dirty="0"/>
              <a:t>FROM Client c, Viewing v </a:t>
            </a:r>
          </a:p>
          <a:p>
            <a:pPr marL="0" indent="0">
              <a:buNone/>
            </a:pPr>
            <a:r>
              <a:rPr lang="en-AU" b="1" dirty="0"/>
              <a:t>WHERE </a:t>
            </a:r>
            <a:r>
              <a:rPr lang="en-AU" b="1" dirty="0" err="1"/>
              <a:t>c.clientNo</a:t>
            </a:r>
            <a:r>
              <a:rPr lang="en-AU" b="1" dirty="0"/>
              <a:t> = </a:t>
            </a:r>
            <a:r>
              <a:rPr lang="en-AU" b="1" dirty="0" err="1"/>
              <a:t>v.clientNo</a:t>
            </a:r>
            <a:r>
              <a:rPr lang="en-AU" b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490394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4934-35DF-1E6B-C32C-F0967A16FE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/>
              <a:t>Primary Key </a:t>
            </a:r>
            <a:r>
              <a:rPr lang="en-AU" dirty="0"/>
              <a:t>Vs. </a:t>
            </a:r>
            <a:r>
              <a:rPr lang="en-AU" b="1" dirty="0"/>
              <a:t>Foreign Key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3B642-34E7-877B-27F3-C7B2EECA9E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5353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2E3F-07C7-DE25-CB6B-08C09E84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8803-7E7B-83E9-B2C6-3D26AEC06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primary key is a field or combination of fields in a table that </a:t>
            </a:r>
            <a:r>
              <a:rPr lang="en-US" b="1" dirty="0">
                <a:highlight>
                  <a:srgbClr val="FFFF00"/>
                </a:highlight>
              </a:rPr>
              <a:t>uniquely identifies each record </a:t>
            </a:r>
            <a:r>
              <a:rPr lang="en-US" dirty="0"/>
              <a:t>in that table. It cannot contain duplicate values or null values.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this example:</a:t>
            </a:r>
          </a:p>
          <a:p>
            <a:r>
              <a:rPr lang="en-US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clientNo</a:t>
            </a:r>
            <a:r>
              <a:rPr lang="en-US" dirty="0"/>
              <a:t> in the Client table is the primary key</a:t>
            </a:r>
          </a:p>
          <a:p>
            <a:r>
              <a:rPr lang="en-US" dirty="0"/>
              <a:t>Each client has a unique client number; no two clients can share the same </a:t>
            </a:r>
            <a:r>
              <a:rPr lang="en-US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clientNo</a:t>
            </a:r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r>
              <a:rPr lang="en-US" dirty="0"/>
              <a:t>Using the primary key, we can locate precisely one specific client record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80255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1DEBC-200A-CC19-9A64-3CD6917F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6EDC-F408-1EC0-08D0-E929B68E2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B3AD8-B9BD-6778-6ADF-905BB1FDC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Characteristics of primary keys:</a:t>
            </a:r>
          </a:p>
          <a:p>
            <a:pPr>
              <a:buFont typeface="+mj-lt"/>
              <a:buAutoNum type="arabicPeriod"/>
            </a:pPr>
            <a:r>
              <a:rPr lang="en-US" dirty="0"/>
              <a:t>Uniqueness: </a:t>
            </a:r>
            <a:r>
              <a:rPr lang="en-US" b="1" dirty="0">
                <a:highlight>
                  <a:srgbClr val="FFFF00"/>
                </a:highlight>
              </a:rPr>
              <a:t>No two records in the table </a:t>
            </a:r>
            <a:r>
              <a:rPr lang="en-US" dirty="0"/>
              <a:t>can have the same primary key value</a:t>
            </a:r>
          </a:p>
          <a:p>
            <a:pPr>
              <a:buFont typeface="+mj-lt"/>
              <a:buAutoNum type="arabicPeriod"/>
            </a:pPr>
            <a:r>
              <a:rPr lang="en-US" dirty="0"/>
              <a:t>Non-null: Primary keys </a:t>
            </a:r>
            <a:r>
              <a:rPr lang="en-US" b="1" dirty="0">
                <a:highlight>
                  <a:srgbClr val="FFFF00"/>
                </a:highlight>
              </a:rPr>
              <a:t>cannot be NULL</a:t>
            </a:r>
          </a:p>
          <a:p>
            <a:pPr>
              <a:buFont typeface="+mj-lt"/>
              <a:buAutoNum type="arabicPeriod"/>
            </a:pPr>
            <a:r>
              <a:rPr lang="en-US" dirty="0"/>
              <a:t>Minimality: </a:t>
            </a:r>
            <a:r>
              <a:rPr lang="en-US" b="1" dirty="0">
                <a:highlight>
                  <a:srgbClr val="FFFF00"/>
                </a:highlight>
              </a:rPr>
              <a:t>Only necessary columns </a:t>
            </a:r>
            <a:r>
              <a:rPr lang="en-US" dirty="0"/>
              <a:t>are included in the primary key</a:t>
            </a:r>
          </a:p>
        </p:txBody>
      </p:sp>
    </p:spTree>
    <p:extLst>
      <p:ext uri="{BB962C8B-B14F-4D97-AF65-F5344CB8AC3E}">
        <p14:creationId xmlns:p14="http://schemas.microsoft.com/office/powerpoint/2010/main" val="3315829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99B21-C877-1485-93F7-012D6CEB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Foreign Key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8BB2F-BFA2-4A6C-AF09-05C556EC5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foreign key is a field or combination of fields in a table that </a:t>
            </a:r>
            <a:r>
              <a:rPr lang="en-US" b="1" dirty="0">
                <a:highlight>
                  <a:srgbClr val="FFFF00"/>
                </a:highlight>
              </a:rPr>
              <a:t>references the primary key of another table</a:t>
            </a:r>
            <a:r>
              <a:rPr lang="en-US" dirty="0"/>
              <a:t>, establishing a relationship between the two tables.</a:t>
            </a:r>
          </a:p>
          <a:p>
            <a:pPr marL="0" indent="0">
              <a:buNone/>
            </a:pPr>
            <a:r>
              <a:rPr lang="en-US" dirty="0"/>
              <a:t>In this example:</a:t>
            </a:r>
          </a:p>
          <a:p>
            <a:pPr marL="0" indent="0">
              <a:buNone/>
            </a:pPr>
            <a:r>
              <a:rPr lang="en-US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clientNo</a:t>
            </a:r>
            <a:r>
              <a:rPr lang="en-US" dirty="0"/>
              <a:t> in the Viewing table is a foreign key</a:t>
            </a:r>
          </a:p>
          <a:p>
            <a:pPr marL="0" indent="0">
              <a:buNone/>
            </a:pPr>
            <a:r>
              <a:rPr lang="en-US" dirty="0"/>
              <a:t>This foreign key references the primary key </a:t>
            </a:r>
            <a:r>
              <a:rPr lang="en-US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clientNo</a:t>
            </a:r>
            <a:r>
              <a:rPr lang="en-US" dirty="0"/>
              <a:t> in the Client table</a:t>
            </a:r>
          </a:p>
          <a:p>
            <a:pPr marL="0" indent="0">
              <a:buNone/>
            </a:pPr>
            <a:r>
              <a:rPr lang="en-US" dirty="0"/>
              <a:t>This means each record in the Viewing table is associated with a client in the Client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5218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81B87-7EC3-115C-DF35-8D249D42A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Foreign Key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02395-A8A8-9F13-3170-F5C94D7EF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Characteristics of foreign keys:</a:t>
            </a:r>
          </a:p>
          <a:p>
            <a:pPr>
              <a:buFont typeface="+mj-lt"/>
              <a:buAutoNum type="arabicPeriod"/>
            </a:pPr>
            <a:r>
              <a:rPr lang="en-US" dirty="0"/>
              <a:t>Referential integrity: Foreign key values must exist in the referenced table's primary key or </a:t>
            </a:r>
            <a:r>
              <a:rPr lang="en-US" dirty="0">
                <a:highlight>
                  <a:srgbClr val="FFFF00"/>
                </a:highlight>
              </a:rPr>
              <a:t>be NULL</a:t>
            </a:r>
          </a:p>
          <a:p>
            <a:pPr>
              <a:buFont typeface="+mj-lt"/>
              <a:buAutoNum type="arabicPeriod"/>
            </a:pPr>
            <a:r>
              <a:rPr lang="en-US" dirty="0"/>
              <a:t>Relationship creation: Creates links between tables, allowing us to query across multiple tables</a:t>
            </a:r>
          </a:p>
          <a:p>
            <a:pPr>
              <a:buFont typeface="+mj-lt"/>
              <a:buAutoNum type="arabicPeriod"/>
            </a:pPr>
            <a:r>
              <a:rPr lang="en-US" dirty="0"/>
              <a:t>Cascade operations: When data in the primary key table changes, related data in the foreign key table can be updated accordingly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52131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6B3D-9130-0F9F-C5DD-4C971C95F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Relationship Between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6623E-B157-F06C-D57B-5A81BBAAE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 this example, the </a:t>
            </a:r>
            <a:r>
              <a:rPr lang="en-US" sz="2400" b="1" dirty="0"/>
              <a:t>Client</a:t>
            </a:r>
            <a:r>
              <a:rPr lang="en-US" sz="2400" dirty="0"/>
              <a:t> and </a:t>
            </a:r>
            <a:r>
              <a:rPr lang="en-US" sz="2400" b="1" dirty="0"/>
              <a:t>Viewing</a:t>
            </a:r>
            <a:r>
              <a:rPr lang="en-US" sz="2400" dirty="0"/>
              <a:t> tables are connected through a primary-foreign key relationship:</a:t>
            </a:r>
          </a:p>
          <a:p>
            <a:r>
              <a:rPr lang="en-US" sz="2400" dirty="0"/>
              <a:t>One client (uniquely identified by </a:t>
            </a:r>
            <a:r>
              <a:rPr lang="en-US" sz="2400" b="1" u="sng" dirty="0" err="1"/>
              <a:t>clientNo</a:t>
            </a:r>
            <a:r>
              <a:rPr lang="en-US" sz="2400" dirty="0"/>
              <a:t> in the Client table) may have multiple viewing records (in the Viewing table)</a:t>
            </a:r>
          </a:p>
          <a:p>
            <a:r>
              <a:rPr lang="en-US" sz="2400" dirty="0"/>
              <a:t>But each viewing record belongs to only one client</a:t>
            </a:r>
          </a:p>
          <a:p>
            <a:pPr marL="0" indent="0">
              <a:buNone/>
            </a:pPr>
            <a:r>
              <a:rPr lang="en-US" sz="2400" dirty="0"/>
              <a:t>This is a typical one-to-many relationship. Through JOIN operations, we can query information like "which client viewed which properties.“</a:t>
            </a:r>
          </a:p>
          <a:p>
            <a:pPr marL="0" indent="0">
              <a:buNone/>
            </a:pPr>
            <a:r>
              <a:rPr lang="en-US" sz="2400" dirty="0"/>
              <a:t>This </a:t>
            </a:r>
            <a:r>
              <a:rPr lang="en-US" sz="2400" b="1" dirty="0"/>
              <a:t>primary-foreign key design </a:t>
            </a:r>
            <a:r>
              <a:rPr lang="en-US" sz="2400" dirty="0"/>
              <a:t>is a core concept in relational databases. It ensures data integrity and consistency while allowing us to organize and query data according to real-world relationship structures.</a:t>
            </a:r>
            <a:endParaRPr lang="en-AU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7CD4FE5-F41B-242F-4DA5-4BAA5C64ABF2}"/>
                  </a:ext>
                </a:extLst>
              </p14:cNvPr>
              <p14:cNvContentPartPr/>
              <p14:nvPr/>
            </p14:nvContentPartPr>
            <p14:xfrm>
              <a:off x="924840" y="2345760"/>
              <a:ext cx="10014480" cy="1501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7CD4FE5-F41B-242F-4DA5-4BAA5C64AB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5480" y="2336400"/>
                <a:ext cx="10033200" cy="151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92765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EDC3-CB96-7A4C-75F1-EC1E4D76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16: Sorting a join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50161-F7B7-1FAB-8C74-38776E16A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each branch office, list the staff numbers and names of staff who manage properties and the properties that they manage.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 SELECT </a:t>
            </a:r>
            <a:r>
              <a:rPr lang="en-US" sz="2400" b="1" dirty="0" err="1"/>
              <a:t>s.branchNo</a:t>
            </a:r>
            <a:r>
              <a:rPr lang="en-US" sz="2400" b="1" dirty="0"/>
              <a:t>, </a:t>
            </a:r>
            <a:r>
              <a:rPr lang="en-US" sz="2400" b="1" dirty="0" err="1"/>
              <a:t>s.staffNo</a:t>
            </a:r>
            <a:r>
              <a:rPr lang="en-US" sz="2400" b="1" dirty="0"/>
              <a:t>, </a:t>
            </a:r>
            <a:r>
              <a:rPr lang="en-US" sz="2400" b="1" dirty="0" err="1"/>
              <a:t>fName</a:t>
            </a:r>
            <a:r>
              <a:rPr lang="en-US" sz="2400" b="1" dirty="0"/>
              <a:t>, </a:t>
            </a:r>
            <a:r>
              <a:rPr lang="en-US" sz="2400" b="1" dirty="0" err="1"/>
              <a:t>Lname</a:t>
            </a:r>
            <a:r>
              <a:rPr lang="en-US" sz="2400" b="1" dirty="0"/>
              <a:t>, </a:t>
            </a:r>
            <a:r>
              <a:rPr lang="en-US" sz="2400" b="1" dirty="0" err="1"/>
              <a:t>propertyNo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r>
              <a:rPr lang="en-US" sz="2400" b="1" dirty="0"/>
              <a:t> FROM Staff s, </a:t>
            </a:r>
            <a:r>
              <a:rPr lang="en-US" sz="2400" b="1" dirty="0" err="1"/>
              <a:t>PropertyForRent</a:t>
            </a:r>
            <a:r>
              <a:rPr lang="en-US" sz="2400" b="1" dirty="0"/>
              <a:t> p </a:t>
            </a:r>
          </a:p>
          <a:p>
            <a:pPr marL="0" indent="0">
              <a:buNone/>
            </a:pPr>
            <a:r>
              <a:rPr lang="en-US" sz="2400" b="1" dirty="0"/>
              <a:t> WHERE </a:t>
            </a:r>
            <a:r>
              <a:rPr lang="en-US" sz="2400" b="1" dirty="0" err="1"/>
              <a:t>s.staffNo</a:t>
            </a:r>
            <a:r>
              <a:rPr lang="en-US" sz="2400" b="1" dirty="0"/>
              <a:t> = </a:t>
            </a:r>
            <a:r>
              <a:rPr lang="en-US" sz="2400" b="1" dirty="0" err="1"/>
              <a:t>p.staffNo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r>
              <a:rPr lang="en-US" sz="2400" b="1" dirty="0"/>
              <a:t> ORDER BY </a:t>
            </a:r>
            <a:r>
              <a:rPr lang="en-US" sz="2400" b="1" dirty="0" err="1"/>
              <a:t>s.branchNo</a:t>
            </a:r>
            <a:r>
              <a:rPr lang="en-US" sz="2400" b="1" dirty="0"/>
              <a:t>, </a:t>
            </a:r>
            <a:r>
              <a:rPr lang="en-US" sz="2400" b="1" dirty="0" err="1"/>
              <a:t>s.staffNo</a:t>
            </a:r>
            <a:r>
              <a:rPr lang="en-US" sz="2400" b="1" dirty="0"/>
              <a:t>, </a:t>
            </a:r>
            <a:r>
              <a:rPr lang="en-US" sz="2400" b="1" dirty="0" err="1"/>
              <a:t>propertyNo</a:t>
            </a:r>
            <a:r>
              <a:rPr lang="en-US" sz="2400" b="1" dirty="0"/>
              <a:t>;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1940384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AE91C-324A-5DA6-C384-09312166A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 Part 8 Subqueries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79BD8-9375-2F4C-77FE-4ECD04C7E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subquery</a:t>
            </a:r>
            <a:r>
              <a:rPr lang="en-US" dirty="0"/>
              <a:t> in SQL is basically a query inside another query. It’s sometimes called an </a:t>
            </a:r>
            <a:r>
              <a:rPr lang="en-US" i="1" dirty="0"/>
              <a:t>inner query</a:t>
            </a:r>
            <a:r>
              <a:rPr lang="en-US" dirty="0"/>
              <a:t> or </a:t>
            </a:r>
            <a:r>
              <a:rPr lang="en-US" i="1" dirty="0"/>
              <a:t>nested query</a:t>
            </a:r>
            <a:r>
              <a:rPr lang="en-US" dirty="0"/>
              <a:t>. Think of it like a Russian doll: the smaller query runs first, and its result gets passed to the larger query that wraps around it.</a:t>
            </a:r>
          </a:p>
          <a:p>
            <a:r>
              <a:rPr lang="en-US" dirty="0"/>
              <a:t>You use subqueries when you need to calculate or filter something using the results of another query, instead of hard-coding values.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8833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E38DE-8C6F-E5BB-C786-9DB6444D0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DCEA9-992C-05DB-29C0-1633A44E5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General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C5FA1-C9BA-E899-13EB-204142634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column1, column2, ...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columnX</a:t>
            </a:r>
            <a:r>
              <a:rPr lang="en-US" dirty="0"/>
              <a:t> operator (SELECT </a:t>
            </a:r>
            <a:r>
              <a:rPr lang="en-US" dirty="0" err="1"/>
              <a:t>columnY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FROM </a:t>
            </a:r>
            <a:r>
              <a:rPr lang="en-US" dirty="0" err="1"/>
              <a:t>another_table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WHERE condition);</a:t>
            </a:r>
          </a:p>
          <a:p>
            <a:r>
              <a:rPr lang="en-US" dirty="0"/>
              <a:t>The inner query (inside parentheses) runs first.</a:t>
            </a:r>
          </a:p>
          <a:p>
            <a:r>
              <a:rPr lang="en-US" dirty="0"/>
              <a:t>The outer query uses the result from the inner query.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229859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E339B-BDDF-9772-AD74-2917F07D6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-- Clients registered by staff earning &gt; 20000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44176-9FE9-E5DF-E968-756BE28B3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SELECT </a:t>
            </a:r>
            <a:r>
              <a:rPr lang="en-AU" dirty="0" err="1"/>
              <a:t>c.clientNo</a:t>
            </a:r>
            <a:r>
              <a:rPr lang="en-AU" dirty="0"/>
              <a:t>, </a:t>
            </a:r>
            <a:r>
              <a:rPr lang="en-AU" dirty="0" err="1"/>
              <a:t>c.fName</a:t>
            </a:r>
            <a:r>
              <a:rPr lang="en-AU" dirty="0"/>
              <a:t>, </a:t>
            </a:r>
            <a:r>
              <a:rPr lang="en-AU" dirty="0" err="1"/>
              <a:t>c.lName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FROM Client c</a:t>
            </a:r>
          </a:p>
          <a:p>
            <a:pPr marL="0" indent="0">
              <a:buNone/>
            </a:pPr>
            <a:r>
              <a:rPr lang="en-AU" dirty="0"/>
              <a:t>WHERE </a:t>
            </a:r>
            <a:r>
              <a:rPr lang="en-AU" dirty="0" err="1"/>
              <a:t>c.clientNo</a:t>
            </a:r>
            <a:r>
              <a:rPr lang="en-AU" dirty="0"/>
              <a:t> IN (</a:t>
            </a:r>
          </a:p>
          <a:p>
            <a:pPr marL="0" indent="0">
              <a:buNone/>
            </a:pPr>
            <a:r>
              <a:rPr lang="en-AU" dirty="0"/>
              <a:t>  SELECT </a:t>
            </a:r>
            <a:r>
              <a:rPr lang="en-AU" dirty="0" err="1"/>
              <a:t>r.clientNo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  FROM Registration r</a:t>
            </a:r>
          </a:p>
          <a:p>
            <a:pPr marL="0" indent="0">
              <a:buNone/>
            </a:pPr>
            <a:r>
              <a:rPr lang="en-AU" dirty="0"/>
              <a:t>  WHERE </a:t>
            </a:r>
            <a:r>
              <a:rPr lang="en-AU" dirty="0" err="1"/>
              <a:t>r.staffNo</a:t>
            </a:r>
            <a:r>
              <a:rPr lang="en-AU" dirty="0"/>
              <a:t> IN (</a:t>
            </a:r>
          </a:p>
          <a:p>
            <a:pPr marL="0" indent="0">
              <a:buNone/>
            </a:pPr>
            <a:r>
              <a:rPr lang="en-AU" dirty="0"/>
              <a:t>    SELECT </a:t>
            </a:r>
            <a:r>
              <a:rPr lang="en-AU" dirty="0" err="1"/>
              <a:t>s.staffNo</a:t>
            </a:r>
            <a:r>
              <a:rPr lang="en-AU" dirty="0"/>
              <a:t> FROM Staff s WHERE </a:t>
            </a:r>
            <a:r>
              <a:rPr lang="en-AU" dirty="0" err="1"/>
              <a:t>s.salary</a:t>
            </a:r>
            <a:r>
              <a:rPr lang="en-AU" dirty="0"/>
              <a:t> &gt; 20000</a:t>
            </a:r>
          </a:p>
          <a:p>
            <a:pPr marL="0" indent="0">
              <a:buNone/>
            </a:pPr>
            <a:r>
              <a:rPr lang="en-AU" dirty="0"/>
              <a:t>  )</a:t>
            </a:r>
          </a:p>
          <a:p>
            <a:pPr marL="0" indent="0">
              <a:buNone/>
            </a:pPr>
            <a:r>
              <a:rPr lang="en-AU" dirty="0"/>
              <a:t>);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42763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CDDAF-85AE-3ADC-3E12-9A8CC4A1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9 Combining Result Tables (UNION,INTERSECT, EXCEPT)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4BA46-41B9-33C1-B936-CB517850A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9444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Set Operations Overview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SQL supports three standard set operations: • UNION - All rows from either table A or table B or both • INTERSECT - Only rows common to both tables A and B • EXCEPT (Difference) - Rows in table A but not in table B</a:t>
            </a:r>
          </a:p>
          <a:p>
            <a:pPr>
              <a:buNone/>
            </a:pPr>
            <a:endParaRPr lang="en-US" b="1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1D2BD-9428-3CC8-1F3A-CB7FD76DC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980" y="3920067"/>
            <a:ext cx="6751905" cy="256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008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B13D-1CFB-9CD9-ABC0-0864DB4C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8 Combining Result Tables (UNION,INTERSECT, EXCEPT)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0FC88-AD93-128F-3267-831814F10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/>
              <a:t>Union Compatibility Requirements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Tables must have the same structure to be combined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Must contain the same number of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Corresponding columns must have matching data types and lengths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must ensure corresponding columns have semantically compatible values</a:t>
            </a:r>
          </a:p>
          <a:p>
            <a:pPr>
              <a:buNone/>
            </a:pPr>
            <a:r>
              <a:rPr lang="en-US" b="1" dirty="0"/>
              <a:t>Practical Considerations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sensible to combine columns with different meanings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combining staff age with property room count is inappropriate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Semantic compatibility is user's responsibility, even when data types match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12295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19179-E0AB-7B30-8E15-BE963DF7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Syntax for SQL Set Operations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AF9FA-CC66-304B-43D8-522B4FE33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UNION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SELECT</a:t>
            </a:r>
            <a:r>
              <a:rPr lang="en-US" dirty="0"/>
              <a:t> column1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column2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383A42"/>
                </a:solidFill>
                <a:effectLst/>
              </a:rPr>
              <a:t>...</a:t>
            </a:r>
            <a:r>
              <a:rPr lang="en-US" dirty="0"/>
              <a:t> </a:t>
            </a:r>
            <a:r>
              <a:rPr lang="en-US" dirty="0">
                <a:solidFill>
                  <a:srgbClr val="A626A4"/>
                </a:solidFill>
                <a:effectLst/>
              </a:rPr>
              <a:t>FROM</a:t>
            </a:r>
            <a:r>
              <a:rPr lang="en-US" dirty="0"/>
              <a:t> table1 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UNION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SELECT</a:t>
            </a:r>
            <a:r>
              <a:rPr lang="en-US" dirty="0"/>
              <a:t> column1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column2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383A42"/>
                </a:solidFill>
                <a:effectLst/>
              </a:rPr>
              <a:t>...</a:t>
            </a:r>
            <a:r>
              <a:rPr lang="en-US" dirty="0"/>
              <a:t> </a:t>
            </a:r>
            <a:r>
              <a:rPr lang="en-US" dirty="0">
                <a:solidFill>
                  <a:srgbClr val="A626A4"/>
                </a:solidFill>
                <a:effectLst/>
              </a:rPr>
              <a:t>FROM</a:t>
            </a:r>
            <a:r>
              <a:rPr lang="en-US" dirty="0"/>
              <a:t> table2</a:t>
            </a:r>
            <a:r>
              <a:rPr lang="en-US" dirty="0">
                <a:solidFill>
                  <a:srgbClr val="383A42"/>
                </a:solidFill>
                <a:effectLst/>
              </a:rPr>
              <a:t>;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The number of column you selected must be same!!</a:t>
            </a:r>
            <a:endParaRPr lang="en-AU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541647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75F08-7A9F-F1EC-85B6-1DC32E8A9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52F86-6CA8-162F-BEDB-41C0DEE9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Syntax for SQL Set Operations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018E2-15B6-484F-D31E-05B47998F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3.DIFFERENCE (EXCEPT)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SELECT</a:t>
            </a:r>
            <a:r>
              <a:rPr lang="en-US" dirty="0"/>
              <a:t> column1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column2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383A42"/>
                </a:solidFill>
                <a:effectLst/>
              </a:rPr>
              <a:t>...</a:t>
            </a:r>
            <a:r>
              <a:rPr lang="en-US" dirty="0"/>
              <a:t> </a:t>
            </a:r>
            <a:r>
              <a:rPr lang="en-US" dirty="0">
                <a:solidFill>
                  <a:srgbClr val="A626A4"/>
                </a:solidFill>
                <a:effectLst/>
              </a:rPr>
              <a:t>FROM</a:t>
            </a:r>
            <a:r>
              <a:rPr lang="en-US" dirty="0"/>
              <a:t> table1 </a:t>
            </a:r>
          </a:p>
          <a:p>
            <a:pPr marL="0" indent="0">
              <a:buNone/>
            </a:pPr>
            <a:r>
              <a:rPr lang="en-AU" dirty="0">
                <a:solidFill>
                  <a:srgbClr val="A626A4"/>
                </a:solidFill>
              </a:rPr>
              <a:t>EXCEPT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SELECT</a:t>
            </a:r>
            <a:r>
              <a:rPr lang="en-US" dirty="0"/>
              <a:t> column1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column2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383A42"/>
                </a:solidFill>
                <a:effectLst/>
              </a:rPr>
              <a:t>...</a:t>
            </a:r>
            <a:r>
              <a:rPr lang="en-US" dirty="0"/>
              <a:t> </a:t>
            </a:r>
            <a:r>
              <a:rPr lang="en-US" dirty="0">
                <a:solidFill>
                  <a:srgbClr val="A626A4"/>
                </a:solidFill>
                <a:effectLst/>
              </a:rPr>
              <a:t>FROM</a:t>
            </a:r>
            <a:r>
              <a:rPr lang="en-US" dirty="0"/>
              <a:t> table2</a:t>
            </a:r>
            <a:r>
              <a:rPr lang="en-US" dirty="0">
                <a:solidFill>
                  <a:srgbClr val="383A42"/>
                </a:solidFill>
                <a:effectLst/>
              </a:rPr>
              <a:t>;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The number of column you selected must be same!!</a:t>
            </a:r>
            <a:endParaRPr lang="en-AU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480034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4D184-9E85-F239-4B94-36F17EFD0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3E028-9AC6-D3DA-7AC0-12BE8A771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Syntax for SQL Set Operations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2F4CB-2358-678C-8D9D-400ABAEE3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2. INTERSECTION (INTERSECT)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SELECT</a:t>
            </a:r>
            <a:r>
              <a:rPr lang="en-US" dirty="0"/>
              <a:t> column1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column2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383A42"/>
                </a:solidFill>
                <a:effectLst/>
              </a:rPr>
              <a:t>...</a:t>
            </a:r>
            <a:r>
              <a:rPr lang="en-US" dirty="0"/>
              <a:t> </a:t>
            </a:r>
            <a:r>
              <a:rPr lang="en-US" dirty="0">
                <a:solidFill>
                  <a:srgbClr val="A626A4"/>
                </a:solidFill>
                <a:effectLst/>
              </a:rPr>
              <a:t>FROM</a:t>
            </a:r>
            <a:r>
              <a:rPr lang="en-US" dirty="0"/>
              <a:t> table1 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INTERSECT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SELECT</a:t>
            </a:r>
            <a:r>
              <a:rPr lang="en-US" dirty="0"/>
              <a:t> column1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column2</a:t>
            </a:r>
            <a:r>
              <a:rPr lang="en-US" dirty="0">
                <a:solidFill>
                  <a:srgbClr val="383A42"/>
                </a:solidFill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383A42"/>
                </a:solidFill>
                <a:effectLst/>
              </a:rPr>
              <a:t>...</a:t>
            </a:r>
            <a:r>
              <a:rPr lang="en-US" dirty="0"/>
              <a:t> </a:t>
            </a:r>
            <a:r>
              <a:rPr lang="en-US" dirty="0">
                <a:solidFill>
                  <a:srgbClr val="A626A4"/>
                </a:solidFill>
                <a:effectLst/>
              </a:rPr>
              <a:t>FROM</a:t>
            </a:r>
            <a:r>
              <a:rPr lang="en-US" dirty="0"/>
              <a:t> table2</a:t>
            </a:r>
            <a:r>
              <a:rPr lang="en-US" dirty="0">
                <a:solidFill>
                  <a:srgbClr val="383A42"/>
                </a:solidFill>
                <a:effectLst/>
              </a:rPr>
              <a:t>;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The number of column you selected must be same!!</a:t>
            </a:r>
            <a:endParaRPr lang="en-AU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416460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905A4-F78B-7328-C39C-C3864FD83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requirements for all these operations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6F982-831B-EF12-A926-594D408C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Both queries must return the same number of columns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Corresponding columns must have compatible data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column names from the first query will be used as the column names for the result set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36375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79C81-DF26-79D5-9895-D797F0818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17: Use of UNION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76922-97D1-390E-F11E-6E7930A64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Construct a list of all cities where there is either a branch office or a property.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424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FCFC-A3D6-9B77-3103-3A681EA79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49479-5BB6-A059-2275-A86EC39B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17: Use of UNION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B83E9-1AA7-303A-C814-C2680960A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Construct a list of all cities where there is either a branch office or a property.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SELECT city</a:t>
            </a:r>
          </a:p>
          <a:p>
            <a:pPr marL="0" indent="0">
              <a:buNone/>
            </a:pPr>
            <a:r>
              <a:rPr lang="en-US" sz="2000" b="1" dirty="0"/>
              <a:t>FROM Branch</a:t>
            </a:r>
          </a:p>
          <a:p>
            <a:pPr marL="0" indent="0">
              <a:buNone/>
            </a:pPr>
            <a:r>
              <a:rPr lang="en-US" sz="2000" b="1" dirty="0"/>
              <a:t>WHERE city IS NOT NULL</a:t>
            </a:r>
          </a:p>
          <a:p>
            <a:pPr marL="0" indent="0">
              <a:buNone/>
            </a:pPr>
            <a:r>
              <a:rPr lang="en-US" sz="2000" b="1" dirty="0"/>
              <a:t>UNION</a:t>
            </a:r>
          </a:p>
          <a:p>
            <a:pPr marL="0" indent="0">
              <a:buNone/>
            </a:pPr>
            <a:r>
              <a:rPr lang="en-US" sz="2000" b="1" dirty="0"/>
              <a:t>SELECT city</a:t>
            </a:r>
          </a:p>
          <a:p>
            <a:pPr marL="0" indent="0">
              <a:buNone/>
            </a:pPr>
            <a:r>
              <a:rPr lang="en-US" sz="2000" b="1" dirty="0"/>
              <a:t>FROM </a:t>
            </a:r>
            <a:r>
              <a:rPr lang="en-US" sz="2000" b="1" dirty="0" err="1"/>
              <a:t>PropertyForRent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WHERE city IS NOT NULL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26913619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97D2-2336-F238-7FE4-5AFB295EC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18: Use of INTERSECT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39BF0-0D2B-51E1-4046-C286B9850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Construct a list of all cities where there is both a branch office and a property. </a:t>
            </a:r>
          </a:p>
        </p:txBody>
      </p:sp>
    </p:spTree>
    <p:extLst>
      <p:ext uri="{BB962C8B-B14F-4D97-AF65-F5344CB8AC3E}">
        <p14:creationId xmlns:p14="http://schemas.microsoft.com/office/powerpoint/2010/main" val="38329694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4C52A-D7C3-C7CD-7D40-447C52D47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D3BC-FABE-0FF0-BF0B-8798AB2A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18: Use of INTERSECT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3A29C-68E4-73E4-167F-BC31054B4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Construct a list of all cities where there is both a branch office and a property. 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SELECT</a:t>
            </a:r>
            <a:r>
              <a:rPr lang="en-US" dirty="0"/>
              <a:t> city </a:t>
            </a:r>
            <a:r>
              <a:rPr lang="en-US" dirty="0">
                <a:solidFill>
                  <a:srgbClr val="A626A4"/>
                </a:solidFill>
                <a:effectLst/>
              </a:rPr>
              <a:t>FROM</a:t>
            </a:r>
            <a:r>
              <a:rPr lang="en-US" dirty="0"/>
              <a:t> Branch 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INTERSECT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SELECT</a:t>
            </a:r>
            <a:r>
              <a:rPr lang="en-US" dirty="0"/>
              <a:t> city </a:t>
            </a:r>
            <a:r>
              <a:rPr lang="en-US" dirty="0">
                <a:solidFill>
                  <a:srgbClr val="A626A4"/>
                </a:solidFill>
                <a:effectLst/>
              </a:rPr>
              <a:t>FROM</a:t>
            </a:r>
            <a:r>
              <a:rPr lang="en-US" dirty="0"/>
              <a:t> Property</a:t>
            </a:r>
            <a:r>
              <a:rPr lang="en-US" dirty="0">
                <a:solidFill>
                  <a:srgbClr val="383A42"/>
                </a:solidFill>
                <a:effectLst/>
              </a:rPr>
              <a:t>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57937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9D167-4188-C43C-18C6-390D8F02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19: Use of EXCEPT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300CB-ABDC-0B8C-579C-A784E017E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141413"/>
                </a:solidFill>
                <a:effectLst/>
                <a:latin typeface="__styreneB_820c23"/>
              </a:rPr>
              <a:t>Construct a list of all cities where there is a branch office but no properties.</a:t>
            </a:r>
          </a:p>
          <a:p>
            <a:pPr marL="0" indent="0">
              <a:buNone/>
            </a:pPr>
            <a:endParaRPr lang="en-US" dirty="0">
              <a:solidFill>
                <a:srgbClr val="141413"/>
              </a:solidFill>
              <a:latin typeface="__styreneB_820c23"/>
            </a:endParaRP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SELECT</a:t>
            </a:r>
            <a:r>
              <a:rPr lang="en-US" dirty="0"/>
              <a:t> city 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FROM</a:t>
            </a:r>
            <a:r>
              <a:rPr lang="en-US" dirty="0"/>
              <a:t> Branch 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EXCEPT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SELECT</a:t>
            </a:r>
            <a:r>
              <a:rPr lang="en-US" dirty="0"/>
              <a:t> city </a:t>
            </a:r>
          </a:p>
          <a:p>
            <a:pPr marL="0" indent="0">
              <a:buNone/>
            </a:pPr>
            <a:r>
              <a:rPr lang="en-US" dirty="0">
                <a:solidFill>
                  <a:srgbClr val="A626A4"/>
                </a:solidFill>
                <a:effectLst/>
              </a:rPr>
              <a:t>FROM</a:t>
            </a:r>
            <a:r>
              <a:rPr lang="en-US" dirty="0"/>
              <a:t> </a:t>
            </a:r>
            <a:r>
              <a:rPr lang="en-US" dirty="0" err="1"/>
              <a:t>PropertyForRent</a:t>
            </a:r>
            <a:r>
              <a:rPr lang="en-US" dirty="0">
                <a:solidFill>
                  <a:srgbClr val="383A42"/>
                </a:solidFill>
                <a:effectLst/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rgbClr val="383A42"/>
              </a:solidFill>
              <a:effectLst/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27208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2821D-B736-B77E-44AC-208D13EE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ECCD3-0FA3-31D0-935F-FC44202AE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SELECT DISTINCT </a:t>
            </a:r>
            <a:r>
              <a:rPr lang="en-AU" b="1" dirty="0" err="1"/>
              <a:t>Branch.city</a:t>
            </a:r>
            <a:r>
              <a:rPr lang="en-AU" b="1" dirty="0"/>
              <a:t> </a:t>
            </a:r>
          </a:p>
          <a:p>
            <a:pPr marL="0" indent="0">
              <a:buNone/>
            </a:pPr>
            <a:r>
              <a:rPr lang="en-AU" b="1" dirty="0"/>
              <a:t>FROM Branch </a:t>
            </a:r>
          </a:p>
          <a:p>
            <a:pPr marL="0" indent="0">
              <a:buNone/>
            </a:pPr>
            <a:r>
              <a:rPr lang="en-AU" b="1" dirty="0"/>
              <a:t>LEFT OUTER JOIN </a:t>
            </a:r>
            <a:r>
              <a:rPr lang="en-AU" b="1" dirty="0" err="1"/>
              <a:t>PropertyForRent</a:t>
            </a:r>
            <a:r>
              <a:rPr lang="en-AU" b="1" dirty="0"/>
              <a:t> ON </a:t>
            </a:r>
            <a:r>
              <a:rPr lang="en-AU" b="1" dirty="0" err="1"/>
              <a:t>Branch.BranchNo</a:t>
            </a:r>
            <a:r>
              <a:rPr lang="en-AU" b="1" dirty="0"/>
              <a:t> = </a:t>
            </a:r>
            <a:r>
              <a:rPr lang="en-AU" b="1" dirty="0" err="1"/>
              <a:t>PropertyForRent.BranchNo</a:t>
            </a:r>
            <a:r>
              <a:rPr lang="en-AU" b="1" dirty="0"/>
              <a:t> </a:t>
            </a:r>
          </a:p>
          <a:p>
            <a:pPr marL="0" indent="0">
              <a:buNone/>
            </a:pPr>
            <a:r>
              <a:rPr lang="en-AU" b="1" dirty="0"/>
              <a:t>WHERE </a:t>
            </a:r>
            <a:r>
              <a:rPr lang="en-AU" b="1" dirty="0" err="1"/>
              <a:t>PropertyForRent.BranchNo</a:t>
            </a:r>
            <a:r>
              <a:rPr lang="en-AU" b="1" dirty="0"/>
              <a:t> IS NULL;</a:t>
            </a:r>
          </a:p>
        </p:txBody>
      </p:sp>
    </p:spTree>
    <p:extLst>
      <p:ext uri="{BB962C8B-B14F-4D97-AF65-F5344CB8AC3E}">
        <p14:creationId xmlns:p14="http://schemas.microsoft.com/office/powerpoint/2010/main" val="1019818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2998</Words>
  <Application>Microsoft Office PowerPoint</Application>
  <PresentationFormat>Widescreen</PresentationFormat>
  <Paragraphs>347</Paragraphs>
  <Slides>55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__styreneB_820c23</vt:lpstr>
      <vt:lpstr>Adobe Myungjo Std M</vt:lpstr>
      <vt:lpstr>Adobe Arabic</vt:lpstr>
      <vt:lpstr>Aptos</vt:lpstr>
      <vt:lpstr>Aptos Display</vt:lpstr>
      <vt:lpstr>Arial</vt:lpstr>
      <vt:lpstr>Office Theme</vt:lpstr>
      <vt:lpstr>Welcome to Week10</vt:lpstr>
      <vt:lpstr>PowerPoint Presentation</vt:lpstr>
      <vt:lpstr>Challenge 1: Retrieve all columns, all rows</vt:lpstr>
      <vt:lpstr>Challenge 2: Retrieve specific columns, all rows</vt:lpstr>
      <vt:lpstr>Part 2: Row selection (WHERE clause)</vt:lpstr>
      <vt:lpstr>Challenge 5: Comparison search condition</vt:lpstr>
      <vt:lpstr>PowerPoint Presentation</vt:lpstr>
      <vt:lpstr>PowerPoint Presentation</vt:lpstr>
      <vt:lpstr>PowerPoint Presentation</vt:lpstr>
      <vt:lpstr>Range search condition (BETWEEN/NOT BETWEEN)</vt:lpstr>
      <vt:lpstr>Part 3: Sorting Results (ORDER BY Clause)</vt:lpstr>
      <vt:lpstr>Challenge 8 Single-column ordering)</vt:lpstr>
      <vt:lpstr>Challenge 9 Multiple column ordering</vt:lpstr>
      <vt:lpstr>Part 4: Using the SQL Aggregate Functions</vt:lpstr>
      <vt:lpstr>Part 4: Using the SQL Aggregate Functions</vt:lpstr>
      <vt:lpstr>Part 4: Using the SQL Aggregate Functions</vt:lpstr>
      <vt:lpstr>Part 4: Using the SQL Aggregate Functions</vt:lpstr>
      <vt:lpstr>Part 4: Using the SQL Aggregate Functions</vt:lpstr>
      <vt:lpstr>Part 4: Using the SQL Aggregate Functions</vt:lpstr>
      <vt:lpstr>Challenge 10: Use of COUNT(*) </vt:lpstr>
      <vt:lpstr>Challenge 11 Use of COUNT and SUM </vt:lpstr>
      <vt:lpstr>Challenge 11 Use of COUNT and SUM </vt:lpstr>
      <vt:lpstr>Challenge 12 Use of MlN, MAX, AVG</vt:lpstr>
      <vt:lpstr>Part 5: Grouping Results (GROUP BY Clause)</vt:lpstr>
      <vt:lpstr>Part 5: Grouping Results (GROUP BY Clause)</vt:lpstr>
      <vt:lpstr>Challenge 13: Use of GROUP BY</vt:lpstr>
      <vt:lpstr>Part 6: Restricting groupings (HAVING clause)</vt:lpstr>
      <vt:lpstr>Part 6: Restricting groupings (HAVING clause)</vt:lpstr>
      <vt:lpstr>Challenge 14: Use of HAVING</vt:lpstr>
      <vt:lpstr>Part 7: Multi-table Queries </vt:lpstr>
      <vt:lpstr>Part 7: Multi-table Queries </vt:lpstr>
      <vt:lpstr>Part 7: Multi-table Queries </vt:lpstr>
      <vt:lpstr>Challenge 15: Simple join</vt:lpstr>
      <vt:lpstr>Primary Key Vs. Foreign Key</vt:lpstr>
      <vt:lpstr>Primary Key</vt:lpstr>
      <vt:lpstr>Primary Key</vt:lpstr>
      <vt:lpstr>Foreign Key</vt:lpstr>
      <vt:lpstr>Foreign Key</vt:lpstr>
      <vt:lpstr>Relationship Between Them</vt:lpstr>
      <vt:lpstr>Challenge 16: Sorting a join</vt:lpstr>
      <vt:lpstr> Part 8 Subqueries</vt:lpstr>
      <vt:lpstr>General Syntax</vt:lpstr>
      <vt:lpstr>-- Clients registered by staff earning &gt; 20000</vt:lpstr>
      <vt:lpstr>Part 9 Combining Result Tables (UNION,INTERSECT, EXCEPT)</vt:lpstr>
      <vt:lpstr>Part 8 Combining Result Tables (UNION,INTERSECT, EXCEPT)</vt:lpstr>
      <vt:lpstr>Basic Syntax for SQL Set Operations</vt:lpstr>
      <vt:lpstr>Basic Syntax for SQL Set Operations</vt:lpstr>
      <vt:lpstr>Basic Syntax for SQL Set Operations</vt:lpstr>
      <vt:lpstr>Important requirements for all these operations</vt:lpstr>
      <vt:lpstr>Challenge 17: Use of UNION</vt:lpstr>
      <vt:lpstr>Challenge 17: Use of UNION</vt:lpstr>
      <vt:lpstr>Challenge 18: Use of INTERSECT</vt:lpstr>
      <vt:lpstr>Challenge 18: Use of INTERSECT</vt:lpstr>
      <vt:lpstr>Challenge 19: Use of EXCEPT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Elane.Peng</dc:creator>
  <cp:lastModifiedBy>Elane.Peng</cp:lastModifiedBy>
  <cp:revision>13</cp:revision>
  <dcterms:created xsi:type="dcterms:W3CDTF">2025-05-01T03:54:32Z</dcterms:created>
  <dcterms:modified xsi:type="dcterms:W3CDTF">2025-10-03T06:01:48Z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6fef03-d487-4433-8e43-6b81c0a1b7be_Enabled">
    <vt:lpwstr>true</vt:lpwstr>
  </property>
  <property fmtid="{D5CDD505-2E9C-101B-9397-08002B2CF9AE}" pid="3" name="MSIP_Label_bf6fef03-d487-4433-8e43-6b81c0a1b7be_SetDate">
    <vt:lpwstr>2025-05-01T04:05:14Z</vt:lpwstr>
  </property>
  <property fmtid="{D5CDD505-2E9C-101B-9397-08002B2CF9AE}" pid="4" name="MSIP_Label_bf6fef03-d487-4433-8e43-6b81c0a1b7be_Method">
    <vt:lpwstr>Standard</vt:lpwstr>
  </property>
  <property fmtid="{D5CDD505-2E9C-101B-9397-08002B2CF9AE}" pid="5" name="MSIP_Label_bf6fef03-d487-4433-8e43-6b81c0a1b7be_Name">
    <vt:lpwstr>Unclassified</vt:lpwstr>
  </property>
  <property fmtid="{D5CDD505-2E9C-101B-9397-08002B2CF9AE}" pid="6" name="MSIP_Label_bf6fef03-d487-4433-8e43-6b81c0a1b7be_SiteId">
    <vt:lpwstr>1daf5147-a543-4707-a2fb-2acf0b2a3936</vt:lpwstr>
  </property>
  <property fmtid="{D5CDD505-2E9C-101B-9397-08002B2CF9AE}" pid="7" name="MSIP_Label_bf6fef03-d487-4433-8e43-6b81c0a1b7be_ActionId">
    <vt:lpwstr>8103d046-917c-4e7b-87d2-706733365044</vt:lpwstr>
  </property>
  <property fmtid="{D5CDD505-2E9C-101B-9397-08002B2CF9AE}" pid="8" name="MSIP_Label_bf6fef03-d487-4433-8e43-6b81c0a1b7be_ContentBits">
    <vt:lpwstr>0</vt:lpwstr>
  </property>
  <property fmtid="{D5CDD505-2E9C-101B-9397-08002B2CF9AE}" pid="9" name="MSIP_Label_bf6fef03-d487-4433-8e43-6b81c0a1b7be_Tag">
    <vt:lpwstr>10, 3, 0, 1</vt:lpwstr>
  </property>
</Properties>
</file>